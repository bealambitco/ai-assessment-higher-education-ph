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6" r:id="rId11"/>
    <p:sldId id="288" r:id="rId12"/>
    <p:sldId id="269" r:id="rId13"/>
    <p:sldId id="270" r:id="rId14"/>
    <p:sldId id="271" r:id="rId15"/>
    <p:sldId id="285" r:id="rId16"/>
    <p:sldId id="286" r:id="rId17"/>
    <p:sldId id="297" r:id="rId48"/>
    <p:sldId id="272" r:id="rId18"/>
    <p:sldId id="273" r:id="rId19"/>
    <p:sldId id="274" r:id="rId20"/>
    <p:sldId id="275" r:id="rId21"/>
    <p:sldId id="276" r:id="rId22"/>
    <p:sldId id="277" r:id="rId23"/>
    <p:sldId id="278" r:id="rId24"/>
    <p:sldId id="279" r:id="rId25"/>
    <p:sldId id="280" r:id="rId26"/>
    <p:sldId id="281" r:id="rId27"/>
    <p:sldId id="265" r:id="rId28"/>
    <p:sldId id="267" r:id="rId29"/>
    <p:sldId id="268" r:id="rId30"/>
    <p:sldId id="282" r:id="rId31"/>
    <p:sldId id="283" r:id="rId32"/>
    <p:sldId id="284" r:id="rId33"/>
    <p:sldId id="287" r:id="rId34"/>
    <p:sldId id="289" r:id="rId35"/>
    <p:sldId id="290" r:id="rId36"/>
    <p:sldId id="291" r:id="rId37"/>
    <p:sldId id="292" r:id="rId38"/>
    <p:sldId id="293" r:id="rId39"/>
    <p:sldId id="294" r:id="rId40"/>
    <p:sldId id="295" r:id="rId41"/>
    <p:sldId id="296" r:id="rId42"/>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198"/>
    <p:restoredTop sz="94610"/>
  </p:normalViewPr>
  <p:slideViewPr>
    <p:cSldViewPr snapToGrid="0" snapToObjects="1">
      <p:cViewPr varScale="1">
        <p:scale>
          <a:sx n="103" d="100"/>
          <a:sy n="103" d="100"/>
        </p:scale>
        <p:origin x="90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of students</c:v>
                </c:pt>
              </c:strCache>
            </c:strRef>
          </c:tx>
          <c:spPr>
            <a:solidFill>
              <a:srgbClr val="0038A8"/>
            </a:solidFill>
            <a:effectLst/>
          </c:spPr>
          <c:invertIfNegative val="0"/>
          <c:dLbls>
            <c:numFmt formatCode="0&quot;%&quot;" sourceLinked="0"/>
            <c:spPr>
              <a:noFill/>
              <a:ln>
                <a:noFill/>
              </a:ln>
              <a:effectLst/>
            </c:spPr>
            <c:txPr>
              <a:bodyPr/>
              <a:lstStyle/>
              <a:p>
                <a:pPr>
                  <a:defRPr sz="2400" b="1"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Had used AI tools</c:v>
                </c:pt>
                <c:pt idx="1">
                  <c:v>Knew their school’s AI policy</c:v>
                </c:pt>
              </c:strCache>
            </c:strRef>
          </c:cat>
          <c:val>
            <c:numRef>
              <c:f>Sheet1!$B$2:$B$3</c:f>
              <c:numCache>
                <c:formatCode>General</c:formatCode>
                <c:ptCount val="2"/>
                <c:pt idx="0">
                  <c:v>100</c:v>
                </c:pt>
                <c:pt idx="1">
                  <c:v>17</c:v>
                </c:pt>
              </c:numCache>
            </c:numRef>
          </c:val>
          <c:extLst>
            <c:ext xmlns:c16="http://schemas.microsoft.com/office/drawing/2014/chart" uri="{C3380CC4-5D6E-409C-BE32-E72D297353CC}">
              <c16:uniqueId val="{00000000-8825-194C-83EB-44D83AAD6601}"/>
            </c:ext>
          </c:extLst>
        </c:ser>
        <c:dLbls>
          <c:showLegendKey val="0"/>
          <c:showVal val="1"/>
          <c:showCatName val="0"/>
          <c:showSerName val="0"/>
          <c:showPercent val="0"/>
          <c:showBubbleSize val="0"/>
        </c:dLbls>
        <c:gapWidth val="3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1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13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Essays flagged as AI-written</c:v>
                </c:pt>
              </c:strCache>
            </c:strRef>
          </c:tx>
          <c:spPr>
            <a:solidFill>
              <a:srgbClr val="CE1126"/>
            </a:solidFill>
            <a:effectLst/>
          </c:spPr>
          <c:invertIfNegative val="0"/>
          <c:dLbls>
            <c:numFmt formatCode="0.0&quot;%&quot;" sourceLinked="0"/>
            <c:spPr>
              <a:noFill/>
              <a:ln>
                <a:noFill/>
              </a:ln>
              <a:effectLst/>
            </c:spPr>
            <c:txPr>
              <a:bodyPr/>
              <a:lstStyle/>
              <a:p>
                <a:pPr>
                  <a:defRPr sz="2600" b="1"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By at least one detector</c:v>
                </c:pt>
                <c:pt idx="1">
                  <c:v>On average, per detector</c:v>
                </c:pt>
                <c:pt idx="2">
                  <c:v>By all seven detectors</c:v>
                </c:pt>
              </c:strCache>
            </c:strRef>
          </c:cat>
          <c:val>
            <c:numRef>
              <c:f>Sheet1!$B$2:$B$4</c:f>
              <c:numCache>
                <c:formatCode>General</c:formatCode>
                <c:ptCount val="3"/>
                <c:pt idx="0">
                  <c:v>97.8</c:v>
                </c:pt>
                <c:pt idx="1">
                  <c:v>61.3</c:v>
                </c:pt>
                <c:pt idx="2">
                  <c:v>19.8</c:v>
                </c:pt>
              </c:numCache>
            </c:numRef>
          </c:val>
          <c:extLst>
            <c:ext xmlns:c16="http://schemas.microsoft.com/office/drawing/2014/chart" uri="{C3380CC4-5D6E-409C-BE32-E72D297353CC}">
              <c16:uniqueId val="{00000000-6F90-3E42-BBFF-C25770721E09}"/>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1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13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t>Serious errors that reached the user (out of 30 read)</a:t>
            </a:r>
          </a:p>
        </c:rich>
      </c:tx>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C2D3-A24C-91A6-D2C1E815A917}"/>
            </c:ext>
          </c:extLst>
        </c:ser>
        <c:ser>
          <c:idx val="1"/>
          <c:order val="1"/>
          <c:tx>
            <c:strRef>
              <c:f>Sheet1!$C$1</c:f>
              <c:strCache>
                <c:ptCount val="1"/>
                <c:pt idx="0">
                  <c:v>Checked first</c:v>
                </c:pt>
              </c:strCache>
            </c:strRef>
          </c:tx>
          <c:spPr>
            <a:solidFill>
              <a:srgbClr val="0038A8"/>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1-C2D3-A24C-91A6-D2C1E815A91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36.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majorUnit val="6.0"/>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t>Sound answers that reached the user (out of 30 read)</a:t>
            </a:r>
          </a:p>
        </c:rich>
      </c:tx>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Sheet1!$B$2:$B$3</c:f>
              <c:numCache>
                <c:formatCode>General</c:formatCode>
                <c:ptCount val="2"/>
                <c:pt idx="0">
                  <c:v>30</c:v>
                </c:pt>
                <c:pt idx="1">
                  <c:v>30</c:v>
                </c:pt>
              </c:numCache>
            </c:numRef>
          </c:val>
          <c:extLst>
            <c:ext xmlns:c16="http://schemas.microsoft.com/office/drawing/2014/chart" uri="{C3380CC4-5D6E-409C-BE32-E72D297353CC}">
              <c16:uniqueId val="{00000000-6FCF-C64D-8A1E-3218ED976D2A}"/>
            </c:ext>
          </c:extLst>
        </c:ser>
        <c:ser>
          <c:idx val="1"/>
          <c:order val="1"/>
          <c:tx>
            <c:strRef>
              <c:f>Sheet1!$C$1</c:f>
              <c:strCache>
                <c:ptCount val="1"/>
                <c:pt idx="0">
                  <c:v>Checked first</c:v>
                </c:pt>
              </c:strCache>
            </c:strRef>
          </c:tx>
          <c:spPr>
            <a:solidFill>
              <a:srgbClr val="0038A8"/>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Sheet1!$C$2:$C$3</c:f>
              <c:numCache>
                <c:formatCode>General</c:formatCode>
                <c:ptCount val="2"/>
                <c:pt idx="0">
                  <c:v>23</c:v>
                </c:pt>
                <c:pt idx="1">
                  <c:v>21</c:v>
                </c:pt>
              </c:numCache>
            </c:numRef>
          </c:val>
          <c:extLst>
            <c:ext xmlns:c16="http://schemas.microsoft.com/office/drawing/2014/chart" uri="{C3380CC4-5D6E-409C-BE32-E72D297353CC}">
              <c16:uniqueId val="{00000001-6FCF-C64D-8A1E-3218ED976D2A}"/>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36.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majorUnit val="6.0"/>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Released with a warning</c:v>
                </c:pt>
              </c:strCache>
            </c:strRef>
          </c:tx>
          <c:spPr>
            <a:solidFill>
              <a:srgbClr val="0F7B5F"/>
            </a:solidFill>
            <a:effectLst/>
          </c:spPr>
          <c:invertIfNegative val="0"/>
          <c:dLbls>
            <c:numFmt formatCode="#,##0" sourceLinked="0"/>
            <c:spPr>
              <a:noFill/>
              <a:ln>
                <a:noFill/>
              </a:ln>
              <a:effectLst/>
            </c:spPr>
            <c:txPr>
              <a:bodyPr/>
              <a:lstStyle/>
              <a:p>
                <a:pPr>
                  <a:defRPr sz="20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Astra (OpenAI Codex)</c:v>
                </c:pt>
                <c:pt idx="1">
                  <c:v>Luna (OpenAI Codex)</c:v>
                </c:pt>
                <c:pt idx="2">
                  <c:v>Fable 5.1 (Claude)</c:v>
                </c:pt>
                <c:pt idx="3">
                  <c:v>Haiku 4.5 (Claude)</c:v>
                </c:pt>
              </c:strCache>
            </c:strRef>
          </c:cat>
          <c:val>
            <c:numRef>
              <c:f>Sheet1!$B$2:$B$5</c:f>
              <c:numCache>
                <c:formatCode>General</c:formatCode>
                <c:ptCount val="4"/>
                <c:pt idx="0">
                  <c:v>41</c:v>
                </c:pt>
                <c:pt idx="1">
                  <c:v>39</c:v>
                </c:pt>
                <c:pt idx="2">
                  <c:v>38</c:v>
                </c:pt>
                <c:pt idx="3">
                  <c:v>37</c:v>
                </c:pt>
              </c:numCache>
            </c:numRef>
          </c:val>
          <c:extLst>
            <c:ext xmlns:c16="http://schemas.microsoft.com/office/drawing/2014/chart" uri="{C3380CC4-5D6E-409C-BE32-E72D297353CC}">
              <c16:uniqueId val="{00000000-1111-034E-AD3D-4C2DC51D6B8E}"/>
            </c:ext>
          </c:extLst>
        </c:ser>
        <c:ser>
          <c:idx val="1"/>
          <c:order val="1"/>
          <c:tx>
            <c:strRef>
              <c:f>Sheet1!$C$1</c:f>
              <c:strCache>
                <c:ptCount val="1"/>
                <c:pt idx="0">
                  <c:v>Sent to a person</c:v>
                </c:pt>
              </c:strCache>
            </c:strRef>
          </c:tx>
          <c:spPr>
            <a:solidFill>
              <a:srgbClr val="8A6100"/>
            </a:solidFill>
            <a:effectLst/>
          </c:spPr>
          <c:invertIfNegative val="0"/>
          <c:dLbls>
            <c:numFmt formatCode="#,##0" sourceLinked="0"/>
            <c:spPr>
              <a:noFill/>
              <a:ln>
                <a:noFill/>
              </a:ln>
              <a:effectLst/>
            </c:spPr>
            <c:txPr>
              <a:bodyPr/>
              <a:lstStyle/>
              <a:p>
                <a:pPr>
                  <a:defRPr sz="20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Astra (OpenAI Codex)</c:v>
                </c:pt>
                <c:pt idx="1">
                  <c:v>Luna (OpenAI Codex)</c:v>
                </c:pt>
                <c:pt idx="2">
                  <c:v>Fable 5.1 (Claude)</c:v>
                </c:pt>
                <c:pt idx="3">
                  <c:v>Haiku 4.5 (Claude)</c:v>
                </c:pt>
              </c:strCache>
            </c:strRef>
          </c:cat>
          <c:val>
            <c:numRef>
              <c:f>Sheet1!$C$2:$C$5</c:f>
              <c:numCache>
                <c:formatCode>General</c:formatCode>
                <c:ptCount val="4"/>
                <c:pt idx="0">
                  <c:v>5</c:v>
                </c:pt>
                <c:pt idx="1">
                  <c:v>6</c:v>
                </c:pt>
                <c:pt idx="2">
                  <c:v>3</c:v>
                </c:pt>
                <c:pt idx="3">
                  <c:v>1</c:v>
                </c:pt>
              </c:numCache>
            </c:numRef>
          </c:val>
          <c:extLst>
            <c:ext xmlns:c16="http://schemas.microsoft.com/office/drawing/2014/chart" uri="{C3380CC4-5D6E-409C-BE32-E72D297353CC}">
              <c16:uniqueId val="{00000001-1111-034E-AD3D-4C2DC51D6B8E}"/>
            </c:ext>
          </c:extLst>
        </c:ser>
        <c:ser>
          <c:idx val="2"/>
          <c:order val="2"/>
          <c:tx>
            <c:strRef>
              <c:f>Sheet1!$D$1</c:f>
              <c:strCache>
                <c:ptCount val="1"/>
                <c:pt idx="0">
                  <c:v>Blocked</c:v>
                </c:pt>
              </c:strCache>
            </c:strRef>
          </c:tx>
          <c:spPr>
            <a:solidFill>
              <a:srgbClr val="CE1126"/>
            </a:solidFill>
            <a:effectLst/>
          </c:spPr>
          <c:invertIfNegative val="0"/>
          <c:dLbls>
            <c:numFmt formatCode="#,##0" sourceLinked="0"/>
            <c:spPr>
              <a:noFill/>
              <a:ln>
                <a:noFill/>
              </a:ln>
              <a:effectLst/>
            </c:spPr>
            <c:txPr>
              <a:bodyPr/>
              <a:lstStyle/>
              <a:p>
                <a:pPr>
                  <a:defRPr sz="20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Astra (OpenAI Codex)</c:v>
                </c:pt>
                <c:pt idx="1">
                  <c:v>Luna (OpenAI Codex)</c:v>
                </c:pt>
                <c:pt idx="2">
                  <c:v>Fable 5.1 (Claude)</c:v>
                </c:pt>
                <c:pt idx="3">
                  <c:v>Haiku 4.5 (Claude)</c:v>
                </c:pt>
              </c:strCache>
            </c:strRef>
          </c:cat>
          <c:val>
            <c:numRef>
              <c:f>Sheet1!$D$2:$D$5</c:f>
              <c:numCache>
                <c:formatCode>General</c:formatCode>
                <c:ptCount val="4"/>
                <c:pt idx="0">
                  <c:v>2</c:v>
                </c:pt>
                <c:pt idx="1">
                  <c:v>3</c:v>
                </c:pt>
                <c:pt idx="2">
                  <c:v>7</c:v>
                </c:pt>
                <c:pt idx="3">
                  <c:v>10</c:v>
                </c:pt>
              </c:numCache>
            </c:numRef>
          </c:val>
          <c:extLst>
            <c:ext xmlns:c16="http://schemas.microsoft.com/office/drawing/2014/chart" uri="{C3380CC4-5D6E-409C-BE32-E72D297353CC}">
              <c16:uniqueId val="{00000002-1111-034E-AD3D-4C2DC51D6B8E}"/>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48"/>
          <c:min val="0"/>
        </c:scaling>
        <c:delete val="0"/>
        <c:axPos val="t"/>
        <c:majorGridlines>
          <c:spPr>
            <a:ln w="9525"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majorUnit val="8"/>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2200" b="0" i="0" u="none" strike="noStrike">
                <a:solidFill>
                  <a:srgbClr val="1E293B"/>
                </a:solidFill>
                <a:latin typeface="Arial"/>
              </a:defRPr>
            </a:pPr>
            <a:r>
              <a:rPr lang="en-PH" sz="2200" b="0" i="0" u="none" strike="noStrike">
                <a:solidFill>
                  <a:srgbClr val="1E293B"/>
                </a:solidFill>
                <a:latin typeface="Arial"/>
              </a:rPr>
              <a:t>Median time to decide what to do with an answer (seconds)</a:t>
            </a:r>
          </a:p>
        </c:rich>
      </c:tx>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Sheet1!$B$2:$B$3</c:f>
              <c:numCache>
                <c:formatCode>General</c:formatCode>
                <c:ptCount val="2"/>
                <c:pt idx="0">
                  <c:v>98</c:v>
                </c:pt>
                <c:pt idx="1">
                  <c:v>122</c:v>
                </c:pt>
              </c:numCache>
            </c:numRef>
          </c:val>
          <c:extLst>
            <c:ext xmlns:c16="http://schemas.microsoft.com/office/drawing/2014/chart" uri="{C3380CC4-5D6E-409C-BE32-E72D297353CC}">
              <c16:uniqueId val="{00000000-9DAD-EA40-A428-F1B564740D05}"/>
            </c:ext>
          </c:extLst>
        </c:ser>
        <c:ser>
          <c:idx val="1"/>
          <c:order val="1"/>
          <c:tx>
            <c:strRef>
              <c:f>Sheet1!$C$1</c:f>
              <c:strCache>
                <c:ptCount val="1"/>
                <c:pt idx="0">
                  <c:v>Checked first</c:v>
                </c:pt>
              </c:strCache>
            </c:strRef>
          </c:tx>
          <c:spPr>
            <a:solidFill>
              <a:srgbClr val="0038A8"/>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Sheet1!$C$2:$C$3</c:f>
              <c:numCache>
                <c:formatCode>General</c:formatCode>
                <c:ptCount val="2"/>
                <c:pt idx="0">
                  <c:v>158</c:v>
                </c:pt>
                <c:pt idx="1">
                  <c:v>120</c:v>
                </c:pt>
              </c:numCache>
            </c:numRef>
          </c:val>
          <c:extLst>
            <c:ext xmlns:c16="http://schemas.microsoft.com/office/drawing/2014/chart" uri="{C3380CC4-5D6E-409C-BE32-E72D297353CC}">
              <c16:uniqueId val="{00000001-9DAD-EA40-A428-F1B564740D0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77933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[0:00–0:08] Good afternoon. I am Bea Lambitco. My capstone asks: when should AI help the people who assess students?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[0:08–0:37] In 2023, a University of the Philippines professor ran a student’s exam essay through two AI-detector websites and called it dishonesty. In 2025, Australian news reported that a university had wrongly accused students of using AI. And last month, Singapore’s Nanyang Technological University said that from 2027 it will stop using its AI detector. Software made the call; students lived with the result.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[0:37–0:52] So the question is not whether we have AI. It is how we know an answer is right under our own rules, and who decides when a student’s record is at stake.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[0:52–1:17] In early findings from an ASEAN Foundation study, 83 percent of Filipino students and 73 percent of educators said they use generative AI. At one rural state university, every student surveyed had used AI, but only about 17 percent knew the school’s policy. CHED has asked schools to write their own AI policies.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[1:17–1:35] The benefits will not be shared evenly. Fewer than half of Filipino households had home internet in 2024, and one study found detectors flagged most essays by non-native English writers as AI-written. Second-language writers and under-resourced schools are most exposed.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[1:35–1:54] Our fellowship sessions gave us frameworks. UNESCO asks for a human-</a:t>
            </a:r>
            <a:r>
              <a:rPr dirty="0" err="1"/>
              <a:t>centred</a:t>
            </a:r>
            <a:r>
              <a:rPr dirty="0"/>
              <a:t> approach that keeps people in charge; SEAMEO asks for AI literacy that questions tools, not just uses them. What they leave to us is evaluation: is the answer right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[1:54–2:14] Research adds three things. Policies say what AI use is allowed, but not whether an assistant applies a rule correctly. AI grading is uneven, and checking it is real work. And models misapply rules they are given, while blocking answers has its own costs.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[2:14–2:30] What I could not find in a Philippine study was three things together: the same answer released with and without checks, real rules from named schools, and the checking work left for a person.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[2:30–2:42] This capstone zooms in on 24 cases from nine schools: it can compare what checks stop and miss, but not national error rates or time saved.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[3:01–3:31] That was one case. There are 24 like it, from nine schools. Each is built from a published school rule with an answer key. Two OpenAI model settings, Astra and Luna, answered every case twice: 96 answers. Each answer was shown directly, and again after checks. The checks are simple: the format, real quotations, recomputed numbers, and a person decides any grade, approval or penalty.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[2:42–3:01] First, how one case was built. </a:t>
            </a:r>
            <a:r>
              <a:rPr dirty="0" err="1"/>
              <a:t>Mapúa's</a:t>
            </a:r>
            <a:r>
              <a:rPr dirty="0"/>
              <a:t> published rule weights module grades by credit units. The scenario proposes weighting by teaching weeks. The answer key says credits, not weeks. Case, key and checks were frozen on September 15, before any answers existed.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3889780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[3:31–3:50] Every answer lands in one of four boxes: useful help, help held back, harm that gets through, or an error stopped that a person still has to catch. Holding back can be right when a grade belongs to an office.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[3:50–4:11] Here is what the checks changed. Sixty answers have been read, 15 complete cases, and every one was acceptable; none had a serious error. So the checks had nothing to stop, and they held back good answers: 7 of 30 for Astra and 9 of 30 for Luna.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[4:11–4:30] Why? Every one of the sixteen answers the checks held back was acceptable. Eleven were sent to a person because the model labelled its own answer a grade decision, two were blocked over unit labels, and three were blocked for quoting the syllabus they had been asked to assess — the check only searches the policy excerpt. On these cases, the checks reacted to labels, not errors.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[4:30–4:48] A follow-up with Claude models showed the other side. Under the same checks, Haiku twice gave 85 percent where the rule gives 84.6. The number was labeled differently, so the arithmetic check never ran, and both errors were released.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1981382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[4:48–5:02] A second follow-up gave Gemini and Kimi whole handbooks instead of excerpts. Every quotation matched, and the conclusions held. The harder version followed: all 24 cases with the whole document, and eight where the model had to find the governing rule itself.</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085716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[5:02–5:25] Checking still took about two minutes per answer, and 7 of 20 timed answers needed some correction. That is a cost, not proof of time saved. Two independent reviewers agreed with every acceptability and serious-error call in 10 of 10 comparisons, and so did an AI judge, 48 of 48.</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[5:25–5:43] So, when should AI assist the assessor? When the rule is supplied and a person owns the decision. On the 48 answers I scored, the AI got it right; the checks were the weak link, tripping on labels.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[5:43–6:04] What can we do now? Educators need no special software: ask for the quoted rule and recompute the numbers. Schools can keep their rules dated and trial AI quietly first. And CHED, accreditors and partners can share open examples so smaller schools are not left behind.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[6:04–6:21] The limits are real. I wrote, timed and scored the cases myself, the answer keys were not independently validated, and the cases are in English only. Next: independent experts, more educators, and Filipino and regional languages.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[6:21–6:36] For ASEAN, including Timor-Leste, what travels is the method, not our rules: which rule applies, what software can check, and who decides. Frameworks set the aim; testing like this shows whether we reach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[6:36–6:46] Thank you. The paper, test cases and code are public at the link on screen, and I welcome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for questions only.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 for questions only. Acknowledgments. Read reviewer names only where permission was given.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A2: for questions only. Research questions, verbatim.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A3: for questions only. Test case register.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A4: for questions only. Why trust this design? It borrows from how AI is already evaluated: fix the answer and compare routes, give real rules and score against keys, write checks from policy, and report every count with its limits.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9948017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A5: for questions only. The checks are simple. Is the format right? Do quotations really exist in the rule? Are the numbers right? Is any grade, approval or penalty sent to a person? Each has a blind spot, like serious advice written only in prose.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8957319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A6: for questions only. One case. An audit proposes weighting modules by weeks, but the rule weights them by credit units. A good answer says so. An answer that used weeks would be blocked by the arithmetic check. Software confirms the numbers; a person decides the grade.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6732920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A7: for questions only. Definitions.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A8: for questions only. Credibility and sensitivity.</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A9: for questions only. Timing flags.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A10: for questions only. Timeline of the project, from design to score lock.</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A11: for questions only. Questions and answers.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A12: for questions only. Questions and answers.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A13: for questions only. Image sources.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A14: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A15: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A16: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A17: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A18: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[5:02–5:18] The last follow-up asks what this costs a school that cannot buy a frontier subscription. Three open-weight models small enough for one machine answered the same 24 cases for about a cent each. What they lost was not reasoning but form: roughly one answer in ten missed the required format, always the same fault, a number with no unit. That is the failure software catches most easily, which is an argument for the checks, not against the models.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xml"/><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3.xml"/><Relationship Id="rId4" Type="http://schemas.openxmlformats.org/officeDocument/2006/relationships/chart" Target="../charts/char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github.com/bealambitco/ai-assessment-higher-education-ph"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69848" cy="70866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7086600"/>
            <a:ext cx="1069848" cy="16002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0" y="8686800"/>
            <a:ext cx="1069848" cy="1600200"/>
          </a:xfrm>
          <a:prstGeom prst="rect">
            <a:avLst/>
          </a:prstGeom>
          <a:solidFill>
            <a:srgbClr val="CE1126"/>
          </a:solidFill>
          <a:ln w="12700">
            <a:solidFill>
              <a:srgbClr val="CE1126"/>
            </a:solidFill>
            <a:prstDash val="solid"/>
          </a:ln>
        </p:spPr>
        <p:txBody>
          <a:bodyPr/>
          <a:lstStyle/>
          <a:p>
            <a:endParaRPr lang="en-US"/>
          </a:p>
        </p:txBody>
      </p:sp>
      <p:sp>
        <p:nvSpPr>
          <p:cNvPr id="5" name="Shape 3"/>
          <p:cNvSpPr/>
          <p:nvPr/>
        </p:nvSpPr>
        <p:spPr>
          <a:xfrm>
            <a:off x="2112264" y="2432304"/>
            <a:ext cx="329184" cy="64008"/>
          </a:xfrm>
          <a:prstGeom prst="rect">
            <a:avLst/>
          </a:prstGeom>
          <a:solidFill>
            <a:srgbClr val="FCD116"/>
          </a:solidFill>
          <a:ln w="12700">
            <a:solidFill>
              <a:srgbClr val="FCD116"/>
            </a:solidFill>
            <a:prstDash val="solid"/>
          </a:ln>
        </p:spPr>
        <p:txBody>
          <a:bodyPr/>
          <a:lstStyle/>
          <a:p>
            <a:endParaRPr lang="en-US"/>
          </a:p>
        </p:txBody>
      </p:sp>
      <p:sp>
        <p:nvSpPr>
          <p:cNvPr id="6" name="Text 4"/>
          <p:cNvSpPr txBox="1"/>
          <p:nvPr/>
        </p:nvSpPr>
        <p:spPr>
          <a:xfrm>
            <a:off x="2606040" y="2258568"/>
            <a:ext cx="137160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AI FOR ASIA FELLOWSHIP 2026  ·  CAPSTONE  ·  PHILIPPINES</a:t>
            </a:r>
            <a:endParaRPr lang="en-US" sz="2000" dirty="0"/>
          </a:p>
        </p:txBody>
      </p:sp>
      <p:sp>
        <p:nvSpPr>
          <p:cNvPr id="7" name="Text 5"/>
          <p:cNvSpPr txBox="1"/>
          <p:nvPr/>
        </p:nvSpPr>
        <p:spPr>
          <a:xfrm>
            <a:off x="2112264" y="2926080"/>
            <a:ext cx="15361920" cy="1371600"/>
          </a:xfrm>
          <a:prstGeom prst="rect">
            <a:avLst/>
          </a:prstGeom>
          <a:noFill/>
          <a:ln/>
        </p:spPr>
        <p:txBody>
          <a:bodyPr wrap="square" lIns="0" tIns="0" rIns="0" bIns="0" rtlCol="0" anchor="t"/>
          <a:lstStyle/>
          <a:p>
            <a:pPr marL="0" indent="0">
              <a:buNone/>
            </a:pPr>
            <a:r>
              <a:rPr lang="en-US" sz="6600" dirty="0">
                <a:solidFill>
                  <a:srgbClr val="0B1F3A"/>
                </a:solidFill>
                <a:latin typeface="Georgia" pitchFamily="34" charset="0"/>
                <a:ea typeface="Georgia" pitchFamily="34" charset="-122"/>
                <a:cs typeface="Georgia" pitchFamily="34" charset="-120"/>
              </a:rPr>
              <a:t>When Should AI Assist the Assessor?</a:t>
            </a:r>
            <a:endParaRPr lang="en-US" sz="6600" dirty="0"/>
          </a:p>
        </p:txBody>
      </p:sp>
      <p:sp>
        <p:nvSpPr>
          <p:cNvPr id="8" name="Text 6"/>
          <p:cNvSpPr txBox="1"/>
          <p:nvPr/>
        </p:nvSpPr>
        <p:spPr>
          <a:xfrm>
            <a:off x="2112264" y="4526280"/>
            <a:ext cx="14173200" cy="1188720"/>
          </a:xfrm>
          <a:prstGeom prst="rect">
            <a:avLst/>
          </a:prstGeom>
          <a:noFill/>
          <a:ln/>
        </p:spPr>
        <p:txBody>
          <a:bodyPr wrap="square" lIns="0" tIns="0" rIns="0" bIns="0" rtlCol="0" anchor="t"/>
          <a:lstStyle/>
          <a:p>
            <a:pPr marL="0" indent="0">
              <a:buNone/>
            </a:pPr>
            <a:r>
              <a:rPr lang="en-US" sz="2800" dirty="0">
                <a:solidFill>
                  <a:srgbClr val="4B5563"/>
                </a:solidFill>
                <a:latin typeface="Arial" pitchFamily="34" charset="0"/>
                <a:ea typeface="Arial" pitchFamily="34" charset="-122"/>
                <a:cs typeface="Arial" pitchFamily="34" charset="-120"/>
              </a:rPr>
              <a:t>A Philippine Higher-Education Benchmark of Failure Containment, Control Allocation, and Human Verification Burden</a:t>
            </a:r>
            <a:endParaRPr lang="en-US" sz="2800" dirty="0"/>
          </a:p>
        </p:txBody>
      </p:sp>
      <p:sp>
        <p:nvSpPr>
          <p:cNvPr id="9" name="Shape 7"/>
          <p:cNvSpPr/>
          <p:nvPr/>
        </p:nvSpPr>
        <p:spPr>
          <a:xfrm>
            <a:off x="2112264" y="6446520"/>
            <a:ext cx="14356080" cy="13716"/>
          </a:xfrm>
          <a:prstGeom prst="rect">
            <a:avLst/>
          </a:prstGeom>
          <a:solidFill>
            <a:srgbClr val="E2E8F0"/>
          </a:solidFill>
          <a:ln w="12700">
            <a:solidFill>
              <a:srgbClr val="E2E8F0"/>
            </a:solidFill>
            <a:prstDash val="solid"/>
          </a:ln>
        </p:spPr>
        <p:txBody>
          <a:bodyPr/>
          <a:lstStyle/>
          <a:p>
            <a:endParaRPr lang="en-US"/>
          </a:p>
        </p:txBody>
      </p:sp>
      <p:sp>
        <p:nvSpPr>
          <p:cNvPr id="10" name="Text 8"/>
          <p:cNvSpPr txBox="1"/>
          <p:nvPr/>
        </p:nvSpPr>
        <p:spPr>
          <a:xfrm>
            <a:off x="2112264" y="6766560"/>
            <a:ext cx="7315200" cy="502920"/>
          </a:xfrm>
          <a:prstGeom prst="rect">
            <a:avLst/>
          </a:prstGeom>
          <a:noFill/>
          <a:ln/>
        </p:spPr>
        <p:txBody>
          <a:bodyPr wrap="square" lIns="0" tIns="0" rIns="0" bIns="0" rtlCol="0" anchor="t"/>
          <a:lstStyle/>
          <a:p>
            <a:pPr marL="0" indent="0">
              <a:buNone/>
            </a:pPr>
            <a:r>
              <a:rPr lang="en-US" sz="2800" b="1" dirty="0">
                <a:solidFill>
                  <a:srgbClr val="0B1F3A"/>
                </a:solidFill>
                <a:latin typeface="Arial" pitchFamily="34" charset="0"/>
                <a:ea typeface="Arial" pitchFamily="34" charset="-122"/>
                <a:cs typeface="Arial" pitchFamily="34" charset="-120"/>
              </a:rPr>
              <a:t>Bea Charmelyn T. Lambitco, FRM</a:t>
            </a:r>
            <a:endParaRPr lang="en-US" sz="2800" dirty="0"/>
          </a:p>
        </p:txBody>
      </p:sp>
      <p:sp>
        <p:nvSpPr>
          <p:cNvPr id="11" name="Text 9"/>
          <p:cNvSpPr txBox="1"/>
          <p:nvPr/>
        </p:nvSpPr>
        <p:spPr>
          <a:xfrm>
            <a:off x="2112264" y="7360920"/>
            <a:ext cx="7315200" cy="457200"/>
          </a:xfrm>
          <a:prstGeom prst="rect">
            <a:avLst/>
          </a:prstGeom>
          <a:noFill/>
          <a:ln/>
        </p:spPr>
        <p:txBody>
          <a:bodyPr wrap="square" lIns="0" tIns="0" rIns="0" bIns="0" rtlCol="0" anchor="t"/>
          <a:lstStyle/>
          <a:p>
            <a:pPr marL="0" indent="0">
              <a:buNone/>
            </a:pPr>
            <a:r>
              <a:rPr lang="en-US" sz="2400" dirty="0">
                <a:solidFill>
                  <a:srgbClr val="4B5563"/>
                </a:solidFill>
                <a:latin typeface="Arial" pitchFamily="34" charset="0"/>
                <a:ea typeface="Arial" pitchFamily="34" charset="-122"/>
                <a:cs typeface="Arial" pitchFamily="34" charset="-120"/>
              </a:rPr>
              <a:t>Data and AI Consultant</a:t>
            </a:r>
            <a:endParaRPr lang="en-US" sz="2400" dirty="0"/>
          </a:p>
        </p:txBody>
      </p:sp>
      <p:sp>
        <p:nvSpPr>
          <p:cNvPr id="12" name="Text 10"/>
          <p:cNvSpPr txBox="1"/>
          <p:nvPr/>
        </p:nvSpPr>
        <p:spPr>
          <a:xfrm>
            <a:off x="9601200" y="6766560"/>
            <a:ext cx="6858000" cy="502920"/>
          </a:xfrm>
          <a:prstGeom prst="rect">
            <a:avLst/>
          </a:prstGeom>
          <a:noFill/>
          <a:ln/>
        </p:spPr>
        <p:txBody>
          <a:bodyPr wrap="square" lIns="0" tIns="0" rIns="0" bIns="0" rtlCol="0" anchor="t"/>
          <a:lstStyle/>
          <a:p>
            <a:pPr marL="0" indent="0" algn="r">
              <a:buNone/>
            </a:pPr>
            <a:r>
              <a:rPr lang="en-US" sz="2800" b="1" dirty="0">
                <a:solidFill>
                  <a:srgbClr val="0B1F3A"/>
                </a:solidFill>
                <a:latin typeface="Arial" pitchFamily="34" charset="0"/>
                <a:ea typeface="Arial" pitchFamily="34" charset="-122"/>
                <a:cs typeface="Arial" pitchFamily="34" charset="-120"/>
              </a:rPr>
              <a:t>September 19, 2026</a:t>
            </a:r>
            <a:endParaRPr lang="en-US" sz="2800" dirty="0"/>
          </a:p>
        </p:txBody>
      </p:sp>
      <p:sp>
        <p:nvSpPr>
          <p:cNvPr id="13" name="Text 11"/>
          <p:cNvSpPr txBox="1"/>
          <p:nvPr/>
        </p:nvSpPr>
        <p:spPr>
          <a:xfrm>
            <a:off x="9601200" y="7360920"/>
            <a:ext cx="6858000" cy="457200"/>
          </a:xfrm>
          <a:prstGeom prst="rect">
            <a:avLst/>
          </a:prstGeom>
          <a:noFill/>
          <a:ln/>
        </p:spPr>
        <p:txBody>
          <a:bodyPr wrap="square" lIns="0" tIns="0" rIns="0" bIns="0" rtlCol="0" anchor="t"/>
          <a:lstStyle/>
          <a:p>
            <a:pPr marL="0" indent="0" algn="r">
              <a:buNone/>
            </a:pPr>
            <a:r>
              <a:rPr lang="en-US" sz="2400" dirty="0">
                <a:solidFill>
                  <a:srgbClr val="4B5563"/>
                </a:solidFill>
                <a:latin typeface="Arial" pitchFamily="34" charset="0"/>
                <a:ea typeface="Arial" pitchFamily="34" charset="-122"/>
                <a:cs typeface="Arial" pitchFamily="34" charset="-120"/>
              </a:rPr>
              <a:t>Session 8 · Capstone Presentations</a:t>
            </a:r>
            <a:endParaRPr lang="en-US" sz="2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IT IS ALREADY HAPPENING</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When software makes the call, students carry the risk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Headline captures and quoted headlines from the sources listed in Appendix A13 (accessed September 18, 2026).</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a:t>
            </a:r>
            <a:endParaRPr lang="en-US" sz="1600" dirty="0"/>
          </a:p>
        </p:txBody>
      </p:sp>
      <p:sp>
        <p:nvSpPr>
          <p:cNvPr id="19" name="Shape 17"/>
          <p:cNvSpPr/>
          <p:nvPr/>
        </p:nvSpPr>
        <p:spPr>
          <a:xfrm>
            <a:off x="877824" y="2606040"/>
            <a:ext cx="5236464" cy="41605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877824" y="2606040"/>
            <a:ext cx="5236464" cy="310896"/>
          </a:xfrm>
          <a:prstGeom prst="rect">
            <a:avLst/>
          </a:prstGeom>
          <a:solidFill>
            <a:srgbClr val="EEF1F5"/>
          </a:solidFill>
          <a:ln w="12700">
            <a:solidFill>
              <a:srgbClr val="EEF1F5"/>
            </a:solidFill>
            <a:prstDash val="solid"/>
          </a:ln>
        </p:spPr>
        <p:txBody>
          <a:bodyPr/>
          <a:lstStyle/>
          <a:p>
            <a:endParaRPr lang="en-US"/>
          </a:p>
        </p:txBody>
      </p:sp>
      <p:sp>
        <p:nvSpPr>
          <p:cNvPr id="21" name="Shape 19"/>
          <p:cNvSpPr/>
          <p:nvPr/>
        </p:nvSpPr>
        <p:spPr>
          <a:xfrm>
            <a:off x="1042416" y="2697480"/>
            <a:ext cx="128016" cy="128016"/>
          </a:xfrm>
          <a:prstGeom prst="ellipse">
            <a:avLst/>
          </a:prstGeom>
          <a:solidFill>
            <a:srgbClr val="E5484D"/>
          </a:solidFill>
          <a:ln w="12700">
            <a:solidFill>
              <a:srgbClr val="E5484D"/>
            </a:solidFill>
            <a:prstDash val="solid"/>
          </a:ln>
        </p:spPr>
        <p:txBody>
          <a:bodyPr/>
          <a:lstStyle/>
          <a:p>
            <a:endParaRPr lang="en-US"/>
          </a:p>
        </p:txBody>
      </p:sp>
      <p:sp>
        <p:nvSpPr>
          <p:cNvPr id="22" name="Shape 20"/>
          <p:cNvSpPr/>
          <p:nvPr/>
        </p:nvSpPr>
        <p:spPr>
          <a:xfrm>
            <a:off x="1243584" y="2697480"/>
            <a:ext cx="128016" cy="128016"/>
          </a:xfrm>
          <a:prstGeom prst="ellipse">
            <a:avLst/>
          </a:prstGeom>
          <a:solidFill>
            <a:srgbClr val="F5B83D"/>
          </a:solidFill>
          <a:ln w="12700">
            <a:solidFill>
              <a:srgbClr val="F5B83D"/>
            </a:solidFill>
            <a:prstDash val="solid"/>
          </a:ln>
        </p:spPr>
        <p:txBody>
          <a:bodyPr/>
          <a:lstStyle/>
          <a:p>
            <a:endParaRPr lang="en-US"/>
          </a:p>
        </p:txBody>
      </p:sp>
      <p:sp>
        <p:nvSpPr>
          <p:cNvPr id="23" name="Shape 21"/>
          <p:cNvSpPr/>
          <p:nvPr/>
        </p:nvSpPr>
        <p:spPr>
          <a:xfrm>
            <a:off x="1444752" y="2697480"/>
            <a:ext cx="128016" cy="128016"/>
          </a:xfrm>
          <a:prstGeom prst="ellipse">
            <a:avLst/>
          </a:prstGeom>
          <a:solidFill>
            <a:srgbClr val="3FB950"/>
          </a:solidFill>
          <a:ln w="12700">
            <a:solidFill>
              <a:srgbClr val="3FB950"/>
            </a:solidFill>
            <a:prstDash val="solid"/>
          </a:ln>
        </p:spPr>
        <p:txBody>
          <a:bodyPr/>
          <a:lstStyle/>
          <a:p>
            <a:endParaRPr lang="en-US"/>
          </a:p>
        </p:txBody>
      </p:sp>
      <p:sp>
        <p:nvSpPr>
          <p:cNvPr id="24" name="Text 22"/>
          <p:cNvSpPr txBox="1"/>
          <p:nvPr/>
        </p:nvSpPr>
        <p:spPr>
          <a:xfrm>
            <a:off x="1746504" y="2642616"/>
            <a:ext cx="4230624"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Philippine Daily Inquirer · Jan 19, 2023</a:t>
            </a:r>
            <a:endParaRPr lang="en-US" sz="1400" dirty="0"/>
          </a:p>
        </p:txBody>
      </p:sp>
      <p:pic>
        <p:nvPicPr>
          <p:cNvPr id="25" name="Image 0" descr="Screenshot: Philippine Daily Inquirer, Student’s rambling essay triggers AI question in UP"/>
          <p:cNvPicPr>
            <a:picLocks noChangeAspect="1"/>
          </p:cNvPicPr>
          <p:nvPr/>
        </p:nvPicPr>
        <p:blipFill>
          <a:blip r:embed="rId3"/>
          <a:stretch>
            <a:fillRect/>
          </a:stretch>
        </p:blipFill>
        <p:spPr>
          <a:xfrm>
            <a:off x="987552" y="3397708"/>
            <a:ext cx="5017008" cy="2888080"/>
          </a:xfrm>
          <a:prstGeom prst="rect">
            <a:avLst/>
          </a:prstGeom>
        </p:spPr>
      </p:pic>
      <p:sp>
        <p:nvSpPr>
          <p:cNvPr id="26" name="Text 23"/>
          <p:cNvSpPr txBox="1"/>
          <p:nvPr/>
        </p:nvSpPr>
        <p:spPr>
          <a:xfrm>
            <a:off x="877824" y="6949440"/>
            <a:ext cx="5236464" cy="731520"/>
          </a:xfrm>
          <a:prstGeom prst="rect">
            <a:avLst/>
          </a:prstGeom>
          <a:noFill/>
          <a:ln/>
        </p:spPr>
        <p:txBody>
          <a:bodyPr wrap="square" lIns="0" tIns="0" rIns="0" bIns="0" rtlCol="0" anchor="t"/>
          <a:lstStyle/>
          <a:p>
            <a:pPr marL="0" indent="0">
              <a:buNone/>
            </a:pPr>
            <a:r>
              <a:rPr lang="en-US" sz="4000" dirty="0">
                <a:solidFill>
                  <a:srgbClr val="0038A8"/>
                </a:solidFill>
                <a:latin typeface="Georgia" pitchFamily="34" charset="0"/>
                <a:ea typeface="Georgia" pitchFamily="34" charset="-122"/>
                <a:cs typeface="Georgia" pitchFamily="34" charset="-120"/>
              </a:rPr>
              <a:t>Philippines, 2023</a:t>
            </a:r>
            <a:endParaRPr lang="en-US" sz="4000" dirty="0"/>
          </a:p>
        </p:txBody>
      </p:sp>
      <p:sp>
        <p:nvSpPr>
          <p:cNvPr id="27" name="Text 24"/>
          <p:cNvSpPr txBox="1"/>
          <p:nvPr/>
        </p:nvSpPr>
        <p:spPr>
          <a:xfrm>
            <a:off x="877824" y="7680960"/>
            <a:ext cx="5236464" cy="141732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 professor checked a student’s exam essay with two AI-detector websites and called it dishonesty. Faculty then asked UP to review its integrity rules.</a:t>
            </a:r>
            <a:endParaRPr lang="en-US" sz="2400" dirty="0"/>
          </a:p>
        </p:txBody>
      </p:sp>
      <p:sp>
        <p:nvSpPr>
          <p:cNvPr id="28" name="Shape 25"/>
          <p:cNvSpPr/>
          <p:nvPr/>
        </p:nvSpPr>
        <p:spPr>
          <a:xfrm>
            <a:off x="6525768" y="2606040"/>
            <a:ext cx="5236464" cy="41605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9" name="Shape 26"/>
          <p:cNvSpPr/>
          <p:nvPr/>
        </p:nvSpPr>
        <p:spPr>
          <a:xfrm>
            <a:off x="6525768" y="2606040"/>
            <a:ext cx="5236464" cy="310896"/>
          </a:xfrm>
          <a:prstGeom prst="rect">
            <a:avLst/>
          </a:prstGeom>
          <a:solidFill>
            <a:srgbClr val="EEF1F5"/>
          </a:solidFill>
          <a:ln w="12700">
            <a:solidFill>
              <a:srgbClr val="EEF1F5"/>
            </a:solidFill>
            <a:prstDash val="solid"/>
          </a:ln>
        </p:spPr>
        <p:txBody>
          <a:bodyPr/>
          <a:lstStyle/>
          <a:p>
            <a:endParaRPr lang="en-US"/>
          </a:p>
        </p:txBody>
      </p:sp>
      <p:sp>
        <p:nvSpPr>
          <p:cNvPr id="30" name="Shape 27"/>
          <p:cNvSpPr/>
          <p:nvPr/>
        </p:nvSpPr>
        <p:spPr>
          <a:xfrm>
            <a:off x="6690360" y="2697480"/>
            <a:ext cx="128016" cy="128016"/>
          </a:xfrm>
          <a:prstGeom prst="ellipse">
            <a:avLst/>
          </a:prstGeom>
          <a:solidFill>
            <a:srgbClr val="E5484D"/>
          </a:solidFill>
          <a:ln w="12700">
            <a:solidFill>
              <a:srgbClr val="E5484D"/>
            </a:solidFill>
            <a:prstDash val="solid"/>
          </a:ln>
        </p:spPr>
        <p:txBody>
          <a:bodyPr/>
          <a:lstStyle/>
          <a:p>
            <a:endParaRPr lang="en-US"/>
          </a:p>
        </p:txBody>
      </p:sp>
      <p:sp>
        <p:nvSpPr>
          <p:cNvPr id="31" name="Shape 28"/>
          <p:cNvSpPr/>
          <p:nvPr/>
        </p:nvSpPr>
        <p:spPr>
          <a:xfrm>
            <a:off x="6891528" y="2697480"/>
            <a:ext cx="128016" cy="128016"/>
          </a:xfrm>
          <a:prstGeom prst="ellipse">
            <a:avLst/>
          </a:prstGeom>
          <a:solidFill>
            <a:srgbClr val="F5B83D"/>
          </a:solidFill>
          <a:ln w="12700">
            <a:solidFill>
              <a:srgbClr val="F5B83D"/>
            </a:solidFill>
            <a:prstDash val="solid"/>
          </a:ln>
        </p:spPr>
        <p:txBody>
          <a:bodyPr/>
          <a:lstStyle/>
          <a:p>
            <a:endParaRPr lang="en-US"/>
          </a:p>
        </p:txBody>
      </p:sp>
      <p:sp>
        <p:nvSpPr>
          <p:cNvPr id="32" name="Shape 29"/>
          <p:cNvSpPr/>
          <p:nvPr/>
        </p:nvSpPr>
        <p:spPr>
          <a:xfrm>
            <a:off x="7092696" y="2697480"/>
            <a:ext cx="128016" cy="128016"/>
          </a:xfrm>
          <a:prstGeom prst="ellipse">
            <a:avLst/>
          </a:prstGeom>
          <a:solidFill>
            <a:srgbClr val="3FB950"/>
          </a:solidFill>
          <a:ln w="12700">
            <a:solidFill>
              <a:srgbClr val="3FB950"/>
            </a:solidFill>
            <a:prstDash val="solid"/>
          </a:ln>
        </p:spPr>
        <p:txBody>
          <a:bodyPr/>
          <a:lstStyle/>
          <a:p>
            <a:endParaRPr lang="en-US"/>
          </a:p>
        </p:txBody>
      </p:sp>
      <p:sp>
        <p:nvSpPr>
          <p:cNvPr id="33" name="Text 30"/>
          <p:cNvSpPr txBox="1"/>
          <p:nvPr/>
        </p:nvSpPr>
        <p:spPr>
          <a:xfrm>
            <a:off x="7394448" y="2642616"/>
            <a:ext cx="4230624"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ABC News (Australia) · Oct 9, 2025</a:t>
            </a:r>
            <a:endParaRPr lang="en-US" sz="1400" dirty="0"/>
          </a:p>
        </p:txBody>
      </p:sp>
      <p:pic>
        <p:nvPicPr>
          <p:cNvPr id="34" name="Image 1" descr="Screenshot: ABC News (Australia), University wrongly accuses students of using artificial intelligence to cheat"/>
          <p:cNvPicPr>
            <a:picLocks noChangeAspect="1"/>
          </p:cNvPicPr>
          <p:nvPr/>
        </p:nvPicPr>
        <p:blipFill>
          <a:blip r:embed="rId4"/>
          <a:stretch>
            <a:fillRect/>
          </a:stretch>
        </p:blipFill>
        <p:spPr>
          <a:xfrm>
            <a:off x="6769083" y="3026664"/>
            <a:ext cx="4749834" cy="3630168"/>
          </a:xfrm>
          <a:prstGeom prst="rect">
            <a:avLst/>
          </a:prstGeom>
        </p:spPr>
      </p:pic>
      <p:sp>
        <p:nvSpPr>
          <p:cNvPr id="35" name="Text 31"/>
          <p:cNvSpPr txBox="1"/>
          <p:nvPr/>
        </p:nvSpPr>
        <p:spPr>
          <a:xfrm>
            <a:off x="6525768" y="6949440"/>
            <a:ext cx="5236464" cy="731520"/>
          </a:xfrm>
          <a:prstGeom prst="rect">
            <a:avLst/>
          </a:prstGeom>
          <a:noFill/>
          <a:ln/>
        </p:spPr>
        <p:txBody>
          <a:bodyPr wrap="square" lIns="0" tIns="0" rIns="0" bIns="0" rtlCol="0" anchor="t"/>
          <a:lstStyle/>
          <a:p>
            <a:pPr marL="0" indent="0">
              <a:buNone/>
            </a:pPr>
            <a:r>
              <a:rPr lang="en-US" sz="4000" dirty="0">
                <a:solidFill>
                  <a:srgbClr val="CE1126"/>
                </a:solidFill>
                <a:latin typeface="Georgia" pitchFamily="34" charset="0"/>
                <a:ea typeface="Georgia" pitchFamily="34" charset="-122"/>
                <a:cs typeface="Georgia" pitchFamily="34" charset="-120"/>
              </a:rPr>
              <a:t>Wrongly accused</a:t>
            </a:r>
            <a:endParaRPr lang="en-US" sz="4000" dirty="0"/>
          </a:p>
        </p:txBody>
      </p:sp>
      <p:sp>
        <p:nvSpPr>
          <p:cNvPr id="36" name="Text 32"/>
          <p:cNvSpPr txBox="1"/>
          <p:nvPr/>
        </p:nvSpPr>
        <p:spPr>
          <a:xfrm>
            <a:off x="6525768" y="7680960"/>
            <a:ext cx="5236464" cy="141732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ABC reported that an Australian university wrongly accused students of using AI to cheat. The university disputed the reported case totals.</a:t>
            </a:r>
            <a:endParaRPr lang="en-US" sz="2400" dirty="0"/>
          </a:p>
        </p:txBody>
      </p:sp>
      <p:sp>
        <p:nvSpPr>
          <p:cNvPr id="37" name="Shape 33"/>
          <p:cNvSpPr/>
          <p:nvPr/>
        </p:nvSpPr>
        <p:spPr>
          <a:xfrm>
            <a:off x="12173712" y="2606040"/>
            <a:ext cx="5236464" cy="41605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8" name="Shape 34"/>
          <p:cNvSpPr/>
          <p:nvPr/>
        </p:nvSpPr>
        <p:spPr>
          <a:xfrm>
            <a:off x="12173712" y="2606040"/>
            <a:ext cx="5236464" cy="310896"/>
          </a:xfrm>
          <a:prstGeom prst="rect">
            <a:avLst/>
          </a:prstGeom>
          <a:solidFill>
            <a:srgbClr val="EEF1F5"/>
          </a:solidFill>
          <a:ln w="12700">
            <a:solidFill>
              <a:srgbClr val="EEF1F5"/>
            </a:solidFill>
            <a:prstDash val="solid"/>
          </a:ln>
        </p:spPr>
        <p:txBody>
          <a:bodyPr/>
          <a:lstStyle/>
          <a:p>
            <a:endParaRPr lang="en-US"/>
          </a:p>
        </p:txBody>
      </p:sp>
      <p:sp>
        <p:nvSpPr>
          <p:cNvPr id="39" name="Shape 35"/>
          <p:cNvSpPr/>
          <p:nvPr/>
        </p:nvSpPr>
        <p:spPr>
          <a:xfrm>
            <a:off x="12338304" y="2697480"/>
            <a:ext cx="128016" cy="128016"/>
          </a:xfrm>
          <a:prstGeom prst="ellipse">
            <a:avLst/>
          </a:prstGeom>
          <a:solidFill>
            <a:srgbClr val="E5484D"/>
          </a:solidFill>
          <a:ln w="12700">
            <a:solidFill>
              <a:srgbClr val="E5484D"/>
            </a:solidFill>
            <a:prstDash val="solid"/>
          </a:ln>
        </p:spPr>
        <p:txBody>
          <a:bodyPr/>
          <a:lstStyle/>
          <a:p>
            <a:endParaRPr lang="en-US"/>
          </a:p>
        </p:txBody>
      </p:sp>
      <p:sp>
        <p:nvSpPr>
          <p:cNvPr id="40" name="Shape 36"/>
          <p:cNvSpPr/>
          <p:nvPr/>
        </p:nvSpPr>
        <p:spPr>
          <a:xfrm>
            <a:off x="12539472" y="2697480"/>
            <a:ext cx="128016" cy="128016"/>
          </a:xfrm>
          <a:prstGeom prst="ellipse">
            <a:avLst/>
          </a:prstGeom>
          <a:solidFill>
            <a:srgbClr val="F5B83D"/>
          </a:solidFill>
          <a:ln w="12700">
            <a:solidFill>
              <a:srgbClr val="F5B83D"/>
            </a:solidFill>
            <a:prstDash val="solid"/>
          </a:ln>
        </p:spPr>
        <p:txBody>
          <a:bodyPr/>
          <a:lstStyle/>
          <a:p>
            <a:endParaRPr lang="en-US"/>
          </a:p>
        </p:txBody>
      </p:sp>
      <p:sp>
        <p:nvSpPr>
          <p:cNvPr id="41" name="Shape 37"/>
          <p:cNvSpPr/>
          <p:nvPr/>
        </p:nvSpPr>
        <p:spPr>
          <a:xfrm>
            <a:off x="12740640" y="2697480"/>
            <a:ext cx="128016" cy="128016"/>
          </a:xfrm>
          <a:prstGeom prst="ellipse">
            <a:avLst/>
          </a:prstGeom>
          <a:solidFill>
            <a:srgbClr val="3FB950"/>
          </a:solidFill>
          <a:ln w="12700">
            <a:solidFill>
              <a:srgbClr val="3FB950"/>
            </a:solidFill>
            <a:prstDash val="solid"/>
          </a:ln>
        </p:spPr>
        <p:txBody>
          <a:bodyPr/>
          <a:lstStyle/>
          <a:p>
            <a:endParaRPr lang="en-US"/>
          </a:p>
        </p:txBody>
      </p:sp>
      <p:sp>
        <p:nvSpPr>
          <p:cNvPr id="42" name="Text 38"/>
          <p:cNvSpPr txBox="1"/>
          <p:nvPr/>
        </p:nvSpPr>
        <p:spPr>
          <a:xfrm>
            <a:off x="13042392" y="2642616"/>
            <a:ext cx="4230624"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CNA (Singapore) · Aug 14, 2026</a:t>
            </a:r>
            <a:endParaRPr lang="en-US" sz="1400" dirty="0"/>
          </a:p>
        </p:txBody>
      </p:sp>
      <p:pic>
        <p:nvPicPr>
          <p:cNvPr id="43" name="Image 2" descr="Screenshot: CNA (Singapore), NTU to stop using ‘fundamentally unreliable’ AI detector from 2027"/>
          <p:cNvPicPr>
            <a:picLocks noChangeAspect="1"/>
          </p:cNvPicPr>
          <p:nvPr/>
        </p:nvPicPr>
        <p:blipFill>
          <a:blip r:embed="rId5"/>
          <a:stretch>
            <a:fillRect/>
          </a:stretch>
        </p:blipFill>
        <p:spPr>
          <a:xfrm>
            <a:off x="12283440" y="3680573"/>
            <a:ext cx="5017008" cy="2322350"/>
          </a:xfrm>
          <a:prstGeom prst="rect">
            <a:avLst/>
          </a:prstGeom>
        </p:spPr>
      </p:pic>
      <p:sp>
        <p:nvSpPr>
          <p:cNvPr id="44" name="Text 39"/>
          <p:cNvSpPr txBox="1"/>
          <p:nvPr/>
        </p:nvSpPr>
        <p:spPr>
          <a:xfrm>
            <a:off x="12173712" y="6949440"/>
            <a:ext cx="5236464" cy="731520"/>
          </a:xfrm>
          <a:prstGeom prst="rect">
            <a:avLst/>
          </a:prstGeom>
          <a:noFill/>
          <a:ln/>
        </p:spPr>
        <p:txBody>
          <a:bodyPr wrap="square" lIns="0" tIns="0" rIns="0" bIns="0" rtlCol="0" anchor="t"/>
          <a:lstStyle/>
          <a:p>
            <a:pPr marL="0" indent="0">
              <a:buNone/>
            </a:pPr>
            <a:r>
              <a:rPr lang="en-US" sz="4000" dirty="0">
                <a:solidFill>
                  <a:srgbClr val="0F7B5F"/>
                </a:solidFill>
                <a:latin typeface="Georgia" pitchFamily="34" charset="0"/>
                <a:ea typeface="Georgia" pitchFamily="34" charset="-122"/>
                <a:cs typeface="Georgia" pitchFamily="34" charset="-120"/>
              </a:rPr>
              <a:t>“Not evidence”</a:t>
            </a:r>
            <a:endParaRPr lang="en-US" sz="4000" dirty="0"/>
          </a:p>
        </p:txBody>
      </p:sp>
      <p:sp>
        <p:nvSpPr>
          <p:cNvPr id="45" name="Text 40"/>
          <p:cNvSpPr txBox="1"/>
          <p:nvPr/>
        </p:nvSpPr>
        <p:spPr>
          <a:xfrm>
            <a:off x="12173712" y="7680960"/>
            <a:ext cx="5236464" cy="141732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Nanyang Technological University said it will stop using its AI detector from 2027 and will not rely on AI probability scores as evidence of misconduct.</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par>
                                <p:cTn id="81" presetID="10" presetClass="entr" presetSubtype="0"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fade">
                                      <p:cBhvr>
                                        <p:cTn id="83" dur="400"/>
                                        <p:tgtEl>
                                          <p:spTgt spid="43"/>
                                        </p:tgtEl>
                                      </p:cBhvr>
                                    </p:animEffect>
                                  </p:childTnLst>
                                </p:cTn>
                              </p:par>
                              <p:par>
                                <p:cTn id="84" presetID="10" presetClass="entr" presetSubtype="0" fill="hold" nodeType="with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fade">
                                      <p:cBhvr>
                                        <p:cTn id="86" dur="400"/>
                                        <p:tgtEl>
                                          <p:spTgt spid="44"/>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QUESTION</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We have AI. How do we know its answer is right, here?</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The full research questions are in Appendix A2.</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a:t>
            </a:r>
            <a:endParaRPr lang="en-US" sz="1600" dirty="0"/>
          </a:p>
        </p:txBody>
      </p:sp>
      <p:sp>
        <p:nvSpPr>
          <p:cNvPr id="19" name="Shape 17"/>
          <p:cNvSpPr/>
          <p:nvPr/>
        </p:nvSpPr>
        <p:spPr>
          <a:xfrm>
            <a:off x="877824" y="2743200"/>
            <a:ext cx="16532352" cy="16002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234440" y="3127248"/>
            <a:ext cx="822960" cy="822960"/>
          </a:xfrm>
          <a:prstGeom prst="ellipse">
            <a:avLst/>
          </a:prstGeom>
          <a:solidFill>
            <a:srgbClr val="0038A8"/>
          </a:solidFill>
          <a:ln w="12700">
            <a:solidFill>
              <a:srgbClr val="0038A8"/>
            </a:solidFill>
            <a:prstDash val="solid"/>
          </a:ln>
        </p:spPr>
        <p:txBody>
          <a:bodyPr/>
          <a:lstStyle/>
          <a:p>
            <a:endParaRPr lang="en-US"/>
          </a:p>
        </p:txBody>
      </p:sp>
      <p:sp>
        <p:nvSpPr>
          <p:cNvPr id="21" name="Text 19"/>
          <p:cNvSpPr txBox="1"/>
          <p:nvPr/>
        </p:nvSpPr>
        <p:spPr>
          <a:xfrm>
            <a:off x="1234440" y="3127248"/>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22" name="Text 20"/>
          <p:cNvSpPr txBox="1"/>
          <p:nvPr/>
        </p:nvSpPr>
        <p:spPr>
          <a:xfrm>
            <a:off x="2423160" y="2971800"/>
            <a:ext cx="5120640" cy="1143000"/>
          </a:xfrm>
          <a:prstGeom prst="rect">
            <a:avLst/>
          </a:prstGeom>
          <a:noFill/>
          <a:ln/>
        </p:spPr>
        <p:txBody>
          <a:bodyPr wrap="square" lIns="0" tIns="0" rIns="0" bIns="0" rtlCol="0" anchor="ctr"/>
          <a:lstStyle/>
          <a:p>
            <a:pPr marL="0" indent="0">
              <a:buNone/>
            </a:pPr>
            <a:r>
              <a:rPr lang="en-US" sz="3600" dirty="0">
                <a:solidFill>
                  <a:srgbClr val="0B1F3A"/>
                </a:solidFill>
                <a:latin typeface="Georgia" pitchFamily="34" charset="0"/>
                <a:ea typeface="Georgia" pitchFamily="34" charset="-122"/>
                <a:cs typeface="Georgia" pitchFamily="34" charset="-120"/>
              </a:rPr>
              <a:t>Is it right?</a:t>
            </a:r>
            <a:endParaRPr lang="en-US" sz="3600" dirty="0"/>
          </a:p>
        </p:txBody>
      </p:sp>
      <p:sp>
        <p:nvSpPr>
          <p:cNvPr id="23" name="Text 21"/>
          <p:cNvSpPr txBox="1"/>
          <p:nvPr/>
        </p:nvSpPr>
        <p:spPr>
          <a:xfrm>
            <a:off x="7680960" y="2926080"/>
            <a:ext cx="9418320" cy="1234440"/>
          </a:xfrm>
          <a:prstGeom prst="rect">
            <a:avLst/>
          </a:prstGeom>
          <a:noFill/>
          <a:ln/>
        </p:spPr>
        <p:txBody>
          <a:bodyPr wrap="square" lIns="0" tIns="0" rIns="0" bIns="0" rtlCol="0" anchor="ctr"/>
          <a:lstStyle/>
          <a:p>
            <a:pPr marL="0" indent="0">
              <a:buNone/>
            </a:pPr>
            <a:r>
              <a:rPr lang="en-US" sz="2600" dirty="0">
                <a:solidFill>
                  <a:srgbClr val="4B5563"/>
                </a:solidFill>
                <a:latin typeface="Arial" pitchFamily="34" charset="0"/>
                <a:ea typeface="Arial" pitchFamily="34" charset="-122"/>
                <a:cs typeface="Arial" pitchFamily="34" charset="-120"/>
              </a:rPr>
              <a:t>Does the answer use the correct rule, from the correct school, in its current version?</a:t>
            </a:r>
            <a:endParaRPr lang="en-US" sz="2600" dirty="0"/>
          </a:p>
        </p:txBody>
      </p:sp>
      <p:sp>
        <p:nvSpPr>
          <p:cNvPr id="24" name="Shape 22"/>
          <p:cNvSpPr/>
          <p:nvPr/>
        </p:nvSpPr>
        <p:spPr>
          <a:xfrm>
            <a:off x="877824" y="4572000"/>
            <a:ext cx="16532352" cy="16002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1234440" y="4956048"/>
            <a:ext cx="822960" cy="822960"/>
          </a:xfrm>
          <a:prstGeom prst="ellipse">
            <a:avLst/>
          </a:prstGeom>
          <a:solidFill>
            <a:srgbClr val="CE1126"/>
          </a:solidFill>
          <a:ln w="12700">
            <a:solidFill>
              <a:srgbClr val="CE1126"/>
            </a:solidFill>
            <a:prstDash val="solid"/>
          </a:ln>
        </p:spPr>
        <p:txBody>
          <a:bodyPr/>
          <a:lstStyle/>
          <a:p>
            <a:endParaRPr lang="en-US"/>
          </a:p>
        </p:txBody>
      </p:sp>
      <p:sp>
        <p:nvSpPr>
          <p:cNvPr id="26" name="Text 24"/>
          <p:cNvSpPr txBox="1"/>
          <p:nvPr/>
        </p:nvSpPr>
        <p:spPr>
          <a:xfrm>
            <a:off x="1234440" y="4956048"/>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27" name="Text 25"/>
          <p:cNvSpPr txBox="1"/>
          <p:nvPr/>
        </p:nvSpPr>
        <p:spPr>
          <a:xfrm>
            <a:off x="2423160" y="4800600"/>
            <a:ext cx="5120640" cy="1143000"/>
          </a:xfrm>
          <a:prstGeom prst="rect">
            <a:avLst/>
          </a:prstGeom>
          <a:noFill/>
          <a:ln/>
        </p:spPr>
        <p:txBody>
          <a:bodyPr wrap="square" lIns="0" tIns="0" rIns="0" bIns="0" rtlCol="0" anchor="ctr"/>
          <a:lstStyle/>
          <a:p>
            <a:pPr marL="0" indent="0">
              <a:buNone/>
            </a:pPr>
            <a:r>
              <a:rPr lang="en-US" sz="3600" dirty="0">
                <a:solidFill>
                  <a:srgbClr val="0B1F3A"/>
                </a:solidFill>
                <a:latin typeface="Georgia" pitchFamily="34" charset="0"/>
                <a:ea typeface="Georgia" pitchFamily="34" charset="-122"/>
                <a:cs typeface="Georgia" pitchFamily="34" charset="-120"/>
              </a:rPr>
              <a:t>Does it fit our rules?</a:t>
            </a:r>
            <a:endParaRPr lang="en-US" sz="3600" dirty="0"/>
          </a:p>
        </p:txBody>
      </p:sp>
      <p:sp>
        <p:nvSpPr>
          <p:cNvPr id="28" name="Text 26"/>
          <p:cNvSpPr txBox="1"/>
          <p:nvPr/>
        </p:nvSpPr>
        <p:spPr>
          <a:xfrm>
            <a:off x="7680960" y="4754880"/>
            <a:ext cx="9418320" cy="1234440"/>
          </a:xfrm>
          <a:prstGeom prst="rect">
            <a:avLst/>
          </a:prstGeom>
          <a:noFill/>
          <a:ln/>
        </p:spPr>
        <p:txBody>
          <a:bodyPr wrap="square" lIns="0" tIns="0" rIns="0" bIns="0" rtlCol="0" anchor="ctr"/>
          <a:lstStyle/>
          <a:p>
            <a:pPr marL="0" indent="0">
              <a:buNone/>
            </a:pPr>
            <a:r>
              <a:rPr lang="en-US" sz="2600" dirty="0">
                <a:solidFill>
                  <a:srgbClr val="4B5563"/>
                </a:solidFill>
                <a:latin typeface="Arial" pitchFamily="34" charset="0"/>
                <a:ea typeface="Arial" pitchFamily="34" charset="-122"/>
                <a:cs typeface="Arial" pitchFamily="34" charset="-120"/>
              </a:rPr>
              <a:t>Philippine colleges and universities write their own grading and integrity rules. A model trained elsewhere does not know them by default.</a:t>
            </a:r>
            <a:endParaRPr lang="en-US" sz="2600" dirty="0"/>
          </a:p>
        </p:txBody>
      </p:sp>
      <p:sp>
        <p:nvSpPr>
          <p:cNvPr id="29" name="Shape 27"/>
          <p:cNvSpPr/>
          <p:nvPr/>
        </p:nvSpPr>
        <p:spPr>
          <a:xfrm>
            <a:off x="877824" y="6400800"/>
            <a:ext cx="16532352" cy="16002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8"/>
          <p:cNvSpPr/>
          <p:nvPr/>
        </p:nvSpPr>
        <p:spPr>
          <a:xfrm>
            <a:off x="1234440" y="6784848"/>
            <a:ext cx="822960" cy="822960"/>
          </a:xfrm>
          <a:prstGeom prst="ellipse">
            <a:avLst/>
          </a:prstGeom>
          <a:solidFill>
            <a:srgbClr val="8A6100"/>
          </a:solidFill>
          <a:ln w="12700">
            <a:solidFill>
              <a:srgbClr val="8A6100"/>
            </a:solidFill>
            <a:prstDash val="solid"/>
          </a:ln>
        </p:spPr>
        <p:txBody>
          <a:bodyPr/>
          <a:lstStyle/>
          <a:p>
            <a:endParaRPr lang="en-US"/>
          </a:p>
        </p:txBody>
      </p:sp>
      <p:sp>
        <p:nvSpPr>
          <p:cNvPr id="31" name="Text 29"/>
          <p:cNvSpPr txBox="1"/>
          <p:nvPr/>
        </p:nvSpPr>
        <p:spPr>
          <a:xfrm>
            <a:off x="1234440" y="6784848"/>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32" name="Text 30"/>
          <p:cNvSpPr txBox="1"/>
          <p:nvPr/>
        </p:nvSpPr>
        <p:spPr>
          <a:xfrm>
            <a:off x="2423160" y="6629400"/>
            <a:ext cx="5120640" cy="1143000"/>
          </a:xfrm>
          <a:prstGeom prst="rect">
            <a:avLst/>
          </a:prstGeom>
          <a:noFill/>
          <a:ln/>
        </p:spPr>
        <p:txBody>
          <a:bodyPr wrap="square" lIns="0" tIns="0" rIns="0" bIns="0" rtlCol="0" anchor="ctr"/>
          <a:lstStyle/>
          <a:p>
            <a:pPr marL="0" indent="0">
              <a:buNone/>
            </a:pPr>
            <a:r>
              <a:rPr lang="en-US" sz="3600" dirty="0">
                <a:solidFill>
                  <a:srgbClr val="0B1F3A"/>
                </a:solidFill>
                <a:latin typeface="Georgia" pitchFamily="34" charset="0"/>
                <a:ea typeface="Georgia" pitchFamily="34" charset="-122"/>
                <a:cs typeface="Georgia" pitchFamily="34" charset="-120"/>
              </a:rPr>
              <a:t>Who decides?</a:t>
            </a:r>
            <a:endParaRPr lang="en-US" sz="3600" dirty="0"/>
          </a:p>
        </p:txBody>
      </p:sp>
      <p:sp>
        <p:nvSpPr>
          <p:cNvPr id="33" name="Text 31"/>
          <p:cNvSpPr txBox="1"/>
          <p:nvPr/>
        </p:nvSpPr>
        <p:spPr>
          <a:xfrm>
            <a:off x="7680960" y="6583680"/>
            <a:ext cx="9418320" cy="1234440"/>
          </a:xfrm>
          <a:prstGeom prst="rect">
            <a:avLst/>
          </a:prstGeom>
          <a:noFill/>
          <a:ln/>
        </p:spPr>
        <p:txBody>
          <a:bodyPr wrap="square" lIns="0" tIns="0" rIns="0" bIns="0" rtlCol="0" anchor="ctr"/>
          <a:lstStyle/>
          <a:p>
            <a:pPr marL="0" indent="0">
              <a:buNone/>
            </a:pPr>
            <a:r>
              <a:rPr lang="en-US" sz="2600" dirty="0">
                <a:solidFill>
                  <a:srgbClr val="4B5563"/>
                </a:solidFill>
                <a:latin typeface="Arial" pitchFamily="34" charset="0"/>
                <a:ea typeface="Arial" pitchFamily="34" charset="-122"/>
                <a:cs typeface="Arial" pitchFamily="34" charset="-120"/>
              </a:rPr>
              <a:t>A penalty, a grade change or an approval belongs to an authorized person, not to the assistant.</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par>
                                <p:cTn id="45" presetID="10"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par>
                                <p:cTn id="51" presetID="10" presetClass="entr" presetSubtype="0" fill="hold"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PHILIPPINE LANDSCAPE</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AI is already in use. The rules are still catching up.</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Untalan (2026), GMA News: initial ASEAN Foundation findings, sample not reported. Villarino (2025): 451 students, one rural state university in Cebu, 2024; not national. DepEd Order No. 003, s. 2026; PAASCU (2025); Oladive (2026), Daily Guardian; CHED Regional Office XI (2026).</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Guide question 1 · How is AI used in the country?</a:t>
            </a:r>
            <a:endParaRPr lang="en-US" sz="1800" dirty="0"/>
          </a:p>
        </p:txBody>
      </p:sp>
      <p:sp>
        <p:nvSpPr>
          <p:cNvPr id="20" name="Shape 18"/>
          <p:cNvSpPr/>
          <p:nvPr/>
        </p:nvSpPr>
        <p:spPr>
          <a:xfrm>
            <a:off x="877824" y="2834640"/>
            <a:ext cx="7863840" cy="23317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1" name="Text 19"/>
          <p:cNvSpPr txBox="1"/>
          <p:nvPr/>
        </p:nvSpPr>
        <p:spPr>
          <a:xfrm>
            <a:off x="1188720" y="4343400"/>
            <a:ext cx="7315200" cy="73152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say they use generative AI in education (ASEAN Foundation study, initial findings)</a:t>
            </a:r>
            <a:endParaRPr lang="en-US" sz="2000" dirty="0"/>
          </a:p>
        </p:txBody>
      </p:sp>
      <p:sp>
        <p:nvSpPr>
          <p:cNvPr id="22" name="Text 20"/>
          <p:cNvSpPr txBox="1"/>
          <p:nvPr/>
        </p:nvSpPr>
        <p:spPr>
          <a:xfrm>
            <a:off x="1188720" y="2926080"/>
            <a:ext cx="3657600" cy="1417320"/>
          </a:xfrm>
          <a:prstGeom prst="rect">
            <a:avLst/>
          </a:prstGeom>
          <a:noFill/>
          <a:ln/>
        </p:spPr>
        <p:txBody>
          <a:bodyPr wrap="square" lIns="0" tIns="0" rIns="0" bIns="0" rtlCol="0" anchor="ctr"/>
          <a:lstStyle/>
          <a:p>
            <a:pPr marL="0" indent="0">
              <a:buNone/>
            </a:pPr>
            <a:r>
              <a:rPr lang="en-US" sz="5400" dirty="0">
                <a:solidFill>
                  <a:srgbClr val="0038A8"/>
                </a:solidFill>
                <a:latin typeface="Georgia" pitchFamily="34" charset="0"/>
                <a:ea typeface="Georgia" pitchFamily="34" charset="-122"/>
                <a:cs typeface="Georgia" pitchFamily="34" charset="-120"/>
              </a:rPr>
              <a:t>83%
</a:t>
            </a:r>
            <a:r>
              <a:rPr lang="en-US" sz="2200" dirty="0">
                <a:solidFill>
                  <a:srgbClr val="1E293B"/>
                </a:solidFill>
                <a:latin typeface="Arial" pitchFamily="34" charset="0"/>
                <a:ea typeface="Arial" pitchFamily="34" charset="-122"/>
                <a:cs typeface="Arial" pitchFamily="34" charset="-120"/>
              </a:rPr>
              <a:t>of Filipino students</a:t>
            </a:r>
            <a:endParaRPr lang="en-US" sz="5400" dirty="0"/>
          </a:p>
        </p:txBody>
      </p:sp>
      <p:sp>
        <p:nvSpPr>
          <p:cNvPr id="23" name="Text 21"/>
          <p:cNvSpPr txBox="1"/>
          <p:nvPr/>
        </p:nvSpPr>
        <p:spPr>
          <a:xfrm>
            <a:off x="4937760" y="2926080"/>
            <a:ext cx="3657600" cy="1417320"/>
          </a:xfrm>
          <a:prstGeom prst="rect">
            <a:avLst/>
          </a:prstGeom>
          <a:noFill/>
          <a:ln/>
        </p:spPr>
        <p:txBody>
          <a:bodyPr wrap="square" lIns="0" tIns="0" rIns="0" bIns="0" rtlCol="0" anchor="ctr"/>
          <a:lstStyle/>
          <a:p>
            <a:pPr marL="0" indent="0">
              <a:buNone/>
            </a:pPr>
            <a:r>
              <a:rPr lang="en-US" sz="5400" dirty="0">
                <a:solidFill>
                  <a:srgbClr val="0B1F3A"/>
                </a:solidFill>
                <a:latin typeface="Georgia" pitchFamily="34" charset="0"/>
                <a:ea typeface="Georgia" pitchFamily="34" charset="-122"/>
                <a:cs typeface="Georgia" pitchFamily="34" charset="-120"/>
              </a:rPr>
              <a:t>73%
</a:t>
            </a:r>
            <a:r>
              <a:rPr lang="en-US" sz="2200" dirty="0">
                <a:solidFill>
                  <a:srgbClr val="1E293B"/>
                </a:solidFill>
                <a:latin typeface="Arial" pitchFamily="34" charset="0"/>
                <a:ea typeface="Arial" pitchFamily="34" charset="-122"/>
                <a:cs typeface="Arial" pitchFamily="34" charset="-120"/>
              </a:rPr>
              <a:t>of educators</a:t>
            </a:r>
            <a:endParaRPr lang="en-US" sz="5400" dirty="0"/>
          </a:p>
        </p:txBody>
      </p:sp>
      <p:sp>
        <p:nvSpPr>
          <p:cNvPr id="24" name="Shape 22"/>
          <p:cNvSpPr/>
          <p:nvPr/>
        </p:nvSpPr>
        <p:spPr>
          <a:xfrm>
            <a:off x="877824" y="5394960"/>
            <a:ext cx="7863840" cy="37947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1188720" y="5532120"/>
            <a:ext cx="7315200" cy="457200"/>
          </a:xfrm>
          <a:prstGeom prst="rect">
            <a:avLst/>
          </a:prstGeom>
          <a:noFill/>
          <a:ln/>
        </p:spPr>
        <p:txBody>
          <a:bodyPr wrap="square" lIns="0" tIns="0" rIns="0" bIns="0" rtlCol="0" anchor="t"/>
          <a:lstStyle/>
          <a:p>
            <a:pPr marL="0" indent="0">
              <a:buNone/>
            </a:pPr>
            <a:r>
              <a:rPr lang="en-US" sz="2200" b="1" dirty="0">
                <a:solidFill>
                  <a:srgbClr val="1E293B"/>
                </a:solidFill>
                <a:latin typeface="Arial" pitchFamily="34" charset="0"/>
                <a:ea typeface="Arial" pitchFamily="34" charset="-122"/>
                <a:cs typeface="Arial" pitchFamily="34" charset="-120"/>
              </a:rPr>
              <a:t>But at one rural state university in Cebu (451 students):</a:t>
            </a:r>
            <a:endParaRPr lang="en-US" sz="2200" dirty="0"/>
          </a:p>
        </p:txBody>
      </p:sp>
      <p:graphicFrame>
        <p:nvGraphicFramePr>
          <p:cNvPr id="26" name="Chart 0"/>
          <p:cNvGraphicFramePr/>
          <p:nvPr/>
        </p:nvGraphicFramePr>
        <p:xfrm>
          <a:off x="1005840" y="5989320"/>
          <a:ext cx="758952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27" name="Shape 24"/>
          <p:cNvSpPr/>
          <p:nvPr/>
        </p:nvSpPr>
        <p:spPr>
          <a:xfrm>
            <a:off x="9098280" y="2834640"/>
            <a:ext cx="384048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8" name="Shape 25"/>
          <p:cNvSpPr/>
          <p:nvPr/>
        </p:nvSpPr>
        <p:spPr>
          <a:xfrm>
            <a:off x="9098280" y="2834640"/>
            <a:ext cx="3840480" cy="310896"/>
          </a:xfrm>
          <a:prstGeom prst="rect">
            <a:avLst/>
          </a:prstGeom>
          <a:solidFill>
            <a:srgbClr val="EEF1F5"/>
          </a:solidFill>
          <a:ln w="12700">
            <a:solidFill>
              <a:srgbClr val="EEF1F5"/>
            </a:solidFill>
            <a:prstDash val="solid"/>
          </a:ln>
        </p:spPr>
        <p:txBody>
          <a:bodyPr/>
          <a:lstStyle/>
          <a:p>
            <a:endParaRPr lang="en-US"/>
          </a:p>
        </p:txBody>
      </p:sp>
      <p:sp>
        <p:nvSpPr>
          <p:cNvPr id="29" name="Shape 26"/>
          <p:cNvSpPr/>
          <p:nvPr/>
        </p:nvSpPr>
        <p:spPr>
          <a:xfrm>
            <a:off x="9262872" y="2926080"/>
            <a:ext cx="128016" cy="128016"/>
          </a:xfrm>
          <a:prstGeom prst="ellipse">
            <a:avLst/>
          </a:prstGeom>
          <a:solidFill>
            <a:srgbClr val="E5484D"/>
          </a:solidFill>
          <a:ln w="12700">
            <a:solidFill>
              <a:srgbClr val="E5484D"/>
            </a:solidFill>
            <a:prstDash val="solid"/>
          </a:ln>
        </p:spPr>
        <p:txBody>
          <a:bodyPr/>
          <a:lstStyle/>
          <a:p>
            <a:endParaRPr lang="en-US"/>
          </a:p>
        </p:txBody>
      </p:sp>
      <p:sp>
        <p:nvSpPr>
          <p:cNvPr id="30" name="Shape 27"/>
          <p:cNvSpPr/>
          <p:nvPr/>
        </p:nvSpPr>
        <p:spPr>
          <a:xfrm>
            <a:off x="9464040" y="2926080"/>
            <a:ext cx="128016" cy="128016"/>
          </a:xfrm>
          <a:prstGeom prst="ellipse">
            <a:avLst/>
          </a:prstGeom>
          <a:solidFill>
            <a:srgbClr val="F5B83D"/>
          </a:solidFill>
          <a:ln w="12700">
            <a:solidFill>
              <a:srgbClr val="F5B83D"/>
            </a:solidFill>
            <a:prstDash val="solid"/>
          </a:ln>
        </p:spPr>
        <p:txBody>
          <a:bodyPr/>
          <a:lstStyle/>
          <a:p>
            <a:endParaRPr lang="en-US"/>
          </a:p>
        </p:txBody>
      </p:sp>
      <p:sp>
        <p:nvSpPr>
          <p:cNvPr id="31" name="Shape 28"/>
          <p:cNvSpPr/>
          <p:nvPr/>
        </p:nvSpPr>
        <p:spPr>
          <a:xfrm>
            <a:off x="9665208" y="2926080"/>
            <a:ext cx="128016" cy="128016"/>
          </a:xfrm>
          <a:prstGeom prst="ellipse">
            <a:avLst/>
          </a:prstGeom>
          <a:solidFill>
            <a:srgbClr val="3FB950"/>
          </a:solidFill>
          <a:ln w="12700">
            <a:solidFill>
              <a:srgbClr val="3FB950"/>
            </a:solidFill>
            <a:prstDash val="solid"/>
          </a:ln>
        </p:spPr>
        <p:txBody>
          <a:bodyPr/>
          <a:lstStyle/>
          <a:p>
            <a:endParaRPr lang="en-US"/>
          </a:p>
        </p:txBody>
      </p:sp>
      <p:sp>
        <p:nvSpPr>
          <p:cNvPr id="32" name="Text 29"/>
          <p:cNvSpPr txBox="1"/>
          <p:nvPr/>
        </p:nvSpPr>
        <p:spPr>
          <a:xfrm>
            <a:off x="9966960" y="2871216"/>
            <a:ext cx="283464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Department of Education · Feb 20, 2026</a:t>
            </a:r>
            <a:endParaRPr lang="en-US" sz="1400" dirty="0"/>
          </a:p>
        </p:txBody>
      </p:sp>
      <p:pic>
        <p:nvPicPr>
          <p:cNvPr id="33" name="Image 0" descr="Screenshot: Department of Education, DepEd Order No. 003, s. 2026: Foundational guidelines on AI in basic education"/>
          <p:cNvPicPr>
            <a:picLocks noChangeAspect="1"/>
          </p:cNvPicPr>
          <p:nvPr/>
        </p:nvPicPr>
        <p:blipFill>
          <a:blip r:embed="rId4"/>
          <a:stretch>
            <a:fillRect/>
          </a:stretch>
        </p:blipFill>
        <p:spPr>
          <a:xfrm>
            <a:off x="9529077" y="3255264"/>
            <a:ext cx="2978887" cy="1435608"/>
          </a:xfrm>
          <a:prstGeom prst="rect">
            <a:avLst/>
          </a:prstGeom>
        </p:spPr>
      </p:pic>
      <p:sp>
        <p:nvSpPr>
          <p:cNvPr id="34" name="Text 30"/>
          <p:cNvSpPr txBox="1"/>
          <p:nvPr/>
        </p:nvSpPr>
        <p:spPr>
          <a:xfrm>
            <a:off x="13167360" y="2880360"/>
            <a:ext cx="4251960" cy="192024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Basic education
</a:t>
            </a:r>
            <a:r>
              <a:rPr lang="en-US" sz="2100" dirty="0">
                <a:solidFill>
                  <a:srgbClr val="4B5563"/>
                </a:solidFill>
                <a:latin typeface="Arial" pitchFamily="34" charset="0"/>
                <a:ea typeface="Arial" pitchFamily="34" charset="-122"/>
                <a:cs typeface="Arial" pitchFamily="34" charset="-120"/>
              </a:rPr>
              <a:t>AI for grading is “high risk” and needs human oversight and appeal</a:t>
            </a:r>
            <a:endParaRPr lang="en-US" sz="2400" dirty="0"/>
          </a:p>
        </p:txBody>
      </p:sp>
      <p:sp>
        <p:nvSpPr>
          <p:cNvPr id="35" name="Shape 31"/>
          <p:cNvSpPr/>
          <p:nvPr/>
        </p:nvSpPr>
        <p:spPr>
          <a:xfrm>
            <a:off x="9098280" y="4983480"/>
            <a:ext cx="384048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6" name="Shape 32"/>
          <p:cNvSpPr/>
          <p:nvPr/>
        </p:nvSpPr>
        <p:spPr>
          <a:xfrm>
            <a:off x="9098280" y="4983480"/>
            <a:ext cx="3840480" cy="310896"/>
          </a:xfrm>
          <a:prstGeom prst="rect">
            <a:avLst/>
          </a:prstGeom>
          <a:solidFill>
            <a:srgbClr val="EEF1F5"/>
          </a:solidFill>
          <a:ln w="12700">
            <a:solidFill>
              <a:srgbClr val="EEF1F5"/>
            </a:solidFill>
            <a:prstDash val="solid"/>
          </a:ln>
        </p:spPr>
        <p:txBody>
          <a:bodyPr/>
          <a:lstStyle/>
          <a:p>
            <a:endParaRPr lang="en-US"/>
          </a:p>
        </p:txBody>
      </p:sp>
      <p:sp>
        <p:nvSpPr>
          <p:cNvPr id="37" name="Shape 33"/>
          <p:cNvSpPr/>
          <p:nvPr/>
        </p:nvSpPr>
        <p:spPr>
          <a:xfrm>
            <a:off x="9262872" y="5074920"/>
            <a:ext cx="128016" cy="128016"/>
          </a:xfrm>
          <a:prstGeom prst="ellipse">
            <a:avLst/>
          </a:prstGeom>
          <a:solidFill>
            <a:srgbClr val="E5484D"/>
          </a:solidFill>
          <a:ln w="12700">
            <a:solidFill>
              <a:srgbClr val="E5484D"/>
            </a:solidFill>
            <a:prstDash val="solid"/>
          </a:ln>
        </p:spPr>
        <p:txBody>
          <a:bodyPr/>
          <a:lstStyle/>
          <a:p>
            <a:endParaRPr lang="en-US"/>
          </a:p>
        </p:txBody>
      </p:sp>
      <p:sp>
        <p:nvSpPr>
          <p:cNvPr id="38" name="Shape 34"/>
          <p:cNvSpPr/>
          <p:nvPr/>
        </p:nvSpPr>
        <p:spPr>
          <a:xfrm>
            <a:off x="9464040" y="5074920"/>
            <a:ext cx="128016" cy="128016"/>
          </a:xfrm>
          <a:prstGeom prst="ellipse">
            <a:avLst/>
          </a:prstGeom>
          <a:solidFill>
            <a:srgbClr val="F5B83D"/>
          </a:solidFill>
          <a:ln w="12700">
            <a:solidFill>
              <a:srgbClr val="F5B83D"/>
            </a:solidFill>
            <a:prstDash val="solid"/>
          </a:ln>
        </p:spPr>
        <p:txBody>
          <a:bodyPr/>
          <a:lstStyle/>
          <a:p>
            <a:endParaRPr lang="en-US"/>
          </a:p>
        </p:txBody>
      </p:sp>
      <p:sp>
        <p:nvSpPr>
          <p:cNvPr id="39" name="Shape 35"/>
          <p:cNvSpPr/>
          <p:nvPr/>
        </p:nvSpPr>
        <p:spPr>
          <a:xfrm>
            <a:off x="9665208" y="5074920"/>
            <a:ext cx="128016" cy="128016"/>
          </a:xfrm>
          <a:prstGeom prst="ellipse">
            <a:avLst/>
          </a:prstGeom>
          <a:solidFill>
            <a:srgbClr val="3FB950"/>
          </a:solidFill>
          <a:ln w="12700">
            <a:solidFill>
              <a:srgbClr val="3FB950"/>
            </a:solidFill>
            <a:prstDash val="solid"/>
          </a:ln>
        </p:spPr>
        <p:txBody>
          <a:bodyPr/>
          <a:lstStyle/>
          <a:p>
            <a:endParaRPr lang="en-US"/>
          </a:p>
        </p:txBody>
      </p:sp>
      <p:sp>
        <p:nvSpPr>
          <p:cNvPr id="40" name="Text 36"/>
          <p:cNvSpPr txBox="1"/>
          <p:nvPr/>
        </p:nvSpPr>
        <p:spPr>
          <a:xfrm>
            <a:off x="9966960" y="5020056"/>
            <a:ext cx="283464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PAASCU · Oct 16, 2025</a:t>
            </a:r>
            <a:endParaRPr lang="en-US" sz="1400" dirty="0"/>
          </a:p>
        </p:txBody>
      </p:sp>
      <p:pic>
        <p:nvPicPr>
          <p:cNvPr id="41" name="Image 1" descr="Screenshot: PAASCU, PAASCU Board approves guidelines on AI use in accreditation"/>
          <p:cNvPicPr>
            <a:picLocks noChangeAspect="1"/>
          </p:cNvPicPr>
          <p:nvPr/>
        </p:nvPicPr>
        <p:blipFill>
          <a:blip r:embed="rId5"/>
          <a:stretch>
            <a:fillRect/>
          </a:stretch>
        </p:blipFill>
        <p:spPr>
          <a:xfrm>
            <a:off x="9208008" y="5513999"/>
            <a:ext cx="3621024" cy="1215818"/>
          </a:xfrm>
          <a:prstGeom prst="rect">
            <a:avLst/>
          </a:prstGeom>
        </p:spPr>
      </p:pic>
      <p:sp>
        <p:nvSpPr>
          <p:cNvPr id="42" name="Text 37"/>
          <p:cNvSpPr txBox="1"/>
          <p:nvPr/>
        </p:nvSpPr>
        <p:spPr>
          <a:xfrm>
            <a:off x="13167360" y="5029200"/>
            <a:ext cx="4251960" cy="192024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Accreditation
</a:t>
            </a:r>
            <a:r>
              <a:rPr lang="en-US" sz="2100" dirty="0">
                <a:solidFill>
                  <a:srgbClr val="4B5563"/>
                </a:solidFill>
                <a:latin typeface="Arial" pitchFamily="34" charset="0"/>
                <a:ea typeface="Arial" pitchFamily="34" charset="-122"/>
                <a:cs typeface="Arial" pitchFamily="34" charset="-120"/>
              </a:rPr>
              <a:t>People, not AI, make the final decisions</a:t>
            </a:r>
            <a:endParaRPr lang="en-US" sz="2400" dirty="0"/>
          </a:p>
        </p:txBody>
      </p:sp>
      <p:sp>
        <p:nvSpPr>
          <p:cNvPr id="43" name="Shape 38"/>
          <p:cNvSpPr/>
          <p:nvPr/>
        </p:nvSpPr>
        <p:spPr>
          <a:xfrm>
            <a:off x="9098280" y="7132320"/>
            <a:ext cx="384048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44" name="Shape 39"/>
          <p:cNvSpPr/>
          <p:nvPr/>
        </p:nvSpPr>
        <p:spPr>
          <a:xfrm>
            <a:off x="9098280" y="7132320"/>
            <a:ext cx="3840480" cy="310896"/>
          </a:xfrm>
          <a:prstGeom prst="rect">
            <a:avLst/>
          </a:prstGeom>
          <a:solidFill>
            <a:srgbClr val="EEF1F5"/>
          </a:solidFill>
          <a:ln w="12700">
            <a:solidFill>
              <a:srgbClr val="EEF1F5"/>
            </a:solidFill>
            <a:prstDash val="solid"/>
          </a:ln>
        </p:spPr>
        <p:txBody>
          <a:bodyPr/>
          <a:lstStyle/>
          <a:p>
            <a:endParaRPr lang="en-US"/>
          </a:p>
        </p:txBody>
      </p:sp>
      <p:sp>
        <p:nvSpPr>
          <p:cNvPr id="45" name="Shape 40"/>
          <p:cNvSpPr/>
          <p:nvPr/>
        </p:nvSpPr>
        <p:spPr>
          <a:xfrm>
            <a:off x="9262872" y="7223760"/>
            <a:ext cx="128016" cy="128016"/>
          </a:xfrm>
          <a:prstGeom prst="ellipse">
            <a:avLst/>
          </a:prstGeom>
          <a:solidFill>
            <a:srgbClr val="E5484D"/>
          </a:solidFill>
          <a:ln w="12700">
            <a:solidFill>
              <a:srgbClr val="E5484D"/>
            </a:solidFill>
            <a:prstDash val="solid"/>
          </a:ln>
        </p:spPr>
        <p:txBody>
          <a:bodyPr/>
          <a:lstStyle/>
          <a:p>
            <a:endParaRPr lang="en-US"/>
          </a:p>
        </p:txBody>
      </p:sp>
      <p:sp>
        <p:nvSpPr>
          <p:cNvPr id="46" name="Shape 41"/>
          <p:cNvSpPr/>
          <p:nvPr/>
        </p:nvSpPr>
        <p:spPr>
          <a:xfrm>
            <a:off x="9464040" y="7223760"/>
            <a:ext cx="128016" cy="128016"/>
          </a:xfrm>
          <a:prstGeom prst="ellipse">
            <a:avLst/>
          </a:prstGeom>
          <a:solidFill>
            <a:srgbClr val="F5B83D"/>
          </a:solidFill>
          <a:ln w="12700">
            <a:solidFill>
              <a:srgbClr val="F5B83D"/>
            </a:solidFill>
            <a:prstDash val="solid"/>
          </a:ln>
        </p:spPr>
        <p:txBody>
          <a:bodyPr/>
          <a:lstStyle/>
          <a:p>
            <a:endParaRPr lang="en-US"/>
          </a:p>
        </p:txBody>
      </p:sp>
      <p:sp>
        <p:nvSpPr>
          <p:cNvPr id="47" name="Shape 42"/>
          <p:cNvSpPr/>
          <p:nvPr/>
        </p:nvSpPr>
        <p:spPr>
          <a:xfrm>
            <a:off x="9665208" y="7223760"/>
            <a:ext cx="128016" cy="128016"/>
          </a:xfrm>
          <a:prstGeom prst="ellipse">
            <a:avLst/>
          </a:prstGeom>
          <a:solidFill>
            <a:srgbClr val="3FB950"/>
          </a:solidFill>
          <a:ln w="12700">
            <a:solidFill>
              <a:srgbClr val="3FB950"/>
            </a:solidFill>
            <a:prstDash val="solid"/>
          </a:ln>
        </p:spPr>
        <p:txBody>
          <a:bodyPr/>
          <a:lstStyle/>
          <a:p>
            <a:endParaRPr lang="en-US"/>
          </a:p>
        </p:txBody>
      </p:sp>
      <p:sp>
        <p:nvSpPr>
          <p:cNvPr id="48" name="Text 43"/>
          <p:cNvSpPr txBox="1"/>
          <p:nvPr/>
        </p:nvSpPr>
        <p:spPr>
          <a:xfrm>
            <a:off x="9966960" y="7168896"/>
            <a:ext cx="283464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Daily Guardian · Feb 27, 2026</a:t>
            </a:r>
            <a:endParaRPr lang="en-US" sz="1400" dirty="0"/>
          </a:p>
        </p:txBody>
      </p:sp>
      <p:pic>
        <p:nvPicPr>
          <p:cNvPr id="49" name="Image 2" descr="Screenshot: Daily Guardian, CHED: AI must not compromise academic integrity in education"/>
          <p:cNvPicPr>
            <a:picLocks noChangeAspect="1"/>
          </p:cNvPicPr>
          <p:nvPr/>
        </p:nvPicPr>
        <p:blipFill>
          <a:blip r:embed="rId6"/>
          <a:stretch>
            <a:fillRect/>
          </a:stretch>
        </p:blipFill>
        <p:spPr>
          <a:xfrm>
            <a:off x="9208008" y="7600558"/>
            <a:ext cx="3621024" cy="1340379"/>
          </a:xfrm>
          <a:prstGeom prst="rect">
            <a:avLst/>
          </a:prstGeom>
        </p:spPr>
      </p:pic>
      <p:sp>
        <p:nvSpPr>
          <p:cNvPr id="50" name="Text 44"/>
          <p:cNvSpPr txBox="1"/>
          <p:nvPr/>
        </p:nvSpPr>
        <p:spPr>
          <a:xfrm>
            <a:off x="13167360" y="7178040"/>
            <a:ext cx="4251960" cy="192024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Higher education
</a:t>
            </a:r>
            <a:r>
              <a:rPr lang="en-US" sz="2100" dirty="0">
                <a:solidFill>
                  <a:srgbClr val="4B5563"/>
                </a:solidFill>
                <a:latin typeface="Arial" pitchFamily="34" charset="0"/>
                <a:ea typeface="Arial" pitchFamily="34" charset="-122"/>
                <a:cs typeface="Arial" pitchFamily="34" charset="-120"/>
              </a:rPr>
              <a:t>CHED asks schools to write their own AI policies; a national framework is proposed</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400"/>
                                        <p:tgtEl>
                                          <p:spTgt spid="2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par>
                                <p:cTn id="25" presetID="10"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00"/>
                                        <p:tgtEl>
                                          <p:spTgt spid="28"/>
                                        </p:tgtEl>
                                      </p:cBhvr>
                                    </p:animEffect>
                                  </p:childTnLst>
                                </p:cTn>
                              </p:par>
                              <p:par>
                                <p:cTn id="36" presetID="10" presetClass="entr" presetSubtype="0" fill="hold" nodeType="with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00"/>
                                        <p:tgtEl>
                                          <p:spTgt spid="29"/>
                                        </p:tgtEl>
                                      </p:cBhvr>
                                    </p:animEffect>
                                  </p:childTnLst>
                                </p:cTn>
                              </p:par>
                              <p:par>
                                <p:cTn id="39" presetID="10"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00"/>
                                        <p:tgtEl>
                                          <p:spTgt spid="30"/>
                                        </p:tgtEl>
                                      </p:cBhvr>
                                    </p:animEffect>
                                  </p:childTnLst>
                                </p:cTn>
                              </p:par>
                              <p:par>
                                <p:cTn id="42" presetID="10" presetClass="entr" presetSubtype="0"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0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0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00"/>
                                        <p:tgtEl>
                                          <p:spTgt spid="33"/>
                                        </p:tgtEl>
                                      </p:cBhvr>
                                    </p:animEffect>
                                  </p:childTnLst>
                                </p:cTn>
                              </p:par>
                              <p:par>
                                <p:cTn id="51" presetID="10" presetClass="entr" presetSubtype="0" fill="hold"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400"/>
                                        <p:tgtEl>
                                          <p:spTgt spid="3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5"/>
                                        </p:tgtEl>
                                        <p:attrNameLst>
                                          <p:attrName>style.visibility</p:attrName>
                                        </p:attrNameLst>
                                      </p:cBhvr>
                                      <p:to>
                                        <p:strVal val="visible"/>
                                      </p:to>
                                    </p:set>
                                    <p:animEffect transition="in" filter="fade">
                                      <p:cBhvr>
                                        <p:cTn id="58" dur="400"/>
                                        <p:tgtEl>
                                          <p:spTgt spid="35"/>
                                        </p:tgtEl>
                                      </p:cBhvr>
                                    </p:animEffect>
                                  </p:childTnLst>
                                </p:cTn>
                              </p:par>
                              <p:par>
                                <p:cTn id="59" presetID="10" presetClass="entr" presetSubtype="0" fill="hold" nodeType="withEffect">
                                  <p:stCondLst>
                                    <p:cond delay="0"/>
                                  </p:stCondLst>
                                  <p:childTnLst>
                                    <p:set>
                                      <p:cBhvr>
                                        <p:cTn id="60" dur="1" fill="hold">
                                          <p:stCondLst>
                                            <p:cond delay="0"/>
                                          </p:stCondLst>
                                        </p:cTn>
                                        <p:tgtEl>
                                          <p:spTgt spid="36"/>
                                        </p:tgtEl>
                                        <p:attrNameLst>
                                          <p:attrName>style.visibility</p:attrName>
                                        </p:attrNameLst>
                                      </p:cBhvr>
                                      <p:to>
                                        <p:strVal val="visible"/>
                                      </p:to>
                                    </p:set>
                                    <p:animEffect transition="in" filter="fade">
                                      <p:cBhvr>
                                        <p:cTn id="61" dur="400"/>
                                        <p:tgtEl>
                                          <p:spTgt spid="36"/>
                                        </p:tgtEl>
                                      </p:cBhvr>
                                    </p:animEffect>
                                  </p:childTnLst>
                                </p:cTn>
                              </p:par>
                              <p:par>
                                <p:cTn id="62" presetID="10" presetClass="entr" presetSubtype="0" fill="hold" nodeType="with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0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0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00"/>
                                        <p:tgtEl>
                                          <p:spTgt spid="39"/>
                                        </p:tgtEl>
                                      </p:cBhvr>
                                    </p:animEffect>
                                  </p:childTnLst>
                                </p:cTn>
                              </p:par>
                              <p:par>
                                <p:cTn id="71" presetID="10" presetClass="entr" presetSubtype="0" fill="hold" nodeType="withEffect">
                                  <p:stCondLst>
                                    <p:cond delay="0"/>
                                  </p:stCondLst>
                                  <p:childTnLst>
                                    <p:set>
                                      <p:cBhvr>
                                        <p:cTn id="72" dur="1" fill="hold">
                                          <p:stCondLst>
                                            <p:cond delay="0"/>
                                          </p:stCondLst>
                                        </p:cTn>
                                        <p:tgtEl>
                                          <p:spTgt spid="40"/>
                                        </p:tgtEl>
                                        <p:attrNameLst>
                                          <p:attrName>style.visibility</p:attrName>
                                        </p:attrNameLst>
                                      </p:cBhvr>
                                      <p:to>
                                        <p:strVal val="visible"/>
                                      </p:to>
                                    </p:set>
                                    <p:animEffect transition="in" filter="fade">
                                      <p:cBhvr>
                                        <p:cTn id="73" dur="400"/>
                                        <p:tgtEl>
                                          <p:spTgt spid="40"/>
                                        </p:tgtEl>
                                      </p:cBhvr>
                                    </p:animEffect>
                                  </p:childTnLst>
                                </p:cTn>
                              </p:par>
                              <p:par>
                                <p:cTn id="74" presetID="10" presetClass="entr" presetSubtype="0" fill="hold" nodeType="with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fade">
                                      <p:cBhvr>
                                        <p:cTn id="76" dur="400"/>
                                        <p:tgtEl>
                                          <p:spTgt spid="41"/>
                                        </p:tgtEl>
                                      </p:cBhvr>
                                    </p:animEffect>
                                  </p:childTnLst>
                                </p:cTn>
                              </p:par>
                              <p:par>
                                <p:cTn id="77" presetID="10" presetClass="entr" presetSubtype="0"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fade">
                                      <p:cBhvr>
                                        <p:cTn id="79" dur="400"/>
                                        <p:tgtEl>
                                          <p:spTgt spid="4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43"/>
                                        </p:tgtEl>
                                        <p:attrNameLst>
                                          <p:attrName>style.visibility</p:attrName>
                                        </p:attrNameLst>
                                      </p:cBhvr>
                                      <p:to>
                                        <p:strVal val="visible"/>
                                      </p:to>
                                    </p:set>
                                    <p:animEffect transition="in" filter="fade">
                                      <p:cBhvr>
                                        <p:cTn id="84" dur="400"/>
                                        <p:tgtEl>
                                          <p:spTgt spid="43"/>
                                        </p:tgtEl>
                                      </p:cBhvr>
                                    </p:animEffect>
                                  </p:childTnLst>
                                </p:cTn>
                              </p:par>
                              <p:par>
                                <p:cTn id="85" presetID="10" presetClass="entr" presetSubtype="0" fill="hold" nodeType="withEffect">
                                  <p:stCondLst>
                                    <p:cond delay="0"/>
                                  </p:stCondLst>
                                  <p:childTnLst>
                                    <p:set>
                                      <p:cBhvr>
                                        <p:cTn id="86" dur="1" fill="hold">
                                          <p:stCondLst>
                                            <p:cond delay="0"/>
                                          </p:stCondLst>
                                        </p:cTn>
                                        <p:tgtEl>
                                          <p:spTgt spid="44"/>
                                        </p:tgtEl>
                                        <p:attrNameLst>
                                          <p:attrName>style.visibility</p:attrName>
                                        </p:attrNameLst>
                                      </p:cBhvr>
                                      <p:to>
                                        <p:strVal val="visible"/>
                                      </p:to>
                                    </p:set>
                                    <p:animEffect transition="in" filter="fade">
                                      <p:cBhvr>
                                        <p:cTn id="87" dur="400"/>
                                        <p:tgtEl>
                                          <p:spTgt spid="44"/>
                                        </p:tgtEl>
                                      </p:cBhvr>
                                    </p:animEffect>
                                  </p:childTnLst>
                                </p:cTn>
                              </p:par>
                              <p:par>
                                <p:cTn id="88" presetID="10" presetClass="entr" presetSubtype="0" fill="hold" nodeType="withEffect">
                                  <p:stCondLst>
                                    <p:cond delay="0"/>
                                  </p:stCondLst>
                                  <p:childTnLst>
                                    <p:set>
                                      <p:cBhvr>
                                        <p:cTn id="89" dur="1" fill="hold">
                                          <p:stCondLst>
                                            <p:cond delay="0"/>
                                          </p:stCondLst>
                                        </p:cTn>
                                        <p:tgtEl>
                                          <p:spTgt spid="45"/>
                                        </p:tgtEl>
                                        <p:attrNameLst>
                                          <p:attrName>style.visibility</p:attrName>
                                        </p:attrNameLst>
                                      </p:cBhvr>
                                      <p:to>
                                        <p:strVal val="visible"/>
                                      </p:to>
                                    </p:set>
                                    <p:animEffect transition="in" filter="fade">
                                      <p:cBhvr>
                                        <p:cTn id="90" dur="400"/>
                                        <p:tgtEl>
                                          <p:spTgt spid="45"/>
                                        </p:tgtEl>
                                      </p:cBhvr>
                                    </p:animEffect>
                                  </p:childTnLst>
                                </p:cTn>
                              </p:par>
                              <p:par>
                                <p:cTn id="91" presetID="10" presetClass="entr" presetSubtype="0" fill="hold" nodeType="with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fade">
                                      <p:cBhvr>
                                        <p:cTn id="93" dur="400"/>
                                        <p:tgtEl>
                                          <p:spTgt spid="46"/>
                                        </p:tgtEl>
                                      </p:cBhvr>
                                    </p:animEffect>
                                  </p:childTnLst>
                                </p:cTn>
                              </p:par>
                              <p:par>
                                <p:cTn id="94" presetID="10" presetClass="entr" presetSubtype="0" fill="hold" nodeType="with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00"/>
                                        <p:tgtEl>
                                          <p:spTgt spid="47"/>
                                        </p:tgtEl>
                                      </p:cBhvr>
                                    </p:animEffect>
                                  </p:childTnLst>
                                </p:cTn>
                              </p:par>
                              <p:par>
                                <p:cTn id="97" presetID="10" presetClass="entr" presetSubtype="0" fill="hold" nodeType="withEffect">
                                  <p:stCondLst>
                                    <p:cond delay="0"/>
                                  </p:stCondLst>
                                  <p:childTnLst>
                                    <p:set>
                                      <p:cBhvr>
                                        <p:cTn id="98" dur="1" fill="hold">
                                          <p:stCondLst>
                                            <p:cond delay="0"/>
                                          </p:stCondLst>
                                        </p:cTn>
                                        <p:tgtEl>
                                          <p:spTgt spid="48"/>
                                        </p:tgtEl>
                                        <p:attrNameLst>
                                          <p:attrName>style.visibility</p:attrName>
                                        </p:attrNameLst>
                                      </p:cBhvr>
                                      <p:to>
                                        <p:strVal val="visible"/>
                                      </p:to>
                                    </p:set>
                                    <p:animEffect transition="in" filter="fade">
                                      <p:cBhvr>
                                        <p:cTn id="99" dur="400"/>
                                        <p:tgtEl>
                                          <p:spTgt spid="48"/>
                                        </p:tgtEl>
                                      </p:cBhvr>
                                    </p:animEffect>
                                  </p:childTnLst>
                                </p:cTn>
                              </p:par>
                              <p:par>
                                <p:cTn id="100" presetID="10" presetClass="entr" presetSubtype="0" fill="hold" nodeType="withEffect">
                                  <p:stCondLst>
                                    <p:cond delay="0"/>
                                  </p:stCondLst>
                                  <p:childTnLst>
                                    <p:set>
                                      <p:cBhvr>
                                        <p:cTn id="101" dur="1" fill="hold">
                                          <p:stCondLst>
                                            <p:cond delay="0"/>
                                          </p:stCondLst>
                                        </p:cTn>
                                        <p:tgtEl>
                                          <p:spTgt spid="49"/>
                                        </p:tgtEl>
                                        <p:attrNameLst>
                                          <p:attrName>style.visibility</p:attrName>
                                        </p:attrNameLst>
                                      </p:cBhvr>
                                      <p:to>
                                        <p:strVal val="visible"/>
                                      </p:to>
                                    </p:set>
                                    <p:animEffect transition="in" filter="fade">
                                      <p:cBhvr>
                                        <p:cTn id="102" dur="400"/>
                                        <p:tgtEl>
                                          <p:spTgt spid="49"/>
                                        </p:tgtEl>
                                      </p:cBhvr>
                                    </p:animEffect>
                                  </p:childTnLst>
                                </p:cTn>
                              </p:par>
                              <p:par>
                                <p:cTn id="103" presetID="10" presetClass="entr" presetSubtype="0" fill="hold" nodeType="withEffect">
                                  <p:stCondLst>
                                    <p:cond delay="0"/>
                                  </p:stCondLst>
                                  <p:childTnLst>
                                    <p:set>
                                      <p:cBhvr>
                                        <p:cTn id="104" dur="1" fill="hold">
                                          <p:stCondLst>
                                            <p:cond delay="0"/>
                                          </p:stCondLst>
                                        </p:cTn>
                                        <p:tgtEl>
                                          <p:spTgt spid="50"/>
                                        </p:tgtEl>
                                        <p:attrNameLst>
                                          <p:attrName>style.visibility</p:attrName>
                                        </p:attrNameLst>
                                      </p:cBhvr>
                                      <p:to>
                                        <p:strVal val="visible"/>
                                      </p:to>
                                    </p:set>
                                    <p:animEffect transition="in" filter="fade">
                                      <p:cBhvr>
                                        <p:cTn id="105"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WHO BENEFITS, WHO IS LEFT BEHIND</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The same tool can widen the gap</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Liang et al. (2023), Patterns: seven detectors, 91 essays by non-native English writers. SunStar Cebu (2025), reporting the 2024 national household ICT survey. National Privacy Commission Advisory 2024-04. Effects on Philippine schools were not measured in this study.</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5</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Guide questions 2 and 3 · Who benefits? What are the risks?</a:t>
            </a:r>
            <a:endParaRPr lang="en-US" sz="1800" dirty="0"/>
          </a:p>
        </p:txBody>
      </p:sp>
      <p:sp>
        <p:nvSpPr>
          <p:cNvPr id="20" name="Shape 18"/>
          <p:cNvSpPr/>
          <p:nvPr/>
        </p:nvSpPr>
        <p:spPr>
          <a:xfrm>
            <a:off x="877824" y="2834640"/>
            <a:ext cx="8412480" cy="6355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1" name="Text 19"/>
          <p:cNvSpPr txBox="1"/>
          <p:nvPr/>
        </p:nvSpPr>
        <p:spPr>
          <a:xfrm>
            <a:off x="1234440" y="3017520"/>
            <a:ext cx="7680960" cy="86868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2023 AI detectors wrongly flagged essays by non-native English writers</a:t>
            </a:r>
            <a:endParaRPr lang="en-US" sz="2400" dirty="0"/>
          </a:p>
        </p:txBody>
      </p:sp>
      <p:graphicFrame>
        <p:nvGraphicFramePr>
          <p:cNvPr id="22" name="Chart 0"/>
          <p:cNvGraphicFramePr/>
          <p:nvPr/>
        </p:nvGraphicFramePr>
        <p:xfrm>
          <a:off x="1097280" y="3931920"/>
          <a:ext cx="7955280" cy="5029200"/>
        </p:xfrm>
        <a:graphic>
          <a:graphicData uri="http://schemas.openxmlformats.org/drawingml/2006/chart">
            <c:chart xmlns:c="http://schemas.openxmlformats.org/drawingml/2006/chart" xmlns:r="http://schemas.openxmlformats.org/officeDocument/2006/relationships" r:id="rId3"/>
          </a:graphicData>
        </a:graphic>
      </p:graphicFrame>
      <p:sp>
        <p:nvSpPr>
          <p:cNvPr id="23" name="Shape 20"/>
          <p:cNvSpPr/>
          <p:nvPr/>
        </p:nvSpPr>
        <p:spPr>
          <a:xfrm>
            <a:off x="9601200" y="2834640"/>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Shape 21"/>
          <p:cNvSpPr/>
          <p:nvPr/>
        </p:nvSpPr>
        <p:spPr>
          <a:xfrm>
            <a:off x="9601200" y="2834640"/>
            <a:ext cx="109728" cy="1463040"/>
          </a:xfrm>
          <a:prstGeom prst="rect">
            <a:avLst/>
          </a:prstGeom>
          <a:solidFill>
            <a:srgbClr val="0038A8"/>
          </a:solidFill>
          <a:ln w="12700">
            <a:solidFill>
              <a:srgbClr val="0038A8"/>
            </a:solidFill>
            <a:prstDash val="solid"/>
          </a:ln>
        </p:spPr>
        <p:txBody>
          <a:bodyPr/>
          <a:lstStyle/>
          <a:p>
            <a:endParaRPr lang="en-US"/>
          </a:p>
        </p:txBody>
      </p:sp>
      <p:sp>
        <p:nvSpPr>
          <p:cNvPr id="25" name="Text 22"/>
          <p:cNvSpPr txBox="1"/>
          <p:nvPr/>
        </p:nvSpPr>
        <p:spPr>
          <a:xfrm>
            <a:off x="9966960" y="2944368"/>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Schools and students without reliable internet. </a:t>
            </a:r>
            <a:r>
              <a:rPr lang="en-US" sz="2200" dirty="0">
                <a:solidFill>
                  <a:srgbClr val="4B5563"/>
                </a:solidFill>
                <a:latin typeface="Arial" pitchFamily="34" charset="0"/>
                <a:ea typeface="Arial" pitchFamily="34" charset="-122"/>
                <a:cs typeface="Arial" pitchFamily="34" charset="-120"/>
              </a:rPr>
              <a:t>In 2024, 48.8% of households had internet at home: 68.7% in Metro Manila but 27.7% in Bangsamoro.</a:t>
            </a:r>
            <a:endParaRPr lang="en-US" sz="2200" dirty="0"/>
          </a:p>
        </p:txBody>
      </p:sp>
      <p:sp>
        <p:nvSpPr>
          <p:cNvPr id="26" name="Shape 23"/>
          <p:cNvSpPr/>
          <p:nvPr/>
        </p:nvSpPr>
        <p:spPr>
          <a:xfrm>
            <a:off x="9601200" y="4453128"/>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7" name="Shape 24"/>
          <p:cNvSpPr/>
          <p:nvPr/>
        </p:nvSpPr>
        <p:spPr>
          <a:xfrm>
            <a:off x="9601200" y="4453128"/>
            <a:ext cx="109728" cy="1463040"/>
          </a:xfrm>
          <a:prstGeom prst="rect">
            <a:avLst/>
          </a:prstGeom>
          <a:solidFill>
            <a:srgbClr val="CE1126"/>
          </a:solidFill>
          <a:ln w="12700">
            <a:solidFill>
              <a:srgbClr val="CE1126"/>
            </a:solidFill>
            <a:prstDash val="solid"/>
          </a:ln>
        </p:spPr>
        <p:txBody>
          <a:bodyPr/>
          <a:lstStyle/>
          <a:p>
            <a:endParaRPr lang="en-US"/>
          </a:p>
        </p:txBody>
      </p:sp>
      <p:sp>
        <p:nvSpPr>
          <p:cNvPr id="28" name="Text 25"/>
          <p:cNvSpPr txBox="1"/>
          <p:nvPr/>
        </p:nvSpPr>
        <p:spPr>
          <a:xfrm>
            <a:off x="9966960" y="4562856"/>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Students writing in a second language. </a:t>
            </a:r>
            <a:r>
              <a:rPr lang="en-US" sz="2200" dirty="0">
                <a:solidFill>
                  <a:srgbClr val="4B5563"/>
                </a:solidFill>
                <a:latin typeface="Arial" pitchFamily="34" charset="0"/>
                <a:ea typeface="Arial" pitchFamily="34" charset="-122"/>
                <a:cs typeface="Arial" pitchFamily="34" charset="-120"/>
              </a:rPr>
              <a:t>They are more exposed when weak evidence, like a detector score, drives a decision.</a:t>
            </a:r>
            <a:endParaRPr lang="en-US" sz="2200" dirty="0"/>
          </a:p>
        </p:txBody>
      </p:sp>
      <p:sp>
        <p:nvSpPr>
          <p:cNvPr id="29" name="Shape 26"/>
          <p:cNvSpPr/>
          <p:nvPr/>
        </p:nvSpPr>
        <p:spPr>
          <a:xfrm>
            <a:off x="9601200" y="6071616"/>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7"/>
          <p:cNvSpPr/>
          <p:nvPr/>
        </p:nvSpPr>
        <p:spPr>
          <a:xfrm>
            <a:off x="9601200" y="6071616"/>
            <a:ext cx="109728" cy="1463040"/>
          </a:xfrm>
          <a:prstGeom prst="rect">
            <a:avLst/>
          </a:prstGeom>
          <a:solidFill>
            <a:srgbClr val="8A6100"/>
          </a:solidFill>
          <a:ln w="12700">
            <a:solidFill>
              <a:srgbClr val="8A6100"/>
            </a:solidFill>
            <a:prstDash val="solid"/>
          </a:ln>
        </p:spPr>
        <p:txBody>
          <a:bodyPr/>
          <a:lstStyle/>
          <a:p>
            <a:endParaRPr lang="en-US"/>
          </a:p>
        </p:txBody>
      </p:sp>
      <p:sp>
        <p:nvSpPr>
          <p:cNvPr id="31" name="Text 28"/>
          <p:cNvSpPr txBox="1"/>
          <p:nvPr/>
        </p:nvSpPr>
        <p:spPr>
          <a:xfrm>
            <a:off x="9966960" y="6181344"/>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Students with the least room for error. </a:t>
            </a:r>
            <a:r>
              <a:rPr lang="en-US" sz="2200" dirty="0">
                <a:solidFill>
                  <a:srgbClr val="4B5563"/>
                </a:solidFill>
                <a:latin typeface="Arial" pitchFamily="34" charset="0"/>
                <a:ea typeface="Arial" pitchFamily="34" charset="-122"/>
                <a:cs typeface="Arial" pitchFamily="34" charset="-120"/>
              </a:rPr>
              <a:t>Scholars with short deadlines, or students who fall ill during exams, have little time to fix a wrong decision.</a:t>
            </a:r>
            <a:endParaRPr lang="en-US" sz="2200" dirty="0"/>
          </a:p>
        </p:txBody>
      </p:sp>
      <p:sp>
        <p:nvSpPr>
          <p:cNvPr id="32" name="Shape 29"/>
          <p:cNvSpPr/>
          <p:nvPr/>
        </p:nvSpPr>
        <p:spPr>
          <a:xfrm>
            <a:off x="9601200" y="7690104"/>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3" name="Shape 30"/>
          <p:cNvSpPr/>
          <p:nvPr/>
        </p:nvSpPr>
        <p:spPr>
          <a:xfrm>
            <a:off x="9601200" y="7690104"/>
            <a:ext cx="109728" cy="1463040"/>
          </a:xfrm>
          <a:prstGeom prst="rect">
            <a:avLst/>
          </a:prstGeom>
          <a:solidFill>
            <a:srgbClr val="0F7B5F"/>
          </a:solidFill>
          <a:ln w="12700">
            <a:solidFill>
              <a:srgbClr val="0F7B5F"/>
            </a:solidFill>
            <a:prstDash val="solid"/>
          </a:ln>
        </p:spPr>
        <p:txBody>
          <a:bodyPr/>
          <a:lstStyle/>
          <a:p>
            <a:endParaRPr lang="en-US"/>
          </a:p>
        </p:txBody>
      </p:sp>
      <p:sp>
        <p:nvSpPr>
          <p:cNvPr id="34" name="Text 31"/>
          <p:cNvSpPr txBox="1"/>
          <p:nvPr/>
        </p:nvSpPr>
        <p:spPr>
          <a:xfrm>
            <a:off x="9966960" y="7799832"/>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Anyone affected by an automated decision. </a:t>
            </a:r>
            <a:r>
              <a:rPr lang="en-US" sz="2200" dirty="0">
                <a:solidFill>
                  <a:srgbClr val="4B5563"/>
                </a:solidFill>
                <a:latin typeface="Arial" pitchFamily="34" charset="0"/>
                <a:ea typeface="Arial" pitchFamily="34" charset="-122"/>
                <a:cs typeface="Arial" pitchFamily="34" charset="-120"/>
              </a:rPr>
              <a:t>Privacy guidance calls for a person to review it and a way to contest it.</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00"/>
                                        <p:tgtEl>
                                          <p:spTgt spid="2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par>
                                <p:cTn id="44" presetID="10" presetClass="entr" presetSubtype="0" fill="hold" nodeType="withEffect">
                                  <p:stCondLst>
                                    <p:cond delay="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400"/>
                                        <p:tgtEl>
                                          <p:spTgt spid="31"/>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FROM THE FELLOWSHIP TO THIS STUDY</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Frameworks set the aim. Evaluation checks the answer.</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Miao &amp; Holmes (2023), UNESCO Guidance for generative AI in education and research; Wong (2025), SEAMEO, on AI literacy beyond basic tool use. Summaries simplified for a general audience.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6</a:t>
            </a:r>
            <a:endParaRPr lang="en-US" sz="1600" dirty="0"/>
          </a:p>
        </p:txBody>
      </p:sp>
      <p:sp>
        <p:nvSpPr>
          <p:cNvPr id="19" name="Shape 17"/>
          <p:cNvSpPr/>
          <p:nvPr/>
        </p:nvSpPr>
        <p:spPr>
          <a:xfrm>
            <a:off x="877824" y="2743200"/>
            <a:ext cx="5330952" cy="5074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Text 18"/>
          <p:cNvSpPr txBox="1"/>
          <p:nvPr/>
        </p:nvSpPr>
        <p:spPr>
          <a:xfrm>
            <a:off x="1289304" y="3063240"/>
            <a:ext cx="4507992" cy="45720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UNESCO</a:t>
            </a:r>
            <a:endParaRPr lang="en-US" sz="2000" dirty="0"/>
          </a:p>
        </p:txBody>
      </p:sp>
      <p:sp>
        <p:nvSpPr>
          <p:cNvPr id="21" name="Text 19"/>
          <p:cNvSpPr txBox="1"/>
          <p:nvPr/>
        </p:nvSpPr>
        <p:spPr>
          <a:xfrm>
            <a:off x="1289304" y="3657600"/>
            <a:ext cx="4507992" cy="1188720"/>
          </a:xfrm>
          <a:prstGeom prst="rect">
            <a:avLst/>
          </a:prstGeom>
          <a:noFill/>
          <a:ln/>
        </p:spPr>
        <p:txBody>
          <a:bodyPr wrap="square" lIns="0" tIns="0" rIns="0" bIns="0" rtlCol="0" anchor="t"/>
          <a:lstStyle/>
          <a:p>
            <a:pPr marL="0" indent="0">
              <a:buNone/>
            </a:pPr>
            <a:r>
              <a:rPr lang="en-US" sz="3400" dirty="0">
                <a:solidFill>
                  <a:srgbClr val="0B1F3A"/>
                </a:solidFill>
                <a:latin typeface="Georgia" pitchFamily="34" charset="0"/>
                <a:ea typeface="Georgia" pitchFamily="34" charset="-122"/>
                <a:cs typeface="Georgia" pitchFamily="34" charset="-120"/>
              </a:rPr>
              <a:t>Keep AI human-centred</a:t>
            </a:r>
            <a:endParaRPr lang="en-US" sz="3400" dirty="0"/>
          </a:p>
        </p:txBody>
      </p:sp>
      <p:sp>
        <p:nvSpPr>
          <p:cNvPr id="22" name="Text 20"/>
          <p:cNvSpPr txBox="1"/>
          <p:nvPr/>
        </p:nvSpPr>
        <p:spPr>
          <a:xfrm>
            <a:off x="1289304" y="5074920"/>
            <a:ext cx="4507992" cy="23774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Protect human agency: people, not tools, make the decisions that matter.</a:t>
            </a:r>
            <a:endParaRPr lang="en-US" sz="2400" dirty="0"/>
          </a:p>
        </p:txBody>
      </p:sp>
      <p:sp>
        <p:nvSpPr>
          <p:cNvPr id="23" name="Shape 21"/>
          <p:cNvSpPr/>
          <p:nvPr/>
        </p:nvSpPr>
        <p:spPr>
          <a:xfrm>
            <a:off x="6483096" y="2743200"/>
            <a:ext cx="5330952" cy="5074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Text 22"/>
          <p:cNvSpPr txBox="1"/>
          <p:nvPr/>
        </p:nvSpPr>
        <p:spPr>
          <a:xfrm>
            <a:off x="6894576" y="3063240"/>
            <a:ext cx="4507992" cy="457200"/>
          </a:xfrm>
          <a:prstGeom prst="rect">
            <a:avLst/>
          </a:prstGeom>
          <a:noFill/>
          <a:ln/>
        </p:spPr>
        <p:txBody>
          <a:bodyPr wrap="square" lIns="0" tIns="0" rIns="0" bIns="0" rtlCol="0" anchor="t"/>
          <a:lstStyle/>
          <a:p>
            <a:pPr marL="0" indent="0">
              <a:buNone/>
            </a:pPr>
            <a:r>
              <a:rPr lang="en-US" sz="2000" b="1" kern="0" spc="200" dirty="0">
                <a:solidFill>
                  <a:srgbClr val="0F7B5F"/>
                </a:solidFill>
                <a:latin typeface="Arial" pitchFamily="34" charset="0"/>
                <a:ea typeface="Arial" pitchFamily="34" charset="-122"/>
                <a:cs typeface="Arial" pitchFamily="34" charset="-120"/>
              </a:rPr>
              <a:t>SEAMEO</a:t>
            </a:r>
            <a:endParaRPr lang="en-US" sz="2000" dirty="0"/>
          </a:p>
        </p:txBody>
      </p:sp>
      <p:sp>
        <p:nvSpPr>
          <p:cNvPr id="25" name="Text 23"/>
          <p:cNvSpPr txBox="1"/>
          <p:nvPr/>
        </p:nvSpPr>
        <p:spPr>
          <a:xfrm>
            <a:off x="6894576" y="3657600"/>
            <a:ext cx="4507992" cy="1188720"/>
          </a:xfrm>
          <a:prstGeom prst="rect">
            <a:avLst/>
          </a:prstGeom>
          <a:noFill/>
          <a:ln/>
        </p:spPr>
        <p:txBody>
          <a:bodyPr wrap="square" lIns="0" tIns="0" rIns="0" bIns="0" rtlCol="0" anchor="t"/>
          <a:lstStyle/>
          <a:p>
            <a:pPr marL="0" indent="0">
              <a:buNone/>
            </a:pPr>
            <a:r>
              <a:rPr lang="en-US" sz="3400" dirty="0">
                <a:solidFill>
                  <a:srgbClr val="0B1F3A"/>
                </a:solidFill>
                <a:latin typeface="Georgia" pitchFamily="34" charset="0"/>
                <a:ea typeface="Georgia" pitchFamily="34" charset="-122"/>
                <a:cs typeface="Georgia" pitchFamily="34" charset="-120"/>
              </a:rPr>
              <a:t>Build real AI literacy</a:t>
            </a:r>
            <a:endParaRPr lang="en-US" sz="3400" dirty="0"/>
          </a:p>
        </p:txBody>
      </p:sp>
      <p:sp>
        <p:nvSpPr>
          <p:cNvPr id="26" name="Text 24"/>
          <p:cNvSpPr txBox="1"/>
          <p:nvPr/>
        </p:nvSpPr>
        <p:spPr>
          <a:xfrm>
            <a:off x="6894576" y="5074920"/>
            <a:ext cx="4507992" cy="23774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Move students and educators beyond using AI tools to judging them critically.</a:t>
            </a:r>
            <a:endParaRPr lang="en-US" sz="2400" dirty="0"/>
          </a:p>
        </p:txBody>
      </p:sp>
      <p:sp>
        <p:nvSpPr>
          <p:cNvPr id="27" name="Shape 25"/>
          <p:cNvSpPr/>
          <p:nvPr/>
        </p:nvSpPr>
        <p:spPr>
          <a:xfrm>
            <a:off x="12088368" y="2743200"/>
            <a:ext cx="5330952" cy="5074920"/>
          </a:xfrm>
          <a:prstGeom prst="rect">
            <a:avLst/>
          </a:prstGeom>
          <a:solidFill>
            <a:srgbClr val="FBEBEC"/>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8" name="Text 26"/>
          <p:cNvSpPr txBox="1"/>
          <p:nvPr/>
        </p:nvSpPr>
        <p:spPr>
          <a:xfrm>
            <a:off x="12499848" y="3063240"/>
            <a:ext cx="4507992" cy="457200"/>
          </a:xfrm>
          <a:prstGeom prst="rect">
            <a:avLst/>
          </a:prstGeom>
          <a:noFill/>
          <a:ln/>
        </p:spPr>
        <p:txBody>
          <a:bodyPr wrap="square" lIns="0" tIns="0" rIns="0" bIns="0" rtlCol="0" anchor="t"/>
          <a:lstStyle/>
          <a:p>
            <a:pPr marL="0" indent="0">
              <a:buNone/>
            </a:pPr>
            <a:r>
              <a:rPr lang="en-US" sz="2000" b="1" kern="0" spc="200" dirty="0">
                <a:solidFill>
                  <a:srgbClr val="CE1126"/>
                </a:solidFill>
                <a:latin typeface="Arial" pitchFamily="34" charset="0"/>
                <a:ea typeface="Arial" pitchFamily="34" charset="-122"/>
                <a:cs typeface="Arial" pitchFamily="34" charset="-120"/>
              </a:rPr>
              <a:t>THIS CAPSTONE</a:t>
            </a:r>
            <a:endParaRPr lang="en-US" sz="2000" dirty="0"/>
          </a:p>
        </p:txBody>
      </p:sp>
      <p:sp>
        <p:nvSpPr>
          <p:cNvPr id="29" name="Text 27"/>
          <p:cNvSpPr txBox="1"/>
          <p:nvPr/>
        </p:nvSpPr>
        <p:spPr>
          <a:xfrm>
            <a:off x="12499848" y="3657600"/>
            <a:ext cx="4507992" cy="1188720"/>
          </a:xfrm>
          <a:prstGeom prst="rect">
            <a:avLst/>
          </a:prstGeom>
          <a:noFill/>
          <a:ln/>
        </p:spPr>
        <p:txBody>
          <a:bodyPr wrap="square" lIns="0" tIns="0" rIns="0" bIns="0" rtlCol="0" anchor="t"/>
          <a:lstStyle/>
          <a:p>
            <a:pPr marL="0" indent="0">
              <a:buNone/>
            </a:pPr>
            <a:r>
              <a:rPr lang="en-US" sz="3400" dirty="0">
                <a:solidFill>
                  <a:srgbClr val="0B1F3A"/>
                </a:solidFill>
                <a:latin typeface="Georgia" pitchFamily="34" charset="0"/>
                <a:ea typeface="Georgia" pitchFamily="34" charset="-122"/>
                <a:cs typeface="Georgia" pitchFamily="34" charset="-120"/>
              </a:rPr>
              <a:t>Test the answer itself</a:t>
            </a:r>
            <a:endParaRPr lang="en-US" sz="3400" dirty="0"/>
          </a:p>
        </p:txBody>
      </p:sp>
      <p:sp>
        <p:nvSpPr>
          <p:cNvPr id="30" name="Text 28"/>
          <p:cNvSpPr txBox="1"/>
          <p:nvPr/>
        </p:nvSpPr>
        <p:spPr>
          <a:xfrm>
            <a:off x="12499848" y="5074920"/>
            <a:ext cx="4507992" cy="23774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Is it right under our own rules, and who has to check it before it counts?</a:t>
            </a:r>
            <a:endParaRPr lang="en-US" sz="2400" dirty="0"/>
          </a:p>
        </p:txBody>
      </p:sp>
      <p:sp>
        <p:nvSpPr>
          <p:cNvPr id="31" name="Shape 29"/>
          <p:cNvSpPr/>
          <p:nvPr/>
        </p:nvSpPr>
        <p:spPr>
          <a:xfrm>
            <a:off x="877824" y="8229600"/>
            <a:ext cx="16532352" cy="960120"/>
          </a:xfrm>
          <a:prstGeom prst="rect">
            <a:avLst/>
          </a:prstGeom>
          <a:solidFill>
            <a:srgbClr val="0B1F3A"/>
          </a:solidFill>
          <a:ln w="12700">
            <a:solidFill>
              <a:srgbClr val="0B1F3A"/>
            </a:solidFill>
            <a:prstDash val="solid"/>
          </a:ln>
        </p:spPr>
        <p:txBody>
          <a:bodyPr/>
          <a:lstStyle/>
          <a:p>
            <a:endParaRPr lang="en-US"/>
          </a:p>
        </p:txBody>
      </p:sp>
      <p:sp>
        <p:nvSpPr>
          <p:cNvPr id="32" name="Text 30"/>
          <p:cNvSpPr txBox="1"/>
          <p:nvPr/>
        </p:nvSpPr>
        <p:spPr>
          <a:xfrm>
            <a:off x="1280160" y="8321040"/>
            <a:ext cx="15727680" cy="77724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Guidance tells us what good use looks like. We still need evidence that an answer fits our context.</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400"/>
                                        <p:tgtEl>
                                          <p:spTgt spid="27"/>
                                        </p:tgtEl>
                                      </p:cBhvr>
                                    </p:animEffect>
                                  </p:childTnLst>
                                </p:cTn>
                              </p:par>
                              <p:par>
                                <p:cTn id="36" presetID="10" presetClass="entr" presetSubtype="0" fill="hold"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400"/>
                                        <p:tgtEl>
                                          <p:spTgt spid="28"/>
                                        </p:tgtEl>
                                      </p:cBhvr>
                                    </p:animEffect>
                                  </p:childTnLst>
                                </p:cTn>
                              </p:par>
                              <p:par>
                                <p:cTn id="39" presetID="10"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nodeType="withEffect">
                                  <p:stCondLst>
                                    <p:cond delay="0"/>
                                  </p:stCondLst>
                                  <p:childTnLst>
                                    <p:set>
                                      <p:cBhvr>
                                        <p:cTn id="51" dur="1" fill="hold">
                                          <p:stCondLst>
                                            <p:cond delay="0"/>
                                          </p:stCondLst>
                                        </p:cTn>
                                        <p:tgtEl>
                                          <p:spTgt spid="32"/>
                                        </p:tgtEl>
                                        <p:attrNameLst>
                                          <p:attrName>style.visibility</p:attrName>
                                        </p:attrNameLst>
                                      </p:cBhvr>
                                      <p:to>
                                        <p:strVal val="visible"/>
                                      </p:to>
                                    </p:set>
                                    <p:animEffect transition="in" filter="fade">
                                      <p:cBhvr>
                                        <p:cTn id="5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WHAT RESEARCH TELLS US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Three things we already know</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Perkins et al. (2024); Corbin et al. (2025); Crompton et al. (2026); Jukiewicz &amp; Wyrwa (2026); Korthals et al. (2026, simulation); Fok &amp; Weld (2024); Crescitelli et al. (2026, preprint); Zhou et al. (2025); Zwerdling et al. (2025, simulated airline benchmark); Jabbour et al. (2026, preprint). Summaries simplified for a general audience.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7</a:t>
            </a:r>
            <a:endParaRPr lang="en-US" sz="1600" dirty="0"/>
          </a:p>
        </p:txBody>
      </p:sp>
      <p:sp>
        <p:nvSpPr>
          <p:cNvPr id="19" name="Shape 17"/>
          <p:cNvSpPr/>
          <p:nvPr/>
        </p:nvSpPr>
        <p:spPr>
          <a:xfrm>
            <a:off x="877824" y="2697480"/>
            <a:ext cx="5330952"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877824" y="2697480"/>
            <a:ext cx="5330952" cy="109728"/>
          </a:xfrm>
          <a:prstGeom prst="rect">
            <a:avLst/>
          </a:prstGeom>
          <a:solidFill>
            <a:srgbClr val="0038A8"/>
          </a:solidFill>
          <a:ln w="12700">
            <a:solidFill>
              <a:srgbClr val="0038A8"/>
            </a:solidFill>
            <a:prstDash val="solid"/>
          </a:ln>
        </p:spPr>
        <p:txBody>
          <a:bodyPr/>
          <a:lstStyle/>
          <a:p>
            <a:endParaRPr lang="en-US"/>
          </a:p>
        </p:txBody>
      </p:sp>
      <p:sp>
        <p:nvSpPr>
          <p:cNvPr id="21" name="Shape 19"/>
          <p:cNvSpPr/>
          <p:nvPr/>
        </p:nvSpPr>
        <p:spPr>
          <a:xfrm>
            <a:off x="1197864" y="3063240"/>
            <a:ext cx="685800" cy="685800"/>
          </a:xfrm>
          <a:prstGeom prst="ellipse">
            <a:avLst/>
          </a:prstGeom>
          <a:solidFill>
            <a:srgbClr val="0038A8"/>
          </a:solidFill>
          <a:ln w="12700">
            <a:solidFill>
              <a:srgbClr val="0038A8"/>
            </a:solidFill>
            <a:prstDash val="solid"/>
          </a:ln>
        </p:spPr>
        <p:txBody>
          <a:bodyPr/>
          <a:lstStyle/>
          <a:p>
            <a:endParaRPr lang="en-US"/>
          </a:p>
        </p:txBody>
      </p:sp>
      <p:sp>
        <p:nvSpPr>
          <p:cNvPr id="22" name="Text 20"/>
          <p:cNvSpPr txBox="1"/>
          <p:nvPr/>
        </p:nvSpPr>
        <p:spPr>
          <a:xfrm>
            <a:off x="1197864" y="30632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3" name="Text 21"/>
          <p:cNvSpPr txBox="1"/>
          <p:nvPr/>
        </p:nvSpPr>
        <p:spPr>
          <a:xfrm>
            <a:off x="2066544" y="2971800"/>
            <a:ext cx="3867912" cy="141732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Policies say what is allowed, not whether AI applies them correctly</a:t>
            </a:r>
            <a:endParaRPr lang="en-US" sz="2600" dirty="0"/>
          </a:p>
        </p:txBody>
      </p:sp>
      <p:sp>
        <p:nvSpPr>
          <p:cNvPr id="24" name="Shape 22"/>
          <p:cNvSpPr/>
          <p:nvPr/>
        </p:nvSpPr>
        <p:spPr>
          <a:xfrm>
            <a:off x="1197864" y="4617720"/>
            <a:ext cx="4690872" cy="13716"/>
          </a:xfrm>
          <a:prstGeom prst="rect">
            <a:avLst/>
          </a:prstGeom>
          <a:solidFill>
            <a:srgbClr val="E2E8F0"/>
          </a:solidFill>
          <a:ln w="12700">
            <a:solidFill>
              <a:srgbClr val="E2E8F0"/>
            </a:solidFill>
            <a:prstDash val="solid"/>
          </a:ln>
        </p:spPr>
        <p:txBody>
          <a:bodyPr/>
          <a:lstStyle/>
          <a:p>
            <a:endParaRPr lang="en-US"/>
          </a:p>
        </p:txBody>
      </p:sp>
      <p:sp>
        <p:nvSpPr>
          <p:cNvPr id="25" name="Text 23"/>
          <p:cNvSpPr txBox="1"/>
          <p:nvPr/>
        </p:nvSpPr>
        <p:spPr>
          <a:xfrm>
            <a:off x="1197864" y="4709160"/>
            <a:ext cx="4690872" cy="1371600"/>
          </a:xfrm>
          <a:prstGeom prst="rect">
            <a:avLst/>
          </a:prstGeom>
          <a:noFill/>
          <a:ln/>
        </p:spPr>
        <p:txBody>
          <a:bodyPr wrap="square" lIns="0" tIns="0" rIns="0" bIns="0" rtlCol="0" anchor="t"/>
          <a:lstStyle/>
          <a:p>
            <a:pPr marL="0" indent="0">
              <a:buNone/>
            </a:pPr>
            <a:r>
              <a:rPr lang="en-US" sz="1800" b="1" dirty="0">
                <a:solidFill>
                  <a:srgbClr val="0038A8"/>
                </a:solidFill>
                <a:latin typeface="Arial" pitchFamily="34" charset="0"/>
                <a:ea typeface="Arial" pitchFamily="34" charset="-122"/>
                <a:cs typeface="Arial" pitchFamily="34" charset="-120"/>
              </a:rPr>
              <a:t>Perkins et al., 2024
</a:t>
            </a:r>
            <a:r>
              <a:rPr lang="en-US" sz="2100" dirty="0">
                <a:solidFill>
                  <a:srgbClr val="1E293B"/>
                </a:solidFill>
                <a:latin typeface="Arial" pitchFamily="34" charset="0"/>
                <a:ea typeface="Arial" pitchFamily="34" charset="-122"/>
                <a:cs typeface="Arial" pitchFamily="34" charset="-120"/>
              </a:rPr>
              <a:t>A five-level scale for permitted AI use in a task</a:t>
            </a:r>
            <a:endParaRPr lang="en-US" sz="1800" dirty="0"/>
          </a:p>
        </p:txBody>
      </p:sp>
      <p:sp>
        <p:nvSpPr>
          <p:cNvPr id="26" name="Shape 24"/>
          <p:cNvSpPr/>
          <p:nvPr/>
        </p:nvSpPr>
        <p:spPr>
          <a:xfrm>
            <a:off x="1197864" y="6135624"/>
            <a:ext cx="4690872" cy="13716"/>
          </a:xfrm>
          <a:prstGeom prst="rect">
            <a:avLst/>
          </a:prstGeom>
          <a:solidFill>
            <a:srgbClr val="E2E8F0"/>
          </a:solidFill>
          <a:ln w="12700">
            <a:solidFill>
              <a:srgbClr val="E2E8F0"/>
            </a:solidFill>
            <a:prstDash val="solid"/>
          </a:ln>
        </p:spPr>
        <p:txBody>
          <a:bodyPr/>
          <a:lstStyle/>
          <a:p>
            <a:endParaRPr lang="en-US"/>
          </a:p>
        </p:txBody>
      </p:sp>
      <p:sp>
        <p:nvSpPr>
          <p:cNvPr id="27" name="Text 25"/>
          <p:cNvSpPr txBox="1"/>
          <p:nvPr/>
        </p:nvSpPr>
        <p:spPr>
          <a:xfrm>
            <a:off x="1197864" y="6227064"/>
            <a:ext cx="4690872" cy="1371600"/>
          </a:xfrm>
          <a:prstGeom prst="rect">
            <a:avLst/>
          </a:prstGeom>
          <a:noFill/>
          <a:ln/>
        </p:spPr>
        <p:txBody>
          <a:bodyPr wrap="square" lIns="0" tIns="0" rIns="0" bIns="0" rtlCol="0" anchor="t"/>
          <a:lstStyle/>
          <a:p>
            <a:pPr marL="0" indent="0">
              <a:buNone/>
            </a:pPr>
            <a:r>
              <a:rPr lang="en-US" sz="1800" b="1" dirty="0">
                <a:solidFill>
                  <a:srgbClr val="0038A8"/>
                </a:solidFill>
                <a:latin typeface="Arial" pitchFamily="34" charset="0"/>
                <a:ea typeface="Arial" pitchFamily="34" charset="-122"/>
                <a:cs typeface="Arial" pitchFamily="34" charset="-120"/>
              </a:rPr>
              <a:t>Corbin et al., 2025
</a:t>
            </a:r>
            <a:r>
              <a:rPr lang="en-US" sz="2100" dirty="0">
                <a:solidFill>
                  <a:srgbClr val="1E293B"/>
                </a:solidFill>
                <a:latin typeface="Arial" pitchFamily="34" charset="0"/>
                <a:ea typeface="Arial" pitchFamily="34" charset="-122"/>
                <a:cs typeface="Arial" pitchFamily="34" charset="-120"/>
              </a:rPr>
              <a:t>Permission statements cannot enforce themselves</a:t>
            </a:r>
            <a:endParaRPr lang="en-US" sz="1800" dirty="0"/>
          </a:p>
        </p:txBody>
      </p:sp>
      <p:sp>
        <p:nvSpPr>
          <p:cNvPr id="28" name="Shape 26"/>
          <p:cNvSpPr/>
          <p:nvPr/>
        </p:nvSpPr>
        <p:spPr>
          <a:xfrm>
            <a:off x="1197864" y="7653528"/>
            <a:ext cx="4690872" cy="13716"/>
          </a:xfrm>
          <a:prstGeom prst="rect">
            <a:avLst/>
          </a:prstGeom>
          <a:solidFill>
            <a:srgbClr val="E2E8F0"/>
          </a:solidFill>
          <a:ln w="12700">
            <a:solidFill>
              <a:srgbClr val="E2E8F0"/>
            </a:solidFill>
            <a:prstDash val="solid"/>
          </a:ln>
        </p:spPr>
        <p:txBody>
          <a:bodyPr/>
          <a:lstStyle/>
          <a:p>
            <a:endParaRPr lang="en-US"/>
          </a:p>
        </p:txBody>
      </p:sp>
      <p:sp>
        <p:nvSpPr>
          <p:cNvPr id="29" name="Text 27"/>
          <p:cNvSpPr txBox="1"/>
          <p:nvPr/>
        </p:nvSpPr>
        <p:spPr>
          <a:xfrm>
            <a:off x="1197864" y="7744968"/>
            <a:ext cx="4690872" cy="1371600"/>
          </a:xfrm>
          <a:prstGeom prst="rect">
            <a:avLst/>
          </a:prstGeom>
          <a:noFill/>
          <a:ln/>
        </p:spPr>
        <p:txBody>
          <a:bodyPr wrap="square" lIns="0" tIns="0" rIns="0" bIns="0" rtlCol="0" anchor="t"/>
          <a:lstStyle/>
          <a:p>
            <a:pPr marL="0" indent="0">
              <a:buNone/>
            </a:pPr>
            <a:r>
              <a:rPr lang="en-US" sz="1800" b="1" dirty="0">
                <a:solidFill>
                  <a:srgbClr val="0038A8"/>
                </a:solidFill>
                <a:latin typeface="Arial" pitchFamily="34" charset="0"/>
                <a:ea typeface="Arial" pitchFamily="34" charset="-122"/>
                <a:cs typeface="Arial" pitchFamily="34" charset="-120"/>
              </a:rPr>
              <a:t>Crompton et al., 2026
</a:t>
            </a:r>
            <a:r>
              <a:rPr lang="en-US" sz="2100" dirty="0">
                <a:solidFill>
                  <a:srgbClr val="1E293B"/>
                </a:solidFill>
                <a:latin typeface="Arial" pitchFamily="34" charset="0"/>
                <a:ea typeface="Arial" pitchFamily="34" charset="-122"/>
                <a:cs typeface="Arial" pitchFamily="34" charset="-120"/>
              </a:rPr>
              <a:t>Global experts rank human oversight as core to AI policy</a:t>
            </a:r>
            <a:endParaRPr lang="en-US" sz="1800" dirty="0"/>
          </a:p>
        </p:txBody>
      </p:sp>
      <p:sp>
        <p:nvSpPr>
          <p:cNvPr id="30" name="Shape 28"/>
          <p:cNvSpPr/>
          <p:nvPr/>
        </p:nvSpPr>
        <p:spPr>
          <a:xfrm>
            <a:off x="6483096" y="2697480"/>
            <a:ext cx="5330952"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1" name="Shape 29"/>
          <p:cNvSpPr/>
          <p:nvPr/>
        </p:nvSpPr>
        <p:spPr>
          <a:xfrm>
            <a:off x="6483096" y="2697480"/>
            <a:ext cx="5330952" cy="109728"/>
          </a:xfrm>
          <a:prstGeom prst="rect">
            <a:avLst/>
          </a:prstGeom>
          <a:solidFill>
            <a:srgbClr val="0F7B5F"/>
          </a:solidFill>
          <a:ln w="12700">
            <a:solidFill>
              <a:srgbClr val="0F7B5F"/>
            </a:solidFill>
            <a:prstDash val="solid"/>
          </a:ln>
        </p:spPr>
        <p:txBody>
          <a:bodyPr/>
          <a:lstStyle/>
          <a:p>
            <a:endParaRPr lang="en-US"/>
          </a:p>
        </p:txBody>
      </p:sp>
      <p:sp>
        <p:nvSpPr>
          <p:cNvPr id="32" name="Shape 30"/>
          <p:cNvSpPr/>
          <p:nvPr/>
        </p:nvSpPr>
        <p:spPr>
          <a:xfrm>
            <a:off x="6803136" y="3063240"/>
            <a:ext cx="685800" cy="685800"/>
          </a:xfrm>
          <a:prstGeom prst="ellipse">
            <a:avLst/>
          </a:prstGeom>
          <a:solidFill>
            <a:srgbClr val="0F7B5F"/>
          </a:solidFill>
          <a:ln w="12700">
            <a:solidFill>
              <a:srgbClr val="0F7B5F"/>
            </a:solidFill>
            <a:prstDash val="solid"/>
          </a:ln>
        </p:spPr>
        <p:txBody>
          <a:bodyPr/>
          <a:lstStyle/>
          <a:p>
            <a:endParaRPr lang="en-US"/>
          </a:p>
        </p:txBody>
      </p:sp>
      <p:sp>
        <p:nvSpPr>
          <p:cNvPr id="33" name="Text 31"/>
          <p:cNvSpPr txBox="1"/>
          <p:nvPr/>
        </p:nvSpPr>
        <p:spPr>
          <a:xfrm>
            <a:off x="6803136" y="30632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34" name="Text 32"/>
          <p:cNvSpPr txBox="1"/>
          <p:nvPr/>
        </p:nvSpPr>
        <p:spPr>
          <a:xfrm>
            <a:off x="7671816" y="2971800"/>
            <a:ext cx="3867912" cy="141732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AI grading is uneven, and checking it is real work</a:t>
            </a:r>
            <a:endParaRPr lang="en-US" sz="2600" dirty="0"/>
          </a:p>
        </p:txBody>
      </p:sp>
      <p:sp>
        <p:nvSpPr>
          <p:cNvPr id="35" name="Shape 33"/>
          <p:cNvSpPr/>
          <p:nvPr/>
        </p:nvSpPr>
        <p:spPr>
          <a:xfrm>
            <a:off x="6803136" y="4617720"/>
            <a:ext cx="4690872" cy="13716"/>
          </a:xfrm>
          <a:prstGeom prst="rect">
            <a:avLst/>
          </a:prstGeom>
          <a:solidFill>
            <a:srgbClr val="E2E8F0"/>
          </a:solidFill>
          <a:ln w="12700">
            <a:solidFill>
              <a:srgbClr val="E2E8F0"/>
            </a:solidFill>
            <a:prstDash val="solid"/>
          </a:ln>
        </p:spPr>
        <p:txBody>
          <a:bodyPr/>
          <a:lstStyle/>
          <a:p>
            <a:endParaRPr lang="en-US"/>
          </a:p>
        </p:txBody>
      </p:sp>
      <p:sp>
        <p:nvSpPr>
          <p:cNvPr id="36" name="Text 34"/>
          <p:cNvSpPr txBox="1"/>
          <p:nvPr/>
        </p:nvSpPr>
        <p:spPr>
          <a:xfrm>
            <a:off x="6803136" y="4709160"/>
            <a:ext cx="4690872" cy="1371600"/>
          </a:xfrm>
          <a:prstGeom prst="rect">
            <a:avLst/>
          </a:prstGeom>
          <a:noFill/>
          <a:ln/>
        </p:spPr>
        <p:txBody>
          <a:bodyPr wrap="square" lIns="0" tIns="0" rIns="0" bIns="0" rtlCol="0" anchor="t"/>
          <a:lstStyle/>
          <a:p>
            <a:pPr marL="0" indent="0">
              <a:buNone/>
            </a:pPr>
            <a:r>
              <a:rPr lang="en-US" sz="1800" b="1" dirty="0">
                <a:solidFill>
                  <a:srgbClr val="0F7B5F"/>
                </a:solidFill>
                <a:latin typeface="Arial" pitchFamily="34" charset="0"/>
                <a:ea typeface="Arial" pitchFamily="34" charset="-122"/>
                <a:cs typeface="Arial" pitchFamily="34" charset="-120"/>
              </a:rPr>
              <a:t>Jukiewicz &amp; Wyrwa, 2026
</a:t>
            </a:r>
            <a:r>
              <a:rPr lang="en-US" sz="2100" dirty="0">
                <a:solidFill>
                  <a:srgbClr val="1E293B"/>
                </a:solidFill>
                <a:latin typeface="Arial" pitchFamily="34" charset="0"/>
                <a:ea typeface="Arial" pitchFamily="34" charset="-122"/>
                <a:cs typeface="Arial" pitchFamily="34" charset="-120"/>
              </a:rPr>
              <a:t>Better on bounded tasks; teacher-verified grading judged most effective</a:t>
            </a:r>
            <a:endParaRPr lang="en-US" sz="1800" dirty="0"/>
          </a:p>
        </p:txBody>
      </p:sp>
      <p:sp>
        <p:nvSpPr>
          <p:cNvPr id="37" name="Shape 35"/>
          <p:cNvSpPr/>
          <p:nvPr/>
        </p:nvSpPr>
        <p:spPr>
          <a:xfrm>
            <a:off x="6803136" y="6135624"/>
            <a:ext cx="4690872" cy="13716"/>
          </a:xfrm>
          <a:prstGeom prst="rect">
            <a:avLst/>
          </a:prstGeom>
          <a:solidFill>
            <a:srgbClr val="E2E8F0"/>
          </a:solidFill>
          <a:ln w="12700">
            <a:solidFill>
              <a:srgbClr val="E2E8F0"/>
            </a:solidFill>
            <a:prstDash val="solid"/>
          </a:ln>
        </p:spPr>
        <p:txBody>
          <a:bodyPr/>
          <a:lstStyle/>
          <a:p>
            <a:endParaRPr lang="en-US"/>
          </a:p>
        </p:txBody>
      </p:sp>
      <p:sp>
        <p:nvSpPr>
          <p:cNvPr id="38" name="Text 36"/>
          <p:cNvSpPr txBox="1"/>
          <p:nvPr/>
        </p:nvSpPr>
        <p:spPr>
          <a:xfrm>
            <a:off x="6803136" y="6227064"/>
            <a:ext cx="4690872" cy="1371600"/>
          </a:xfrm>
          <a:prstGeom prst="rect">
            <a:avLst/>
          </a:prstGeom>
          <a:noFill/>
          <a:ln/>
        </p:spPr>
        <p:txBody>
          <a:bodyPr wrap="square" lIns="0" tIns="0" rIns="0" bIns="0" rtlCol="0" anchor="t"/>
          <a:lstStyle/>
          <a:p>
            <a:pPr marL="0" indent="0">
              <a:buNone/>
            </a:pPr>
            <a:r>
              <a:rPr lang="en-US" sz="1800" b="1" dirty="0">
                <a:solidFill>
                  <a:srgbClr val="0F7B5F"/>
                </a:solidFill>
                <a:latin typeface="Arial" pitchFamily="34" charset="0"/>
                <a:ea typeface="Arial" pitchFamily="34" charset="-122"/>
                <a:cs typeface="Arial" pitchFamily="34" charset="-120"/>
              </a:rPr>
              <a:t>Korthals et al., 2026
</a:t>
            </a:r>
            <a:r>
              <a:rPr lang="en-US" sz="2100" dirty="0">
                <a:solidFill>
                  <a:srgbClr val="1E293B"/>
                </a:solidFill>
                <a:latin typeface="Arial" pitchFamily="34" charset="0"/>
                <a:ea typeface="Arial" pitchFamily="34" charset="-122"/>
                <a:cs typeface="Arial" pitchFamily="34" charset="-120"/>
              </a:rPr>
              <a:t>Sending only uncertain grades to people improved accuracy in a simulation</a:t>
            </a:r>
            <a:endParaRPr lang="en-US" sz="1800" dirty="0"/>
          </a:p>
        </p:txBody>
      </p:sp>
      <p:sp>
        <p:nvSpPr>
          <p:cNvPr id="39" name="Shape 37"/>
          <p:cNvSpPr/>
          <p:nvPr/>
        </p:nvSpPr>
        <p:spPr>
          <a:xfrm>
            <a:off x="6803136" y="7653528"/>
            <a:ext cx="4690872" cy="13716"/>
          </a:xfrm>
          <a:prstGeom prst="rect">
            <a:avLst/>
          </a:prstGeom>
          <a:solidFill>
            <a:srgbClr val="E2E8F0"/>
          </a:solidFill>
          <a:ln w="12700">
            <a:solidFill>
              <a:srgbClr val="E2E8F0"/>
            </a:solidFill>
            <a:prstDash val="solid"/>
          </a:ln>
        </p:spPr>
        <p:txBody>
          <a:bodyPr/>
          <a:lstStyle/>
          <a:p>
            <a:endParaRPr lang="en-US"/>
          </a:p>
        </p:txBody>
      </p:sp>
      <p:sp>
        <p:nvSpPr>
          <p:cNvPr id="40" name="Text 38"/>
          <p:cNvSpPr txBox="1"/>
          <p:nvPr/>
        </p:nvSpPr>
        <p:spPr>
          <a:xfrm>
            <a:off x="6803136" y="7744968"/>
            <a:ext cx="4690872" cy="1371600"/>
          </a:xfrm>
          <a:prstGeom prst="rect">
            <a:avLst/>
          </a:prstGeom>
          <a:noFill/>
          <a:ln/>
        </p:spPr>
        <p:txBody>
          <a:bodyPr wrap="square" lIns="0" tIns="0" rIns="0" bIns="0" rtlCol="0" anchor="t"/>
          <a:lstStyle/>
          <a:p>
            <a:pPr marL="0" indent="0">
              <a:buNone/>
            </a:pPr>
            <a:r>
              <a:rPr lang="en-US" sz="1800" b="1" dirty="0">
                <a:solidFill>
                  <a:srgbClr val="0F7B5F"/>
                </a:solidFill>
                <a:latin typeface="Arial" pitchFamily="34" charset="0"/>
                <a:ea typeface="Arial" pitchFamily="34" charset="-122"/>
                <a:cs typeface="Arial" pitchFamily="34" charset="-120"/>
              </a:rPr>
              <a:t>Fok &amp; Weld, 2024; Crescitelli et al., 2026
</a:t>
            </a:r>
            <a:r>
              <a:rPr lang="en-US" sz="2100" dirty="0">
                <a:solidFill>
                  <a:srgbClr val="1E293B"/>
                </a:solidFill>
                <a:latin typeface="Arial" pitchFamily="34" charset="0"/>
                <a:ea typeface="Arial" pitchFamily="34" charset="-122"/>
                <a:cs typeface="Arial" pitchFamily="34" charset="-120"/>
              </a:rPr>
              <a:t>Explanations help when people can verify the output; report checking cost</a:t>
            </a:r>
            <a:endParaRPr lang="en-US" sz="1800" dirty="0"/>
          </a:p>
        </p:txBody>
      </p:sp>
      <p:sp>
        <p:nvSpPr>
          <p:cNvPr id="41" name="Shape 39"/>
          <p:cNvSpPr/>
          <p:nvPr/>
        </p:nvSpPr>
        <p:spPr>
          <a:xfrm>
            <a:off x="12088368" y="2697480"/>
            <a:ext cx="5330952"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42" name="Shape 40"/>
          <p:cNvSpPr/>
          <p:nvPr/>
        </p:nvSpPr>
        <p:spPr>
          <a:xfrm>
            <a:off x="12088368" y="2697480"/>
            <a:ext cx="5330952" cy="109728"/>
          </a:xfrm>
          <a:prstGeom prst="rect">
            <a:avLst/>
          </a:prstGeom>
          <a:solidFill>
            <a:srgbClr val="CE1126"/>
          </a:solidFill>
          <a:ln w="12700">
            <a:solidFill>
              <a:srgbClr val="CE1126"/>
            </a:solidFill>
            <a:prstDash val="solid"/>
          </a:ln>
        </p:spPr>
        <p:txBody>
          <a:bodyPr/>
          <a:lstStyle/>
          <a:p>
            <a:endParaRPr lang="en-US"/>
          </a:p>
        </p:txBody>
      </p:sp>
      <p:sp>
        <p:nvSpPr>
          <p:cNvPr id="43" name="Shape 41"/>
          <p:cNvSpPr/>
          <p:nvPr/>
        </p:nvSpPr>
        <p:spPr>
          <a:xfrm>
            <a:off x="12408408" y="3063240"/>
            <a:ext cx="685800" cy="685800"/>
          </a:xfrm>
          <a:prstGeom prst="ellipse">
            <a:avLst/>
          </a:prstGeom>
          <a:solidFill>
            <a:srgbClr val="CE1126"/>
          </a:solidFill>
          <a:ln w="12700">
            <a:solidFill>
              <a:srgbClr val="CE1126"/>
            </a:solidFill>
            <a:prstDash val="solid"/>
          </a:ln>
        </p:spPr>
        <p:txBody>
          <a:bodyPr/>
          <a:lstStyle/>
          <a:p>
            <a:endParaRPr lang="en-US"/>
          </a:p>
        </p:txBody>
      </p:sp>
      <p:sp>
        <p:nvSpPr>
          <p:cNvPr id="44" name="Text 42"/>
          <p:cNvSpPr txBox="1"/>
          <p:nvPr/>
        </p:nvSpPr>
        <p:spPr>
          <a:xfrm>
            <a:off x="12408408" y="30632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45" name="Text 43"/>
          <p:cNvSpPr txBox="1"/>
          <p:nvPr/>
        </p:nvSpPr>
        <p:spPr>
          <a:xfrm>
            <a:off x="13277088" y="2971800"/>
            <a:ext cx="3867912" cy="141732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Models misapply rules, and blocking answers has costs</a:t>
            </a:r>
            <a:endParaRPr lang="en-US" sz="2600" dirty="0"/>
          </a:p>
        </p:txBody>
      </p:sp>
      <p:sp>
        <p:nvSpPr>
          <p:cNvPr id="46" name="Shape 44"/>
          <p:cNvSpPr/>
          <p:nvPr/>
        </p:nvSpPr>
        <p:spPr>
          <a:xfrm>
            <a:off x="12408408" y="4617720"/>
            <a:ext cx="4690872" cy="13716"/>
          </a:xfrm>
          <a:prstGeom prst="rect">
            <a:avLst/>
          </a:prstGeom>
          <a:solidFill>
            <a:srgbClr val="E2E8F0"/>
          </a:solidFill>
          <a:ln w="12700">
            <a:solidFill>
              <a:srgbClr val="E2E8F0"/>
            </a:solidFill>
            <a:prstDash val="solid"/>
          </a:ln>
        </p:spPr>
        <p:txBody>
          <a:bodyPr/>
          <a:lstStyle/>
          <a:p>
            <a:endParaRPr lang="en-US"/>
          </a:p>
        </p:txBody>
      </p:sp>
      <p:sp>
        <p:nvSpPr>
          <p:cNvPr id="47" name="Text 45"/>
          <p:cNvSpPr txBox="1"/>
          <p:nvPr/>
        </p:nvSpPr>
        <p:spPr>
          <a:xfrm>
            <a:off x="12408408" y="4709160"/>
            <a:ext cx="4690872" cy="1371600"/>
          </a:xfrm>
          <a:prstGeom prst="rect">
            <a:avLst/>
          </a:prstGeom>
          <a:noFill/>
          <a:ln/>
        </p:spPr>
        <p:txBody>
          <a:bodyPr wrap="square" lIns="0" tIns="0" rIns="0" bIns="0" rtlCol="0" anchor="t"/>
          <a:lstStyle/>
          <a:p>
            <a:pPr marL="0" indent="0">
              <a:buNone/>
            </a:pPr>
            <a:r>
              <a:rPr lang="en-US" sz="1800" b="1" dirty="0">
                <a:solidFill>
                  <a:srgbClr val="CE1126"/>
                </a:solidFill>
                <a:latin typeface="Arial" pitchFamily="34" charset="0"/>
                <a:ea typeface="Arial" pitchFamily="34" charset="-122"/>
                <a:cs typeface="Arial" pitchFamily="34" charset="-120"/>
              </a:rPr>
              <a:t>Zhou et al., 2025
</a:t>
            </a:r>
            <a:r>
              <a:rPr lang="en-US" sz="2100" dirty="0">
                <a:solidFill>
                  <a:srgbClr val="1E293B"/>
                </a:solidFill>
                <a:latin typeface="Arial" pitchFamily="34" charset="0"/>
                <a:ea typeface="Arial" pitchFamily="34" charset="-122"/>
                <a:cs typeface="Arial" pitchFamily="34" charset="-120"/>
              </a:rPr>
              <a:t>Even with the rules supplied, models missed or confused them</a:t>
            </a:r>
            <a:endParaRPr lang="en-US" sz="1800" dirty="0"/>
          </a:p>
        </p:txBody>
      </p:sp>
      <p:sp>
        <p:nvSpPr>
          <p:cNvPr id="48" name="Shape 46"/>
          <p:cNvSpPr/>
          <p:nvPr/>
        </p:nvSpPr>
        <p:spPr>
          <a:xfrm>
            <a:off x="12408408" y="6135624"/>
            <a:ext cx="4690872" cy="13716"/>
          </a:xfrm>
          <a:prstGeom prst="rect">
            <a:avLst/>
          </a:prstGeom>
          <a:solidFill>
            <a:srgbClr val="E2E8F0"/>
          </a:solidFill>
          <a:ln w="12700">
            <a:solidFill>
              <a:srgbClr val="E2E8F0"/>
            </a:solidFill>
            <a:prstDash val="solid"/>
          </a:ln>
        </p:spPr>
        <p:txBody>
          <a:bodyPr/>
          <a:lstStyle/>
          <a:p>
            <a:endParaRPr lang="en-US"/>
          </a:p>
        </p:txBody>
      </p:sp>
      <p:sp>
        <p:nvSpPr>
          <p:cNvPr id="49" name="Text 47"/>
          <p:cNvSpPr txBox="1"/>
          <p:nvPr/>
        </p:nvSpPr>
        <p:spPr>
          <a:xfrm>
            <a:off x="12408408" y="6227064"/>
            <a:ext cx="4690872" cy="1371600"/>
          </a:xfrm>
          <a:prstGeom prst="rect">
            <a:avLst/>
          </a:prstGeom>
          <a:noFill/>
          <a:ln/>
        </p:spPr>
        <p:txBody>
          <a:bodyPr wrap="square" lIns="0" tIns="0" rIns="0" bIns="0" rtlCol="0" anchor="t"/>
          <a:lstStyle/>
          <a:p>
            <a:pPr marL="0" indent="0">
              <a:buNone/>
            </a:pPr>
            <a:r>
              <a:rPr lang="en-US" sz="1800" b="1" dirty="0">
                <a:solidFill>
                  <a:srgbClr val="CE1126"/>
                </a:solidFill>
                <a:latin typeface="Arial" pitchFamily="34" charset="0"/>
                <a:ea typeface="Arial" pitchFamily="34" charset="-122"/>
                <a:cs typeface="Arial" pitchFamily="34" charset="-120"/>
              </a:rPr>
              <a:t>Zwerdling et al., 2025
</a:t>
            </a:r>
            <a:r>
              <a:rPr lang="en-US" sz="2100" dirty="0">
                <a:solidFill>
                  <a:srgbClr val="1E293B"/>
                </a:solidFill>
                <a:latin typeface="Arial" pitchFamily="34" charset="0"/>
                <a:ea typeface="Arial" pitchFamily="34" charset="-122"/>
                <a:cs typeface="Arial" pitchFamily="34" charset="-120"/>
              </a:rPr>
              <a:t>In a simulation, checks built from written policy beat prompt reminders</a:t>
            </a:r>
            <a:endParaRPr lang="en-US" sz="1800" dirty="0"/>
          </a:p>
        </p:txBody>
      </p:sp>
      <p:sp>
        <p:nvSpPr>
          <p:cNvPr id="50" name="Shape 48"/>
          <p:cNvSpPr/>
          <p:nvPr/>
        </p:nvSpPr>
        <p:spPr>
          <a:xfrm>
            <a:off x="12408408" y="7653528"/>
            <a:ext cx="4690872" cy="13716"/>
          </a:xfrm>
          <a:prstGeom prst="rect">
            <a:avLst/>
          </a:prstGeom>
          <a:solidFill>
            <a:srgbClr val="E2E8F0"/>
          </a:solidFill>
          <a:ln w="12700">
            <a:solidFill>
              <a:srgbClr val="E2E8F0"/>
            </a:solidFill>
            <a:prstDash val="solid"/>
          </a:ln>
        </p:spPr>
        <p:txBody>
          <a:bodyPr/>
          <a:lstStyle/>
          <a:p>
            <a:endParaRPr lang="en-US"/>
          </a:p>
        </p:txBody>
      </p:sp>
      <p:sp>
        <p:nvSpPr>
          <p:cNvPr id="51" name="Text 49"/>
          <p:cNvSpPr txBox="1"/>
          <p:nvPr/>
        </p:nvSpPr>
        <p:spPr>
          <a:xfrm>
            <a:off x="12408408" y="7744968"/>
            <a:ext cx="4690872" cy="1371600"/>
          </a:xfrm>
          <a:prstGeom prst="rect">
            <a:avLst/>
          </a:prstGeom>
          <a:noFill/>
          <a:ln/>
        </p:spPr>
        <p:txBody>
          <a:bodyPr wrap="square" lIns="0" tIns="0" rIns="0" bIns="0" rtlCol="0" anchor="t"/>
          <a:lstStyle/>
          <a:p>
            <a:pPr marL="0" indent="0">
              <a:buNone/>
            </a:pPr>
            <a:r>
              <a:rPr lang="en-US" sz="1800" b="1" dirty="0">
                <a:solidFill>
                  <a:srgbClr val="CE1126"/>
                </a:solidFill>
                <a:latin typeface="Arial" pitchFamily="34" charset="0"/>
                <a:ea typeface="Arial" pitchFamily="34" charset="-122"/>
                <a:cs typeface="Arial" pitchFamily="34" charset="-120"/>
              </a:rPr>
              <a:t>Jabbour et al., 2026 (preprint)
</a:t>
            </a:r>
            <a:r>
              <a:rPr lang="en-US" sz="2100" dirty="0">
                <a:solidFill>
                  <a:srgbClr val="1E293B"/>
                </a:solidFill>
                <a:latin typeface="Arial" pitchFamily="34" charset="0"/>
                <a:ea typeface="Arial" pitchFamily="34" charset="-122"/>
                <a:cs typeface="Arial" pitchFamily="34" charset="-120"/>
              </a:rPr>
              <a:t>Withholding unreliable AI advice reduced harm but increased missed diagnoses</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par>
                                <p:cTn id="81" presetID="10" presetClass="entr" presetSubtype="0"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fade">
                                      <p:cBhvr>
                                        <p:cTn id="83" dur="400"/>
                                        <p:tgtEl>
                                          <p:spTgt spid="43"/>
                                        </p:tgtEl>
                                      </p:cBhvr>
                                    </p:animEffect>
                                  </p:childTnLst>
                                </p:cTn>
                              </p:par>
                              <p:par>
                                <p:cTn id="84" presetID="10" presetClass="entr" presetSubtype="0" fill="hold" nodeType="with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fade">
                                      <p:cBhvr>
                                        <p:cTn id="86" dur="400"/>
                                        <p:tgtEl>
                                          <p:spTgt spid="44"/>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0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GAP</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What I could not find in a Philippine study</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 bounded literature search, not a claim to be first. The closest local work is a handbook-policy assistant prototype (Ilagan &amp; Ilagan, 2024).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8</a:t>
            </a:r>
            <a:endParaRPr lang="en-US" sz="1600" dirty="0"/>
          </a:p>
        </p:txBody>
      </p:sp>
      <p:sp>
        <p:nvSpPr>
          <p:cNvPr id="19" name="Shape 17"/>
          <p:cNvSpPr/>
          <p:nvPr/>
        </p:nvSpPr>
        <p:spPr>
          <a:xfrm>
            <a:off x="914400" y="2697480"/>
            <a:ext cx="5577840" cy="5577840"/>
          </a:xfrm>
          <a:prstGeom prst="ellipse">
            <a:avLst/>
          </a:prstGeom>
          <a:solidFill>
            <a:srgbClr val="0038A8">
              <a:alpha val="12000"/>
            </a:srgbClr>
          </a:solidFill>
          <a:ln w="31750">
            <a:solidFill>
              <a:srgbClr val="0038A8"/>
            </a:solidFill>
            <a:prstDash val="solid"/>
          </a:ln>
        </p:spPr>
        <p:txBody>
          <a:bodyPr/>
          <a:lstStyle/>
          <a:p>
            <a:endParaRPr lang="en-US"/>
          </a:p>
        </p:txBody>
      </p:sp>
      <p:sp>
        <p:nvSpPr>
          <p:cNvPr id="20" name="Text 18"/>
          <p:cNvSpPr txBox="1"/>
          <p:nvPr/>
        </p:nvSpPr>
        <p:spPr>
          <a:xfrm>
            <a:off x="1645920" y="3977640"/>
            <a:ext cx="4114800" cy="1463040"/>
          </a:xfrm>
          <a:prstGeom prst="rect">
            <a:avLst/>
          </a:prstGeom>
          <a:noFill/>
          <a:ln/>
        </p:spPr>
        <p:txBody>
          <a:bodyPr wrap="square" lIns="0" tIns="0" rIns="0" bIns="0" rtlCol="0" anchor="ctr"/>
          <a:lstStyle/>
          <a:p>
            <a:pPr marL="0" indent="0" algn="ctr">
              <a:buNone/>
            </a:pPr>
            <a:r>
              <a:rPr lang="en-US" sz="3000" dirty="0">
                <a:solidFill>
                  <a:srgbClr val="0B1F3A"/>
                </a:solidFill>
                <a:latin typeface="Georgia" pitchFamily="34" charset="0"/>
                <a:ea typeface="Georgia" pitchFamily="34" charset="-122"/>
                <a:cs typeface="Georgia" pitchFamily="34" charset="-120"/>
              </a:rPr>
              <a:t>The same answer, released two ways</a:t>
            </a:r>
            <a:endParaRPr lang="en-US" sz="3000" dirty="0"/>
          </a:p>
        </p:txBody>
      </p:sp>
      <p:sp>
        <p:nvSpPr>
          <p:cNvPr id="21" name="Text 19"/>
          <p:cNvSpPr txBox="1"/>
          <p:nvPr/>
        </p:nvSpPr>
        <p:spPr>
          <a:xfrm>
            <a:off x="1645920" y="5532120"/>
            <a:ext cx="4114800" cy="1280160"/>
          </a:xfrm>
          <a:prstGeom prst="rect">
            <a:avLst/>
          </a:prstGeom>
          <a:noFill/>
          <a:ln/>
        </p:spPr>
        <p:txBody>
          <a:bodyPr wrap="square" lIns="0" tIns="0" rIns="0" bIns="0" rtlCol="0" anchor="t"/>
          <a:lstStyle/>
          <a:p>
            <a:pPr marL="0" indent="0" algn="ctr">
              <a:buNone/>
            </a:pPr>
            <a:r>
              <a:rPr lang="en-US" sz="2400" dirty="0">
                <a:solidFill>
                  <a:srgbClr val="4B5563"/>
                </a:solidFill>
                <a:latin typeface="Arial" pitchFamily="34" charset="0"/>
                <a:ea typeface="Arial" pitchFamily="34" charset="-122"/>
                <a:cs typeface="Arial" pitchFamily="34" charset="-120"/>
              </a:rPr>
              <a:t>to separate what the model knows from what checks add</a:t>
            </a:r>
            <a:endParaRPr lang="en-US" sz="2400" dirty="0"/>
          </a:p>
        </p:txBody>
      </p:sp>
      <p:sp>
        <p:nvSpPr>
          <p:cNvPr id="22" name="Shape 20"/>
          <p:cNvSpPr/>
          <p:nvPr/>
        </p:nvSpPr>
        <p:spPr>
          <a:xfrm>
            <a:off x="6355080" y="2697480"/>
            <a:ext cx="5577840" cy="5577840"/>
          </a:xfrm>
          <a:prstGeom prst="ellipse">
            <a:avLst/>
          </a:prstGeom>
          <a:solidFill>
            <a:srgbClr val="CE1126">
              <a:alpha val="12000"/>
            </a:srgbClr>
          </a:solidFill>
          <a:ln w="31750">
            <a:solidFill>
              <a:srgbClr val="CE1126"/>
            </a:solidFill>
            <a:prstDash val="solid"/>
          </a:ln>
        </p:spPr>
        <p:txBody>
          <a:bodyPr/>
          <a:lstStyle/>
          <a:p>
            <a:endParaRPr lang="en-US"/>
          </a:p>
        </p:txBody>
      </p:sp>
      <p:sp>
        <p:nvSpPr>
          <p:cNvPr id="23" name="Text 21"/>
          <p:cNvSpPr txBox="1"/>
          <p:nvPr/>
        </p:nvSpPr>
        <p:spPr>
          <a:xfrm>
            <a:off x="7086600" y="3977640"/>
            <a:ext cx="4114800" cy="1463040"/>
          </a:xfrm>
          <a:prstGeom prst="rect">
            <a:avLst/>
          </a:prstGeom>
          <a:noFill/>
          <a:ln/>
        </p:spPr>
        <p:txBody>
          <a:bodyPr wrap="square" lIns="0" tIns="0" rIns="0" bIns="0" rtlCol="0" anchor="ctr"/>
          <a:lstStyle/>
          <a:p>
            <a:pPr marL="0" indent="0" algn="ctr">
              <a:buNone/>
            </a:pPr>
            <a:r>
              <a:rPr lang="en-US" sz="3000" dirty="0">
                <a:solidFill>
                  <a:srgbClr val="0B1F3A"/>
                </a:solidFill>
                <a:latin typeface="Georgia" pitchFamily="34" charset="0"/>
                <a:ea typeface="Georgia" pitchFamily="34" charset="-122"/>
                <a:cs typeface="Georgia" pitchFamily="34" charset="-120"/>
              </a:rPr>
              <a:t>Real rules from named schools</a:t>
            </a:r>
            <a:endParaRPr lang="en-US" sz="3000" dirty="0"/>
          </a:p>
        </p:txBody>
      </p:sp>
      <p:sp>
        <p:nvSpPr>
          <p:cNvPr id="24" name="Text 22"/>
          <p:cNvSpPr txBox="1"/>
          <p:nvPr/>
        </p:nvSpPr>
        <p:spPr>
          <a:xfrm>
            <a:off x="7086600" y="5532120"/>
            <a:ext cx="4114800" cy="1280160"/>
          </a:xfrm>
          <a:prstGeom prst="rect">
            <a:avLst/>
          </a:prstGeom>
          <a:noFill/>
          <a:ln/>
        </p:spPr>
        <p:txBody>
          <a:bodyPr wrap="square" lIns="0" tIns="0" rIns="0" bIns="0" rtlCol="0" anchor="t"/>
          <a:lstStyle/>
          <a:p>
            <a:pPr marL="0" indent="0" algn="ctr">
              <a:buNone/>
            </a:pPr>
            <a:r>
              <a:rPr lang="en-US" sz="2400" dirty="0">
                <a:solidFill>
                  <a:srgbClr val="4B5563"/>
                </a:solidFill>
                <a:latin typeface="Arial" pitchFamily="34" charset="0"/>
                <a:ea typeface="Arial" pitchFamily="34" charset="-122"/>
                <a:cs typeface="Arial" pitchFamily="34" charset="-120"/>
              </a:rPr>
              <a:t>including who has the authority to decide</a:t>
            </a:r>
            <a:endParaRPr lang="en-US" sz="2400" dirty="0"/>
          </a:p>
        </p:txBody>
      </p:sp>
      <p:sp>
        <p:nvSpPr>
          <p:cNvPr id="25" name="Shape 23"/>
          <p:cNvSpPr/>
          <p:nvPr/>
        </p:nvSpPr>
        <p:spPr>
          <a:xfrm>
            <a:off x="11795760" y="2697480"/>
            <a:ext cx="5577840" cy="5577840"/>
          </a:xfrm>
          <a:prstGeom prst="ellipse">
            <a:avLst/>
          </a:prstGeom>
          <a:solidFill>
            <a:srgbClr val="8A6100">
              <a:alpha val="12000"/>
            </a:srgbClr>
          </a:solidFill>
          <a:ln w="31750">
            <a:solidFill>
              <a:srgbClr val="8A6100"/>
            </a:solidFill>
            <a:prstDash val="solid"/>
          </a:ln>
        </p:spPr>
        <p:txBody>
          <a:bodyPr/>
          <a:lstStyle/>
          <a:p>
            <a:endParaRPr lang="en-US"/>
          </a:p>
        </p:txBody>
      </p:sp>
      <p:sp>
        <p:nvSpPr>
          <p:cNvPr id="26" name="Text 24"/>
          <p:cNvSpPr txBox="1"/>
          <p:nvPr/>
        </p:nvSpPr>
        <p:spPr>
          <a:xfrm>
            <a:off x="12527280" y="3977640"/>
            <a:ext cx="4114800" cy="1463040"/>
          </a:xfrm>
          <a:prstGeom prst="rect">
            <a:avLst/>
          </a:prstGeom>
          <a:noFill/>
          <a:ln/>
        </p:spPr>
        <p:txBody>
          <a:bodyPr wrap="square" lIns="0" tIns="0" rIns="0" bIns="0" rtlCol="0" anchor="ctr"/>
          <a:lstStyle/>
          <a:p>
            <a:pPr marL="0" indent="0" algn="ctr">
              <a:buNone/>
            </a:pPr>
            <a:r>
              <a:rPr lang="en-US" sz="3000" dirty="0">
                <a:solidFill>
                  <a:srgbClr val="0B1F3A"/>
                </a:solidFill>
                <a:latin typeface="Georgia" pitchFamily="34" charset="0"/>
                <a:ea typeface="Georgia" pitchFamily="34" charset="-122"/>
                <a:cs typeface="Georgia" pitchFamily="34" charset="-120"/>
              </a:rPr>
              <a:t>The checking work that remains</a:t>
            </a:r>
            <a:endParaRPr lang="en-US" sz="3000" dirty="0"/>
          </a:p>
        </p:txBody>
      </p:sp>
      <p:sp>
        <p:nvSpPr>
          <p:cNvPr id="27" name="Text 25"/>
          <p:cNvSpPr txBox="1"/>
          <p:nvPr/>
        </p:nvSpPr>
        <p:spPr>
          <a:xfrm>
            <a:off x="12527280" y="5532120"/>
            <a:ext cx="4114800" cy="1280160"/>
          </a:xfrm>
          <a:prstGeom prst="rect">
            <a:avLst/>
          </a:prstGeom>
          <a:noFill/>
          <a:ln/>
        </p:spPr>
        <p:txBody>
          <a:bodyPr wrap="square" lIns="0" tIns="0" rIns="0" bIns="0" rtlCol="0" anchor="t"/>
          <a:lstStyle/>
          <a:p>
            <a:pPr marL="0" indent="0" algn="ctr">
              <a:buNone/>
            </a:pPr>
            <a:r>
              <a:rPr lang="en-US" sz="2400" dirty="0">
                <a:solidFill>
                  <a:srgbClr val="4B5563"/>
                </a:solidFill>
                <a:latin typeface="Arial" pitchFamily="34" charset="0"/>
                <a:ea typeface="Arial" pitchFamily="34" charset="-122"/>
                <a:cs typeface="Arial" pitchFamily="34" charset="-120"/>
              </a:rPr>
              <a:t>time to decide and to correct each answer</a:t>
            </a:r>
            <a:endParaRPr lang="en-US" sz="2400" dirty="0"/>
          </a:p>
        </p:txBody>
      </p:sp>
      <p:sp>
        <p:nvSpPr>
          <p:cNvPr id="28" name="Shape 26"/>
          <p:cNvSpPr/>
          <p:nvPr/>
        </p:nvSpPr>
        <p:spPr>
          <a:xfrm>
            <a:off x="877824" y="8503920"/>
            <a:ext cx="16532352" cy="868680"/>
          </a:xfrm>
          <a:prstGeom prst="rect">
            <a:avLst/>
          </a:prstGeom>
          <a:solidFill>
            <a:srgbClr val="0B1F3A"/>
          </a:solidFill>
          <a:ln w="12700">
            <a:solidFill>
              <a:srgbClr val="0B1F3A"/>
            </a:solidFill>
            <a:prstDash val="solid"/>
          </a:ln>
        </p:spPr>
        <p:txBody>
          <a:bodyPr/>
          <a:lstStyle/>
          <a:p>
            <a:endParaRPr lang="en-US"/>
          </a:p>
        </p:txBody>
      </p:sp>
      <p:sp>
        <p:nvSpPr>
          <p:cNvPr id="29" name="Text 27"/>
          <p:cNvSpPr txBox="1"/>
          <p:nvPr/>
        </p:nvSpPr>
        <p:spPr>
          <a:xfrm>
            <a:off x="1280160" y="8595360"/>
            <a:ext cx="15727680" cy="6858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This capstone combines all three, using 24 test cases from Philippine higher education.</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par>
                                <p:cTn id="33" presetID="10"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400"/>
                                        <p:tgtEl>
                                          <p:spTgt spid="2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FROM BROAD TO FOCUSED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What this study can and cannot tell us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Limits are discussed in the paper, Section 5, and Appendices C and 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9</a:t>
            </a:r>
            <a:endParaRPr lang="en-US" sz="1600" dirty="0"/>
          </a:p>
        </p:txBody>
      </p:sp>
      <p:sp>
        <p:nvSpPr>
          <p:cNvPr id="19" name="Shape 17"/>
          <p:cNvSpPr/>
          <p:nvPr/>
        </p:nvSpPr>
        <p:spPr>
          <a:xfrm>
            <a:off x="877824" y="2697480"/>
            <a:ext cx="16532352" cy="1170432"/>
          </a:xfrm>
          <a:prstGeom prst="rect">
            <a:avLst/>
          </a:prstGeom>
          <a:solidFill>
            <a:srgbClr val="EEF3FB"/>
          </a:solidFill>
          <a:ln w="12700">
            <a:solidFill>
              <a:srgbClr val="EEF3FB"/>
            </a:solidFill>
            <a:prstDash val="solid"/>
          </a:ln>
        </p:spPr>
        <p:txBody>
          <a:bodyPr/>
          <a:lstStyle/>
          <a:p>
            <a:endParaRPr lang="en-US"/>
          </a:p>
        </p:txBody>
      </p:sp>
      <p:sp>
        <p:nvSpPr>
          <p:cNvPr id="20" name="Text 18"/>
          <p:cNvSpPr txBox="1"/>
          <p:nvPr/>
        </p:nvSpPr>
        <p:spPr>
          <a:xfrm>
            <a:off x="1152144" y="2770632"/>
            <a:ext cx="15983712" cy="1024128"/>
          </a:xfrm>
          <a:prstGeom prst="rect">
            <a:avLst/>
          </a:prstGeom>
          <a:noFill/>
          <a:ln/>
        </p:spPr>
        <p:txBody>
          <a:bodyPr wrap="square" lIns="0" tIns="0" rIns="0" bIns="0" rtlCol="0" anchor="ctr"/>
          <a:lstStyle/>
          <a:p>
            <a:pPr marL="0" indent="0" algn="ctr">
              <a:buNone/>
            </a:pPr>
            <a:r>
              <a:rPr lang="en-US" sz="1800" b="1" kern="0" spc="100" dirty="0">
                <a:solidFill>
                  <a:srgbClr val="0B1F3A"/>
                </a:solidFill>
                <a:latin typeface="Arial" pitchFamily="34" charset="0"/>
                <a:ea typeface="Arial" pitchFamily="34" charset="-122"/>
                <a:cs typeface="Arial" pitchFamily="34" charset="-120"/>
              </a:rPr>
              <a:t>BROAD DIRECTION   </a:t>
            </a:r>
            <a:r>
              <a:rPr lang="en-US" sz="2400" dirty="0">
                <a:solidFill>
                  <a:srgbClr val="0B1F3A"/>
                </a:solidFill>
                <a:latin typeface="Arial" pitchFamily="34" charset="0"/>
                <a:ea typeface="Arial" pitchFamily="34" charset="-122"/>
                <a:cs typeface="Arial" pitchFamily="34" charset="-120"/>
              </a:rPr>
              <a:t>Responsible use of AI in educational assessment</a:t>
            </a:r>
            <a:endParaRPr lang="en-US" sz="1800" dirty="0"/>
          </a:p>
        </p:txBody>
      </p:sp>
      <p:sp>
        <p:nvSpPr>
          <p:cNvPr id="21" name="Shape 19"/>
          <p:cNvSpPr/>
          <p:nvPr/>
        </p:nvSpPr>
        <p:spPr>
          <a:xfrm>
            <a:off x="2194560" y="4023360"/>
            <a:ext cx="13898880" cy="1170432"/>
          </a:xfrm>
          <a:prstGeom prst="rect">
            <a:avLst/>
          </a:prstGeom>
          <a:solidFill>
            <a:srgbClr val="C9D8EF"/>
          </a:solidFill>
          <a:ln w="12700">
            <a:solidFill>
              <a:srgbClr val="C9D8EF"/>
            </a:solidFill>
            <a:prstDash val="solid"/>
          </a:ln>
        </p:spPr>
        <p:txBody>
          <a:bodyPr/>
          <a:lstStyle/>
          <a:p>
            <a:endParaRPr lang="en-US"/>
          </a:p>
        </p:txBody>
      </p:sp>
      <p:sp>
        <p:nvSpPr>
          <p:cNvPr id="22" name="Text 20"/>
          <p:cNvSpPr txBox="1"/>
          <p:nvPr/>
        </p:nvSpPr>
        <p:spPr>
          <a:xfrm>
            <a:off x="2468880" y="4096512"/>
            <a:ext cx="13350240" cy="1024128"/>
          </a:xfrm>
          <a:prstGeom prst="rect">
            <a:avLst/>
          </a:prstGeom>
          <a:noFill/>
          <a:ln/>
        </p:spPr>
        <p:txBody>
          <a:bodyPr wrap="square" lIns="0" tIns="0" rIns="0" bIns="0" rtlCol="0" anchor="ctr"/>
          <a:lstStyle/>
          <a:p>
            <a:pPr marL="0" indent="0" algn="ctr">
              <a:buNone/>
            </a:pPr>
            <a:r>
              <a:rPr lang="en-US" sz="1800" b="1" kern="0" spc="100" dirty="0">
                <a:solidFill>
                  <a:srgbClr val="0B1F3A"/>
                </a:solidFill>
                <a:latin typeface="Arial" pitchFamily="34" charset="0"/>
                <a:ea typeface="Arial" pitchFamily="34" charset="-122"/>
                <a:cs typeface="Arial" pitchFamily="34" charset="-120"/>
              </a:rPr>
              <a:t>FOCUS   </a:t>
            </a:r>
            <a:r>
              <a:rPr lang="en-US" sz="2400" dirty="0">
                <a:solidFill>
                  <a:srgbClr val="0B1F3A"/>
                </a:solidFill>
                <a:latin typeface="Arial" pitchFamily="34" charset="0"/>
                <a:ea typeface="Arial" pitchFamily="34" charset="-122"/>
                <a:cs typeface="Arial" pitchFamily="34" charset="-120"/>
              </a:rPr>
              <a:t>Rule-based assessment support in Philippine higher education: evidence, authority and calculation</a:t>
            </a:r>
            <a:endParaRPr lang="en-US" sz="1800" dirty="0"/>
          </a:p>
        </p:txBody>
      </p:sp>
      <p:sp>
        <p:nvSpPr>
          <p:cNvPr id="23" name="Shape 21"/>
          <p:cNvSpPr/>
          <p:nvPr/>
        </p:nvSpPr>
        <p:spPr>
          <a:xfrm>
            <a:off x="3520440" y="5349240"/>
            <a:ext cx="11247120" cy="1170432"/>
          </a:xfrm>
          <a:prstGeom prst="rect">
            <a:avLst/>
          </a:prstGeom>
          <a:solidFill>
            <a:srgbClr val="0038A8"/>
          </a:solidFill>
          <a:ln w="12700">
            <a:solidFill>
              <a:srgbClr val="0038A8"/>
            </a:solidFill>
            <a:prstDash val="solid"/>
          </a:ln>
        </p:spPr>
        <p:txBody>
          <a:bodyPr/>
          <a:lstStyle/>
          <a:p>
            <a:endParaRPr lang="en-US"/>
          </a:p>
        </p:txBody>
      </p:sp>
      <p:sp>
        <p:nvSpPr>
          <p:cNvPr id="24" name="Text 22"/>
          <p:cNvSpPr txBox="1"/>
          <p:nvPr/>
        </p:nvSpPr>
        <p:spPr>
          <a:xfrm>
            <a:off x="3794760" y="5422392"/>
            <a:ext cx="10698480" cy="1024128"/>
          </a:xfrm>
          <a:prstGeom prst="rect">
            <a:avLst/>
          </a:prstGeom>
          <a:noFill/>
          <a:ln/>
        </p:spPr>
        <p:txBody>
          <a:bodyPr wrap="square" lIns="0" tIns="0" rIns="0" bIns="0" rtlCol="0" anchor="ctr"/>
          <a:lstStyle/>
          <a:p>
            <a:pPr marL="0" indent="0" algn="ctr">
              <a:buNone/>
            </a:pPr>
            <a:r>
              <a:rPr lang="en-US" sz="1800" b="1" kern="0" spc="100" dirty="0">
                <a:solidFill>
                  <a:srgbClr val="FFFFFF"/>
                </a:solidFill>
                <a:latin typeface="Arial" pitchFamily="34" charset="0"/>
                <a:ea typeface="Arial" pitchFamily="34" charset="-122"/>
                <a:cs typeface="Arial" pitchFamily="34" charset="-120"/>
              </a:rPr>
              <a:t>THIS CAPSTONE   </a:t>
            </a:r>
            <a:r>
              <a:rPr lang="en-US" sz="2400" b="1" dirty="0">
                <a:solidFill>
                  <a:srgbClr val="FFFFFF"/>
                </a:solidFill>
                <a:latin typeface="Arial" pitchFamily="34" charset="0"/>
                <a:ea typeface="Arial" pitchFamily="34" charset="-122"/>
                <a:cs typeface="Arial" pitchFamily="34" charset="-120"/>
              </a:rPr>
              <a:t>24 test cases · rules from 9 schools · 2 AI model settings · 1 researcher</a:t>
            </a:r>
            <a:endParaRPr lang="en-US" sz="1800" dirty="0"/>
          </a:p>
        </p:txBody>
      </p:sp>
      <p:sp>
        <p:nvSpPr>
          <p:cNvPr id="25" name="Shape 23"/>
          <p:cNvSpPr/>
          <p:nvPr/>
        </p:nvSpPr>
        <p:spPr>
          <a:xfrm>
            <a:off x="877824" y="6766560"/>
            <a:ext cx="8129016" cy="2514600"/>
          </a:xfrm>
          <a:prstGeom prst="rect">
            <a:avLst/>
          </a:prstGeom>
          <a:solidFill>
            <a:srgbClr val="E7F4EF"/>
          </a:solidFill>
          <a:ln w="12700">
            <a:solidFill>
              <a:srgbClr val="E7F4EF"/>
            </a:solidFill>
            <a:prstDash val="solid"/>
          </a:ln>
        </p:spPr>
        <p:txBody>
          <a:bodyPr/>
          <a:lstStyle/>
          <a:p>
            <a:endParaRPr lang="en-US"/>
          </a:p>
        </p:txBody>
      </p:sp>
      <p:sp>
        <p:nvSpPr>
          <p:cNvPr id="26" name="Text 24"/>
          <p:cNvSpPr txBox="1"/>
          <p:nvPr/>
        </p:nvSpPr>
        <p:spPr>
          <a:xfrm>
            <a:off x="1243584" y="6903720"/>
            <a:ext cx="7406640" cy="457200"/>
          </a:xfrm>
          <a:prstGeom prst="rect">
            <a:avLst/>
          </a:prstGeom>
          <a:noFill/>
          <a:ln/>
        </p:spPr>
        <p:txBody>
          <a:bodyPr wrap="square" lIns="0" tIns="0" rIns="0" bIns="0" rtlCol="0" anchor="t"/>
          <a:lstStyle/>
          <a:p>
            <a:pPr marL="0" indent="0">
              <a:buNone/>
            </a:pPr>
            <a:r>
              <a:rPr lang="en-US" sz="2400" b="1" dirty="0">
                <a:solidFill>
                  <a:srgbClr val="0F7B5F"/>
                </a:solidFill>
                <a:latin typeface="Arial" pitchFamily="34" charset="0"/>
                <a:ea typeface="Arial" pitchFamily="34" charset="-122"/>
                <a:cs typeface="Arial" pitchFamily="34" charset="-120"/>
              </a:rPr>
              <a:t>It can show</a:t>
            </a:r>
            <a:endParaRPr lang="en-US" sz="2400" dirty="0"/>
          </a:p>
        </p:txBody>
      </p:sp>
      <p:sp>
        <p:nvSpPr>
          <p:cNvPr id="27" name="Text 25"/>
          <p:cNvSpPr txBox="1"/>
          <p:nvPr/>
        </p:nvSpPr>
        <p:spPr>
          <a:xfrm>
            <a:off x="1243584" y="7406640"/>
            <a:ext cx="7406640" cy="1783080"/>
          </a:xfrm>
          <a:prstGeom prst="rect">
            <a:avLst/>
          </a:prstGeom>
          <a:noFill/>
          <a:ln/>
        </p:spPr>
        <p:txBody>
          <a:bodyPr wrap="square" lIns="0" tIns="0" rIns="0" bIns="0" rtlCol="0" anchor="t"/>
          <a:lstStyle/>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What the checks stopped, missed and held back</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two model settings compare on the same cases</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much checking work remained for one person</a:t>
            </a:r>
            <a:endParaRPr lang="en-US" sz="2200" dirty="0"/>
          </a:p>
        </p:txBody>
      </p:sp>
      <p:sp>
        <p:nvSpPr>
          <p:cNvPr id="28" name="Shape 26"/>
          <p:cNvSpPr/>
          <p:nvPr/>
        </p:nvSpPr>
        <p:spPr>
          <a:xfrm>
            <a:off x="9281160" y="6766560"/>
            <a:ext cx="8129016" cy="2514600"/>
          </a:xfrm>
          <a:prstGeom prst="rect">
            <a:avLst/>
          </a:prstGeom>
          <a:solidFill>
            <a:srgbClr val="FBEBEC"/>
          </a:solidFill>
          <a:ln w="12700">
            <a:solidFill>
              <a:srgbClr val="FBEBEC"/>
            </a:solidFill>
            <a:prstDash val="solid"/>
          </a:ln>
        </p:spPr>
        <p:txBody>
          <a:bodyPr/>
          <a:lstStyle/>
          <a:p>
            <a:endParaRPr lang="en-US"/>
          </a:p>
        </p:txBody>
      </p:sp>
      <p:sp>
        <p:nvSpPr>
          <p:cNvPr id="29" name="Text 27"/>
          <p:cNvSpPr txBox="1"/>
          <p:nvPr/>
        </p:nvSpPr>
        <p:spPr>
          <a:xfrm>
            <a:off x="9646920" y="6903720"/>
            <a:ext cx="7406640" cy="457200"/>
          </a:xfrm>
          <a:prstGeom prst="rect">
            <a:avLst/>
          </a:prstGeom>
          <a:noFill/>
          <a:ln/>
        </p:spPr>
        <p:txBody>
          <a:bodyPr wrap="square" lIns="0" tIns="0" rIns="0" bIns="0" rtlCol="0" anchor="t"/>
          <a:lstStyle/>
          <a:p>
            <a:pPr marL="0" indent="0">
              <a:buNone/>
            </a:pPr>
            <a:r>
              <a:rPr lang="en-US" sz="2400" b="1" dirty="0">
                <a:solidFill>
                  <a:srgbClr val="CE1126"/>
                </a:solidFill>
                <a:latin typeface="Arial" pitchFamily="34" charset="0"/>
                <a:ea typeface="Arial" pitchFamily="34" charset="-122"/>
                <a:cs typeface="Arial" pitchFamily="34" charset="-120"/>
              </a:rPr>
              <a:t>It cannot show</a:t>
            </a:r>
            <a:endParaRPr lang="en-US" sz="2400" dirty="0"/>
          </a:p>
        </p:txBody>
      </p:sp>
      <p:sp>
        <p:nvSpPr>
          <p:cNvPr id="30" name="Text 28"/>
          <p:cNvSpPr txBox="1"/>
          <p:nvPr/>
        </p:nvSpPr>
        <p:spPr>
          <a:xfrm>
            <a:off x="9646920" y="7406640"/>
            <a:ext cx="7406640" cy="1783080"/>
          </a:xfrm>
          <a:prstGeom prst="rect">
            <a:avLst/>
          </a:prstGeom>
          <a:noFill/>
          <a:ln/>
        </p:spPr>
        <p:txBody>
          <a:bodyPr wrap="square" lIns="0" tIns="0" rIns="0" bIns="0" rtlCol="0" anchor="t"/>
          <a:lstStyle/>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National error rates, or which school is better</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Whether AI saves teachers time or improves learning</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an assistant would do if it had to find the rules itself</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par>
                                <p:cTn id="46" presetID="10" presetClass="entr" presetSubtype="0" fill="hold" nodeType="with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HOW THE STUDY WORKED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The same answer, released two ways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Two OpenAI Codex model settings, called Astra and Luna (Medium reasoning). Test materials were fixed and fingerprinted on September 15, 2026, before any answers were collected.</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10</a:t>
            </a:r>
            <a:endParaRPr lang="en-US" sz="1600" dirty="0"/>
          </a:p>
        </p:txBody>
      </p:sp>
      <p:sp>
        <p:nvSpPr>
          <p:cNvPr id="19" name="Shape 17"/>
          <p:cNvSpPr/>
          <p:nvPr/>
        </p:nvSpPr>
        <p:spPr>
          <a:xfrm>
            <a:off x="877824" y="2697480"/>
            <a:ext cx="5074920" cy="2240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Text 18"/>
          <p:cNvSpPr txBox="1"/>
          <p:nvPr/>
        </p:nvSpPr>
        <p:spPr>
          <a:xfrm>
            <a:off x="1243584" y="2834640"/>
            <a:ext cx="2194560" cy="1188720"/>
          </a:xfrm>
          <a:prstGeom prst="rect">
            <a:avLst/>
          </a:prstGeom>
          <a:noFill/>
          <a:ln/>
        </p:spPr>
        <p:txBody>
          <a:bodyPr wrap="square" lIns="0" tIns="0" rIns="0" bIns="0" rtlCol="0" anchor="t"/>
          <a:lstStyle/>
          <a:p>
            <a:pPr marL="0" indent="0">
              <a:buNone/>
            </a:pPr>
            <a:r>
              <a:rPr lang="en-US" sz="7200" dirty="0">
                <a:solidFill>
                  <a:srgbClr val="0B1F3A"/>
                </a:solidFill>
                <a:latin typeface="Georgia" pitchFamily="34" charset="0"/>
                <a:ea typeface="Georgia" pitchFamily="34" charset="-122"/>
                <a:cs typeface="Georgia" pitchFamily="34" charset="-120"/>
              </a:rPr>
              <a:t>24</a:t>
            </a:r>
            <a:endParaRPr lang="en-US" sz="7200" dirty="0"/>
          </a:p>
        </p:txBody>
      </p:sp>
      <p:sp>
        <p:nvSpPr>
          <p:cNvPr id="21" name="Text 19"/>
          <p:cNvSpPr txBox="1"/>
          <p:nvPr/>
        </p:nvSpPr>
        <p:spPr>
          <a:xfrm>
            <a:off x="3392424" y="3063240"/>
            <a:ext cx="2468880" cy="822960"/>
          </a:xfrm>
          <a:prstGeom prst="rect">
            <a:avLst/>
          </a:prstGeom>
          <a:noFill/>
          <a:ln/>
        </p:spPr>
        <p:txBody>
          <a:bodyPr wrap="square" lIns="0" tIns="0" rIns="0" bIns="0" rtlCol="0" anchor="ctr"/>
          <a:lstStyle/>
          <a:p>
            <a:pPr marL="0" indent="0">
              <a:buNone/>
            </a:pPr>
            <a:r>
              <a:rPr lang="en-US" sz="2800" b="1" dirty="0">
                <a:solidFill>
                  <a:srgbClr val="1E293B"/>
                </a:solidFill>
                <a:latin typeface="Arial" pitchFamily="34" charset="0"/>
                <a:ea typeface="Arial" pitchFamily="34" charset="-122"/>
                <a:cs typeface="Arial" pitchFamily="34" charset="-120"/>
              </a:rPr>
              <a:t>test cases</a:t>
            </a:r>
            <a:endParaRPr lang="en-US" sz="2800" dirty="0"/>
          </a:p>
        </p:txBody>
      </p:sp>
      <p:sp>
        <p:nvSpPr>
          <p:cNvPr id="22" name="Text 20"/>
          <p:cNvSpPr txBox="1"/>
          <p:nvPr/>
        </p:nvSpPr>
        <p:spPr>
          <a:xfrm>
            <a:off x="1243584" y="4023360"/>
            <a:ext cx="4343400" cy="822960"/>
          </a:xfrm>
          <a:prstGeom prst="rect">
            <a:avLst/>
          </a:prstGeom>
          <a:noFill/>
          <a:ln/>
        </p:spPr>
        <p:txBody>
          <a:bodyPr wrap="square" lIns="0" tIns="0" rIns="0" bIns="0" rtlCol="0" anchor="t"/>
          <a:lstStyle/>
          <a:p>
            <a:pPr marL="0" indent="0">
              <a:buNone/>
            </a:pPr>
            <a:r>
              <a:rPr lang="en-US" sz="2100" dirty="0">
                <a:solidFill>
                  <a:srgbClr val="4B5563"/>
                </a:solidFill>
                <a:latin typeface="Arial" pitchFamily="34" charset="0"/>
                <a:ea typeface="Arial" pitchFamily="34" charset="-122"/>
                <a:cs typeface="Arial" pitchFamily="34" charset="-120"/>
              </a:rPr>
              <a:t>built from published rules at 9 schools, each with an answer key</a:t>
            </a:r>
            <a:endParaRPr lang="en-US" sz="2100" dirty="0"/>
          </a:p>
        </p:txBody>
      </p:sp>
      <p:sp>
        <p:nvSpPr>
          <p:cNvPr id="23" name="Shape 21"/>
          <p:cNvSpPr/>
          <p:nvPr/>
        </p:nvSpPr>
        <p:spPr>
          <a:xfrm>
            <a:off x="6025896" y="3794760"/>
            <a:ext cx="502920" cy="0"/>
          </a:xfrm>
          <a:prstGeom prst="line">
            <a:avLst/>
          </a:prstGeom>
          <a:noFill/>
          <a:ln w="31750">
            <a:solidFill>
              <a:srgbClr val="0B1F3A"/>
            </a:solidFill>
            <a:prstDash val="solid"/>
            <a:tailEnd type="triangle"/>
          </a:ln>
        </p:spPr>
        <p:txBody>
          <a:bodyPr/>
          <a:lstStyle/>
          <a:p>
            <a:endParaRPr lang="en-US"/>
          </a:p>
        </p:txBody>
      </p:sp>
      <p:sp>
        <p:nvSpPr>
          <p:cNvPr id="24" name="Shape 22"/>
          <p:cNvSpPr/>
          <p:nvPr/>
        </p:nvSpPr>
        <p:spPr>
          <a:xfrm>
            <a:off x="6611112" y="2697480"/>
            <a:ext cx="5074920" cy="2240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6976872" y="2834640"/>
            <a:ext cx="2194560" cy="1188720"/>
          </a:xfrm>
          <a:prstGeom prst="rect">
            <a:avLst/>
          </a:prstGeom>
          <a:noFill/>
          <a:ln/>
        </p:spPr>
        <p:txBody>
          <a:bodyPr wrap="square" lIns="0" tIns="0" rIns="0" bIns="0" rtlCol="0" anchor="t"/>
          <a:lstStyle/>
          <a:p>
            <a:pPr marL="0" indent="0">
              <a:buNone/>
            </a:pPr>
            <a:r>
              <a:rPr lang="en-US" sz="7200" dirty="0">
                <a:solidFill>
                  <a:srgbClr val="0038A8"/>
                </a:solidFill>
                <a:latin typeface="Georgia" pitchFamily="34" charset="0"/>
                <a:ea typeface="Georgia" pitchFamily="34" charset="-122"/>
                <a:cs typeface="Georgia" pitchFamily="34" charset="-120"/>
              </a:rPr>
              <a:t>96</a:t>
            </a:r>
            <a:endParaRPr lang="en-US" sz="7200" dirty="0"/>
          </a:p>
        </p:txBody>
      </p:sp>
      <p:sp>
        <p:nvSpPr>
          <p:cNvPr id="26" name="Text 24"/>
          <p:cNvSpPr txBox="1"/>
          <p:nvPr/>
        </p:nvSpPr>
        <p:spPr>
          <a:xfrm>
            <a:off x="9125712" y="3063240"/>
            <a:ext cx="2468880" cy="822960"/>
          </a:xfrm>
          <a:prstGeom prst="rect">
            <a:avLst/>
          </a:prstGeom>
          <a:noFill/>
          <a:ln/>
        </p:spPr>
        <p:txBody>
          <a:bodyPr wrap="square" lIns="0" tIns="0" rIns="0" bIns="0" rtlCol="0" anchor="ctr"/>
          <a:lstStyle/>
          <a:p>
            <a:pPr marL="0" indent="0">
              <a:buNone/>
            </a:pPr>
            <a:r>
              <a:rPr lang="en-US" sz="2800" b="1" dirty="0">
                <a:solidFill>
                  <a:srgbClr val="1E293B"/>
                </a:solidFill>
                <a:latin typeface="Arial" pitchFamily="34" charset="0"/>
                <a:ea typeface="Arial" pitchFamily="34" charset="-122"/>
                <a:cs typeface="Arial" pitchFamily="34" charset="-120"/>
              </a:rPr>
              <a:t>AI answers</a:t>
            </a:r>
            <a:endParaRPr lang="en-US" sz="2800" dirty="0"/>
          </a:p>
        </p:txBody>
      </p:sp>
      <p:sp>
        <p:nvSpPr>
          <p:cNvPr id="27" name="Text 25"/>
          <p:cNvSpPr txBox="1"/>
          <p:nvPr/>
        </p:nvSpPr>
        <p:spPr>
          <a:xfrm>
            <a:off x="6976872" y="4023360"/>
            <a:ext cx="4343400" cy="822960"/>
          </a:xfrm>
          <a:prstGeom prst="rect">
            <a:avLst/>
          </a:prstGeom>
          <a:noFill/>
          <a:ln/>
        </p:spPr>
        <p:txBody>
          <a:bodyPr wrap="square" lIns="0" tIns="0" rIns="0" bIns="0" rtlCol="0" anchor="t"/>
          <a:lstStyle/>
          <a:p>
            <a:pPr marL="0" indent="0">
              <a:buNone/>
            </a:pPr>
            <a:r>
              <a:rPr lang="en-US" sz="2100" dirty="0">
                <a:solidFill>
                  <a:srgbClr val="4B5563"/>
                </a:solidFill>
                <a:latin typeface="Arial" pitchFamily="34" charset="0"/>
                <a:ea typeface="Arial" pitchFamily="34" charset="-122"/>
                <a:cs typeface="Arial" pitchFamily="34" charset="-120"/>
              </a:rPr>
              <a:t>2 model settings × 2 runs of every case</a:t>
            </a:r>
            <a:endParaRPr lang="en-US" sz="2100" dirty="0"/>
          </a:p>
        </p:txBody>
      </p:sp>
      <p:sp>
        <p:nvSpPr>
          <p:cNvPr id="28" name="Shape 26"/>
          <p:cNvSpPr/>
          <p:nvPr/>
        </p:nvSpPr>
        <p:spPr>
          <a:xfrm>
            <a:off x="11759184" y="3794760"/>
            <a:ext cx="502920" cy="0"/>
          </a:xfrm>
          <a:prstGeom prst="line">
            <a:avLst/>
          </a:prstGeom>
          <a:noFill/>
          <a:ln w="31750">
            <a:solidFill>
              <a:srgbClr val="0B1F3A"/>
            </a:solidFill>
            <a:prstDash val="solid"/>
            <a:tailEnd type="triangle"/>
          </a:ln>
        </p:spPr>
        <p:txBody>
          <a:bodyPr/>
          <a:lstStyle/>
          <a:p>
            <a:endParaRPr lang="en-US"/>
          </a:p>
        </p:txBody>
      </p:sp>
      <p:sp>
        <p:nvSpPr>
          <p:cNvPr id="29" name="Shape 27"/>
          <p:cNvSpPr/>
          <p:nvPr/>
        </p:nvSpPr>
        <p:spPr>
          <a:xfrm>
            <a:off x="12344400" y="2697480"/>
            <a:ext cx="5074920" cy="2240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Text 28"/>
          <p:cNvSpPr txBox="1"/>
          <p:nvPr/>
        </p:nvSpPr>
        <p:spPr>
          <a:xfrm>
            <a:off x="12710160" y="2834640"/>
            <a:ext cx="2194560" cy="1188720"/>
          </a:xfrm>
          <a:prstGeom prst="rect">
            <a:avLst/>
          </a:prstGeom>
          <a:noFill/>
          <a:ln/>
        </p:spPr>
        <p:txBody>
          <a:bodyPr wrap="square" lIns="0" tIns="0" rIns="0" bIns="0" rtlCol="0" anchor="t"/>
          <a:lstStyle/>
          <a:p>
            <a:pPr marL="0" indent="0">
              <a:buNone/>
            </a:pPr>
            <a:r>
              <a:rPr lang="en-US" sz="7200" dirty="0">
                <a:solidFill>
                  <a:srgbClr val="CE1126"/>
                </a:solidFill>
                <a:latin typeface="Georgia" pitchFamily="34" charset="0"/>
                <a:ea typeface="Georgia" pitchFamily="34" charset="-122"/>
                <a:cs typeface="Georgia" pitchFamily="34" charset="-120"/>
              </a:rPr>
              <a:t>192</a:t>
            </a:r>
            <a:endParaRPr lang="en-US" sz="7200" dirty="0"/>
          </a:p>
        </p:txBody>
      </p:sp>
      <p:sp>
        <p:nvSpPr>
          <p:cNvPr id="31" name="Text 29"/>
          <p:cNvSpPr txBox="1"/>
          <p:nvPr/>
        </p:nvSpPr>
        <p:spPr>
          <a:xfrm>
            <a:off x="14859000" y="3063240"/>
            <a:ext cx="2468880" cy="822960"/>
          </a:xfrm>
          <a:prstGeom prst="rect">
            <a:avLst/>
          </a:prstGeom>
          <a:noFill/>
          <a:ln/>
        </p:spPr>
        <p:txBody>
          <a:bodyPr wrap="square" lIns="0" tIns="0" rIns="0" bIns="0" rtlCol="0" anchor="ctr"/>
          <a:lstStyle/>
          <a:p>
            <a:pPr marL="0" indent="0">
              <a:buNone/>
            </a:pPr>
            <a:r>
              <a:rPr lang="en-US" sz="2800" b="1" dirty="0">
                <a:solidFill>
                  <a:srgbClr val="1E293B"/>
                </a:solidFill>
                <a:latin typeface="Arial" pitchFamily="34" charset="0"/>
                <a:ea typeface="Arial" pitchFamily="34" charset="-122"/>
                <a:cs typeface="Arial" pitchFamily="34" charset="-120"/>
              </a:rPr>
              <a:t>release records</a:t>
            </a:r>
            <a:endParaRPr lang="en-US" sz="2800" dirty="0"/>
          </a:p>
        </p:txBody>
      </p:sp>
      <p:sp>
        <p:nvSpPr>
          <p:cNvPr id="32" name="Text 30"/>
          <p:cNvSpPr txBox="1"/>
          <p:nvPr/>
        </p:nvSpPr>
        <p:spPr>
          <a:xfrm>
            <a:off x="12710160" y="4023360"/>
            <a:ext cx="4343400" cy="822960"/>
          </a:xfrm>
          <a:prstGeom prst="rect">
            <a:avLst/>
          </a:prstGeom>
          <a:noFill/>
          <a:ln/>
        </p:spPr>
        <p:txBody>
          <a:bodyPr wrap="square" lIns="0" tIns="0" rIns="0" bIns="0" rtlCol="0" anchor="t"/>
          <a:lstStyle/>
          <a:p>
            <a:pPr marL="0" indent="0">
              <a:buNone/>
            </a:pPr>
            <a:r>
              <a:rPr lang="en-US" sz="2100" dirty="0">
                <a:solidFill>
                  <a:srgbClr val="4B5563"/>
                </a:solidFill>
                <a:latin typeface="Arial" pitchFamily="34" charset="0"/>
                <a:ea typeface="Arial" pitchFamily="34" charset="-122"/>
                <a:cs typeface="Arial" pitchFamily="34" charset="-120"/>
              </a:rPr>
              <a:t>each answer shown directly, and again after checks</a:t>
            </a:r>
            <a:endParaRPr lang="en-US" sz="2100" dirty="0"/>
          </a:p>
        </p:txBody>
      </p:sp>
      <p:sp>
        <p:nvSpPr>
          <p:cNvPr id="33" name="Shape 31"/>
          <p:cNvSpPr/>
          <p:nvPr/>
        </p:nvSpPr>
        <p:spPr>
          <a:xfrm>
            <a:off x="877824" y="5257800"/>
            <a:ext cx="4023360" cy="28346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4" name="Text 32"/>
          <p:cNvSpPr txBox="1"/>
          <p:nvPr/>
        </p:nvSpPr>
        <p:spPr>
          <a:xfrm>
            <a:off x="1188720" y="5486400"/>
            <a:ext cx="3429000" cy="237744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One AI answer
</a:t>
            </a:r>
            <a:r>
              <a:rPr lang="en-US" sz="2100" dirty="0">
                <a:solidFill>
                  <a:srgbClr val="4B5563"/>
                </a:solidFill>
                <a:latin typeface="Arial" pitchFamily="34" charset="0"/>
                <a:ea typeface="Arial" pitchFamily="34" charset="-122"/>
                <a:cs typeface="Arial" pitchFamily="34" charset="-120"/>
              </a:rPr>
              <a:t>scored against the answer key with model names hidden</a:t>
            </a:r>
            <a:endParaRPr lang="en-US" sz="3000" dirty="0"/>
          </a:p>
        </p:txBody>
      </p:sp>
      <p:sp>
        <p:nvSpPr>
          <p:cNvPr id="35" name="Shape 33"/>
          <p:cNvSpPr/>
          <p:nvPr/>
        </p:nvSpPr>
        <p:spPr>
          <a:xfrm>
            <a:off x="4983480" y="6675120"/>
            <a:ext cx="1234440" cy="0"/>
          </a:xfrm>
          <a:prstGeom prst="line">
            <a:avLst/>
          </a:prstGeom>
          <a:noFill/>
          <a:ln w="31750">
            <a:solidFill>
              <a:srgbClr val="0B1F3A"/>
            </a:solidFill>
            <a:prstDash val="solid"/>
            <a:tailEnd type="triangle"/>
          </a:ln>
        </p:spPr>
        <p:txBody>
          <a:bodyPr/>
          <a:lstStyle/>
          <a:p>
            <a:endParaRPr lang="en-US"/>
          </a:p>
        </p:txBody>
      </p:sp>
      <p:sp>
        <p:nvSpPr>
          <p:cNvPr id="36" name="Shape 34"/>
          <p:cNvSpPr/>
          <p:nvPr/>
        </p:nvSpPr>
        <p:spPr>
          <a:xfrm>
            <a:off x="4983480" y="6675120"/>
            <a:ext cx="1234440" cy="914400"/>
          </a:xfrm>
          <a:prstGeom prst="line">
            <a:avLst/>
          </a:prstGeom>
          <a:noFill/>
          <a:ln w="31750">
            <a:solidFill>
              <a:srgbClr val="0B1F3A"/>
            </a:solidFill>
            <a:prstDash val="solid"/>
            <a:tailEnd type="triangle"/>
          </a:ln>
        </p:spPr>
        <p:txBody>
          <a:bodyPr/>
          <a:lstStyle/>
          <a:p>
            <a:endParaRPr lang="en-US"/>
          </a:p>
        </p:txBody>
      </p:sp>
      <p:sp>
        <p:nvSpPr>
          <p:cNvPr id="37" name="Shape 35"/>
          <p:cNvSpPr/>
          <p:nvPr/>
        </p:nvSpPr>
        <p:spPr>
          <a:xfrm>
            <a:off x="6355080" y="5166360"/>
            <a:ext cx="11055096" cy="1280160"/>
          </a:xfrm>
          <a:prstGeom prst="rect">
            <a:avLst/>
          </a:prstGeom>
          <a:solidFill>
            <a:srgbClr val="EEF3FB"/>
          </a:solidFill>
          <a:ln w="12700">
            <a:solidFill>
              <a:srgbClr val="EEF3FB"/>
            </a:solidFill>
            <a:prstDash val="solid"/>
          </a:ln>
        </p:spPr>
        <p:txBody>
          <a:bodyPr/>
          <a:lstStyle/>
          <a:p>
            <a:endParaRPr lang="en-US"/>
          </a:p>
        </p:txBody>
      </p:sp>
      <p:sp>
        <p:nvSpPr>
          <p:cNvPr id="38" name="Text 36"/>
          <p:cNvSpPr txBox="1"/>
          <p:nvPr/>
        </p:nvSpPr>
        <p:spPr>
          <a:xfrm>
            <a:off x="6675120" y="5257800"/>
            <a:ext cx="10515600" cy="109728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Route A · Shown directly   </a:t>
            </a:r>
            <a:r>
              <a:rPr lang="en-US" sz="2400" dirty="0">
                <a:solidFill>
                  <a:srgbClr val="4B5563"/>
                </a:solidFill>
                <a:latin typeface="Arial" pitchFamily="34" charset="0"/>
                <a:ea typeface="Arial" pitchFamily="34" charset="-122"/>
                <a:cs typeface="Arial" pitchFamily="34" charset="-120"/>
              </a:rPr>
              <a:t>the answer reaches the user as written</a:t>
            </a:r>
            <a:endParaRPr lang="en-US" sz="2400" dirty="0"/>
          </a:p>
        </p:txBody>
      </p:sp>
      <p:sp>
        <p:nvSpPr>
          <p:cNvPr id="39" name="Shape 37"/>
          <p:cNvSpPr/>
          <p:nvPr/>
        </p:nvSpPr>
        <p:spPr>
          <a:xfrm>
            <a:off x="6355080" y="6903720"/>
            <a:ext cx="11055096" cy="1280160"/>
          </a:xfrm>
          <a:prstGeom prst="rect">
            <a:avLst/>
          </a:prstGeom>
          <a:solidFill>
            <a:srgbClr val="E7F4EF"/>
          </a:solidFill>
          <a:ln w="12700">
            <a:solidFill>
              <a:srgbClr val="E7F4EF"/>
            </a:solidFill>
            <a:prstDash val="solid"/>
          </a:ln>
        </p:spPr>
        <p:txBody>
          <a:bodyPr/>
          <a:lstStyle/>
          <a:p>
            <a:endParaRPr lang="en-US"/>
          </a:p>
        </p:txBody>
      </p:sp>
      <p:sp>
        <p:nvSpPr>
          <p:cNvPr id="40" name="Text 38"/>
          <p:cNvSpPr txBox="1"/>
          <p:nvPr/>
        </p:nvSpPr>
        <p:spPr>
          <a:xfrm>
            <a:off x="6675120" y="6995160"/>
            <a:ext cx="10515600" cy="1097280"/>
          </a:xfrm>
          <a:prstGeom prst="rect">
            <a:avLst/>
          </a:prstGeom>
          <a:noFill/>
          <a:ln/>
        </p:spPr>
        <p:txBody>
          <a:bodyPr wrap="square" lIns="0" tIns="0" rIns="0" bIns="0" rtlCol="0" anchor="ctr"/>
          <a:lstStyle/>
          <a:p>
            <a:pPr marL="0" indent="0">
              <a:buNone/>
            </a:pPr>
            <a:r>
              <a:rPr lang="en-US" sz="2400" b="1" dirty="0">
                <a:solidFill>
                  <a:srgbClr val="0F7B5F"/>
                </a:solidFill>
                <a:latin typeface="Arial" pitchFamily="34" charset="0"/>
                <a:ea typeface="Arial" pitchFamily="34" charset="-122"/>
                <a:cs typeface="Arial" pitchFamily="34" charset="-120"/>
              </a:rPr>
              <a:t>Route B · Checked first   </a:t>
            </a:r>
            <a:r>
              <a:rPr lang="en-US" sz="2400" dirty="0">
                <a:solidFill>
                  <a:srgbClr val="4B5563"/>
                </a:solidFill>
                <a:latin typeface="Arial" pitchFamily="34" charset="0"/>
                <a:ea typeface="Arial" pitchFamily="34" charset="-122"/>
                <a:cs typeface="Arial" pitchFamily="34" charset="-120"/>
              </a:rPr>
              <a:t>four software checks can block it or send it to a person</a:t>
            </a:r>
            <a:endParaRPr lang="en-US" sz="2400" dirty="0"/>
          </a:p>
        </p:txBody>
      </p:sp>
      <p:sp>
        <p:nvSpPr>
          <p:cNvPr id="41" name="Shape 39"/>
          <p:cNvSpPr/>
          <p:nvPr/>
        </p:nvSpPr>
        <p:spPr>
          <a:xfrm>
            <a:off x="877824" y="8458200"/>
            <a:ext cx="16532352" cy="868680"/>
          </a:xfrm>
          <a:prstGeom prst="rect">
            <a:avLst/>
          </a:prstGeom>
          <a:solidFill>
            <a:srgbClr val="0B1F3A"/>
          </a:solidFill>
          <a:ln w="12700">
            <a:solidFill>
              <a:srgbClr val="0B1F3A"/>
            </a:solidFill>
            <a:prstDash val="solid"/>
          </a:ln>
        </p:spPr>
        <p:txBody>
          <a:bodyPr/>
          <a:lstStyle/>
          <a:p>
            <a:endParaRPr lang="en-US"/>
          </a:p>
        </p:txBody>
      </p:sp>
      <p:sp>
        <p:nvSpPr>
          <p:cNvPr id="42" name="Text 40"/>
          <p:cNvSpPr txBox="1"/>
          <p:nvPr/>
        </p:nvSpPr>
        <p:spPr>
          <a:xfrm>
            <a:off x="1280160" y="8549640"/>
            <a:ext cx="15727680" cy="6858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Because the answer is identical in both routes, any difference comes from the checks.</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400"/>
                                        <p:tgtEl>
                                          <p:spTgt spid="28"/>
                                        </p:tgtEl>
                                      </p:cBhvr>
                                    </p:animEffect>
                                  </p:childTnLst>
                                </p:cTn>
                              </p:par>
                              <p:par>
                                <p:cTn id="39" presetID="10"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par>
                                <p:cTn id="45" presetID="10"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3"/>
                                        </p:tgtEl>
                                        <p:attrNameLst>
                                          <p:attrName>style.visibility</p:attrName>
                                        </p:attrNameLst>
                                      </p:cBhvr>
                                      <p:to>
                                        <p:strVal val="visible"/>
                                      </p:to>
                                    </p:set>
                                    <p:animEffect transition="in" filter="fade">
                                      <p:cBhvr>
                                        <p:cTn id="55" dur="400"/>
                                        <p:tgtEl>
                                          <p:spTgt spid="33"/>
                                        </p:tgtEl>
                                      </p:cBhvr>
                                    </p:animEffect>
                                  </p:childTnLst>
                                </p:cTn>
                              </p:par>
                              <p:par>
                                <p:cTn id="56" presetID="10"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fade">
                                      <p:cBhvr>
                                        <p:cTn id="58"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400"/>
                                        <p:tgtEl>
                                          <p:spTgt spid="35"/>
                                        </p:tgtEl>
                                      </p:cBhvr>
                                    </p:animEffect>
                                  </p:childTnLst>
                                </p:cTn>
                              </p:par>
                              <p:par>
                                <p:cTn id="72" presetID="10" presetClass="entr" presetSubtype="0" fill="hold" nodeType="withEffect">
                                  <p:stCondLst>
                                    <p:cond delay="0"/>
                                  </p:stCondLst>
                                  <p:childTnLst>
                                    <p:set>
                                      <p:cBhvr>
                                        <p:cTn id="73" dur="1" fill="hold">
                                          <p:stCondLst>
                                            <p:cond delay="0"/>
                                          </p:stCondLst>
                                        </p:cTn>
                                        <p:tgtEl>
                                          <p:spTgt spid="36"/>
                                        </p:tgtEl>
                                        <p:attrNameLst>
                                          <p:attrName>style.visibility</p:attrName>
                                        </p:attrNameLst>
                                      </p:cBhvr>
                                      <p:to>
                                        <p:strVal val="visible"/>
                                      </p:to>
                                    </p:set>
                                    <p:animEffect transition="in" filter="fade">
                                      <p:cBhvr>
                                        <p:cTn id="74" dur="400"/>
                                        <p:tgtEl>
                                          <p:spTgt spid="36"/>
                                        </p:tgtEl>
                                      </p:cBhvr>
                                    </p:animEffect>
                                  </p:childTnLst>
                                </p:cTn>
                              </p:par>
                              <p:par>
                                <p:cTn id="75" presetID="10" presetClass="entr" presetSubtype="0" fill="hold" nodeType="withEffect">
                                  <p:stCondLst>
                                    <p:cond delay="0"/>
                                  </p:stCondLst>
                                  <p:childTnLst>
                                    <p:set>
                                      <p:cBhvr>
                                        <p:cTn id="76" dur="1" fill="hold">
                                          <p:stCondLst>
                                            <p:cond delay="0"/>
                                          </p:stCondLst>
                                        </p:cTn>
                                        <p:tgtEl>
                                          <p:spTgt spid="39"/>
                                        </p:tgtEl>
                                        <p:attrNameLst>
                                          <p:attrName>style.visibility</p:attrName>
                                        </p:attrNameLst>
                                      </p:cBhvr>
                                      <p:to>
                                        <p:strVal val="visible"/>
                                      </p:to>
                                    </p:set>
                                    <p:animEffect transition="in" filter="fade">
                                      <p:cBhvr>
                                        <p:cTn id="77" dur="400"/>
                                        <p:tgtEl>
                                          <p:spTgt spid="39"/>
                                        </p:tgtEl>
                                      </p:cBhvr>
                                    </p:animEffect>
                                  </p:childTnLst>
                                </p:cTn>
                              </p:par>
                              <p:par>
                                <p:cTn id="78" presetID="10" presetClass="entr" presetSubtype="0" fill="hold" nodeType="withEffect">
                                  <p:stCondLst>
                                    <p:cond delay="0"/>
                                  </p:stCondLst>
                                  <p:childTnLst>
                                    <p:set>
                                      <p:cBhvr>
                                        <p:cTn id="79" dur="1" fill="hold">
                                          <p:stCondLst>
                                            <p:cond delay="0"/>
                                          </p:stCondLst>
                                        </p:cTn>
                                        <p:tgtEl>
                                          <p:spTgt spid="40"/>
                                        </p:tgtEl>
                                        <p:attrNameLst>
                                          <p:attrName>style.visibility</p:attrName>
                                        </p:attrNameLst>
                                      </p:cBhvr>
                                      <p:to>
                                        <p:strVal val="visible"/>
                                      </p:to>
                                    </p:set>
                                    <p:animEffect transition="in" filter="fade">
                                      <p:cBhvr>
                                        <p:cTn id="80" dur="400"/>
                                        <p:tgtEl>
                                          <p:spTgt spid="40"/>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41"/>
                                        </p:tgtEl>
                                        <p:attrNameLst>
                                          <p:attrName>style.visibility</p:attrName>
                                        </p:attrNameLst>
                                      </p:cBhvr>
                                      <p:to>
                                        <p:strVal val="visible"/>
                                      </p:to>
                                    </p:set>
                                    <p:animEffect transition="in" filter="fade">
                                      <p:cBhvr>
                                        <p:cTn id="85" dur="400"/>
                                        <p:tgtEl>
                                          <p:spTgt spid="41"/>
                                        </p:tgtEl>
                                      </p:cBhvr>
                                    </p:animEffect>
                                  </p:childTnLst>
                                </p:cTn>
                              </p:par>
                              <p:par>
                                <p:cTn id="86" presetID="10" presetClass="entr" presetSubtype="0" fill="hold" nodeType="withEffect">
                                  <p:stCondLst>
                                    <p:cond delay="0"/>
                                  </p:stCondLst>
                                  <p:childTnLst>
                                    <p:set>
                                      <p:cBhvr>
                                        <p:cTn id="87" dur="1" fill="hold">
                                          <p:stCondLst>
                                            <p:cond delay="0"/>
                                          </p:stCondLst>
                                        </p:cTn>
                                        <p:tgtEl>
                                          <p:spTgt spid="42"/>
                                        </p:tgtEl>
                                        <p:attrNameLst>
                                          <p:attrName>style.visibility</p:attrName>
                                        </p:attrNameLst>
                                      </p:cBhvr>
                                      <p:to>
                                        <p:strVal val="visible"/>
                                      </p:to>
                                    </p:set>
                                    <p:animEffect transition="in" filter="fade">
                                      <p:cBhvr>
                                        <p:cTn id="88"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FROM RULE TO TEST CASE</a:t>
            </a:r>
            <a:endParaRPr lang="en-US" sz="2000" dirty="0"/>
          </a:p>
        </p:txBody>
      </p:sp>
      <p:sp>
        <p:nvSpPr>
          <p:cNvPr id="33"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4"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35"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6"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37"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38"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39"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0"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41"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2"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From published rule to test case: how W3-01 was built</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Source: Mapúa Malayan Colleges Mindanao, Modular System Guidelines, SY 2024–2025 (Table 1; Section 5.4). Case and answer key: github.com/bealambitco/ai-assessment-higher-education-ph (benchmark/cases and benchmark/answer-keys, W3-01).</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11</a:t>
            </a:r>
            <a:endParaRPr lang="en-US" sz="1600" dirty="0"/>
          </a:p>
        </p:txBody>
      </p:sp>
      <p:sp>
        <p:nvSpPr>
          <p:cNvPr id="9" name="Shape 7"/>
          <p:cNvSpPr/>
          <p:nvPr/>
        </p:nvSpPr>
        <p:spPr>
          <a:xfrm>
            <a:off x="877824"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Shape 8"/>
          <p:cNvSpPr/>
          <p:nvPr/>
        </p:nvSpPr>
        <p:spPr>
          <a:xfrm>
            <a:off x="1152144" y="6080760"/>
            <a:ext cx="594360" cy="594360"/>
          </a:xfrm>
          <a:prstGeom prst="ellipse">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152144"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2" name="Text 10"/>
          <p:cNvSpPr txBox="1"/>
          <p:nvPr/>
        </p:nvSpPr>
        <p:spPr>
          <a:xfrm>
            <a:off x="1883664"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Published rule</a:t>
            </a:r>
            <a:endParaRPr lang="en-US" sz="2200" dirty="0"/>
          </a:p>
        </p:txBody>
      </p:sp>
      <p:sp>
        <p:nvSpPr>
          <p:cNvPr id="13" name="Text 11"/>
          <p:cNvSpPr txBox="1"/>
          <p:nvPr/>
        </p:nvSpPr>
        <p:spPr>
          <a:xfrm>
            <a:off x="1152144"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Table 1 sets credit units per module; Section 5.4 weights the Module Grade Average by credit units.</a:t>
            </a:r>
            <a:endParaRPr lang="en-US" sz="1800" dirty="0"/>
          </a:p>
        </p:txBody>
      </p:sp>
      <p:sp>
        <p:nvSpPr>
          <p:cNvPr id="14" name="Shape 12"/>
          <p:cNvSpPr/>
          <p:nvPr/>
        </p:nvSpPr>
        <p:spPr>
          <a:xfrm>
            <a:off x="5102352"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5" name="Shape 13"/>
          <p:cNvSpPr/>
          <p:nvPr/>
        </p:nvSpPr>
        <p:spPr>
          <a:xfrm>
            <a:off x="5376672" y="6080760"/>
            <a:ext cx="594360" cy="594360"/>
          </a:xfrm>
          <a:prstGeom prst="ellipse">
            <a:avLst/>
          </a:prstGeom>
          <a:solidFill>
            <a:srgbClr val="0F7B5F"/>
          </a:solidFill>
          <a:ln w="12700">
            <a:solidFill>
              <a:srgbClr val="0F7B5F"/>
            </a:solidFill>
            <a:prstDash val="solid"/>
          </a:ln>
        </p:spPr>
        <p:txBody>
          <a:bodyPr/>
          <a:lstStyle/>
          <a:p>
            <a:endParaRPr lang="en-US"/>
          </a:p>
        </p:txBody>
      </p:sp>
      <p:sp>
        <p:nvSpPr>
          <p:cNvPr id="16" name="Text 14"/>
          <p:cNvSpPr txBox="1"/>
          <p:nvPr/>
        </p:nvSpPr>
        <p:spPr>
          <a:xfrm>
            <a:off x="5376672"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7" name="Text 15"/>
          <p:cNvSpPr txBox="1"/>
          <p:nvPr/>
        </p:nvSpPr>
        <p:spPr>
          <a:xfrm>
            <a:off x="6108192"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Case scenario</a:t>
            </a:r>
            <a:endParaRPr lang="en-US" sz="2200" dirty="0"/>
          </a:p>
        </p:txBody>
      </p:sp>
      <p:sp>
        <p:nvSpPr>
          <p:cNvPr id="18" name="Text 16"/>
          <p:cNvSpPr txBox="1"/>
          <p:nvPr/>
        </p:nvSpPr>
        <p:spPr>
          <a:xfrm>
            <a:off x="5376672"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An audit proposes weighting three modules by teaching weeks (5, 4 and 4); each module carries 1.0 credit unit.</a:t>
            </a:r>
            <a:endParaRPr lang="en-US" sz="1800" dirty="0"/>
          </a:p>
        </p:txBody>
      </p:sp>
      <p:sp>
        <p:nvSpPr>
          <p:cNvPr id="19" name="Shape 17"/>
          <p:cNvSpPr/>
          <p:nvPr/>
        </p:nvSpPr>
        <p:spPr>
          <a:xfrm>
            <a:off x="9326880"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9601200" y="6080760"/>
            <a:ext cx="594360" cy="594360"/>
          </a:xfrm>
          <a:prstGeom prst="ellipse">
            <a:avLst/>
          </a:prstGeom>
          <a:solidFill>
            <a:srgbClr val="8A6100"/>
          </a:solidFill>
          <a:ln w="12700">
            <a:solidFill>
              <a:srgbClr val="8A6100"/>
            </a:solidFill>
            <a:prstDash val="solid"/>
          </a:ln>
        </p:spPr>
        <p:txBody>
          <a:bodyPr/>
          <a:lstStyle/>
          <a:p>
            <a:endParaRPr lang="en-US"/>
          </a:p>
        </p:txBody>
      </p:sp>
      <p:sp>
        <p:nvSpPr>
          <p:cNvPr id="21" name="Text 19"/>
          <p:cNvSpPr txBox="1"/>
          <p:nvPr/>
        </p:nvSpPr>
        <p:spPr>
          <a:xfrm>
            <a:off x="9601200"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2" name="Text 20"/>
          <p:cNvSpPr txBox="1"/>
          <p:nvPr/>
        </p:nvSpPr>
        <p:spPr>
          <a:xfrm>
            <a:off x="10332720"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Answer key</a:t>
            </a:r>
            <a:endParaRPr lang="en-US" sz="2200" dirty="0"/>
          </a:p>
        </p:txBody>
      </p:sp>
      <p:sp>
        <p:nvSpPr>
          <p:cNvPr id="23" name="Text 21"/>
          <p:cNvSpPr txBox="1"/>
          <p:nvPr/>
        </p:nvSpPr>
        <p:spPr>
          <a:xfrm>
            <a:off x="9601200"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Credits, not weeks, are the weights: (1.50 + 2.25 + 2.00) / 3 = 1.9167. Keep it separate from any official grade conversion.</a:t>
            </a:r>
            <a:endParaRPr lang="en-US" sz="1800" dirty="0"/>
          </a:p>
        </p:txBody>
      </p:sp>
      <p:sp>
        <p:nvSpPr>
          <p:cNvPr id="24" name="Shape 22"/>
          <p:cNvSpPr/>
          <p:nvPr/>
        </p:nvSpPr>
        <p:spPr>
          <a:xfrm>
            <a:off x="13551408"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13825728" y="6080760"/>
            <a:ext cx="594360" cy="594360"/>
          </a:xfrm>
          <a:prstGeom prst="ellipse">
            <a:avLst/>
          </a:prstGeom>
          <a:solidFill>
            <a:srgbClr val="CE1126"/>
          </a:solidFill>
          <a:ln w="12700">
            <a:solidFill>
              <a:srgbClr val="CE1126"/>
            </a:solidFill>
            <a:prstDash val="solid"/>
          </a:ln>
        </p:spPr>
        <p:txBody>
          <a:bodyPr/>
          <a:lstStyle/>
          <a:p>
            <a:endParaRPr lang="en-US"/>
          </a:p>
        </p:txBody>
      </p:sp>
      <p:sp>
        <p:nvSpPr>
          <p:cNvPr id="26" name="Text 24"/>
          <p:cNvSpPr txBox="1"/>
          <p:nvPr/>
        </p:nvSpPr>
        <p:spPr>
          <a:xfrm>
            <a:off x="13825728"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7" name="Text 25"/>
          <p:cNvSpPr txBox="1"/>
          <p:nvPr/>
        </p:nvSpPr>
        <p:spPr>
          <a:xfrm>
            <a:off x="14557248"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Freeze and score</a:t>
            </a:r>
            <a:endParaRPr lang="en-US" sz="2200" dirty="0"/>
          </a:p>
        </p:txBody>
      </p:sp>
      <p:sp>
        <p:nvSpPr>
          <p:cNvPr id="28" name="Text 26"/>
          <p:cNvSpPr txBox="1"/>
          <p:nvPr/>
        </p:nvSpPr>
        <p:spPr>
          <a:xfrm>
            <a:off x="13825728"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Case, key and checks were hashed on September 15; answers await scoring on three criteria, and the arithmetic check recomputes the average (it passed at 1.9167).</a:t>
            </a:r>
            <a:endParaRPr lang="en-US" sz="1800" dirty="0"/>
          </a:p>
        </p:txBody>
      </p:sp>
      <p:sp>
        <p:nvSpPr>
          <p:cNvPr id="29" name="Shape 27"/>
          <p:cNvSpPr/>
          <p:nvPr/>
        </p:nvSpPr>
        <p:spPr>
          <a:xfrm>
            <a:off x="877824" y="2514600"/>
            <a:ext cx="8138160" cy="3063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30" name="Image 0" descr="Source excerpt"/>
          <p:cNvPicPr>
            <a:picLocks noChangeAspect="1"/>
          </p:cNvPicPr>
          <p:nvPr/>
        </p:nvPicPr>
        <p:blipFill>
          <a:blip r:embed="rId3"/>
          <a:stretch>
            <a:fillRect/>
          </a:stretch>
        </p:blipFill>
        <p:spPr>
          <a:xfrm>
            <a:off x="2925477" y="2651760"/>
            <a:ext cx="4042853" cy="2788920"/>
          </a:xfrm>
          <a:prstGeom prst="rect">
            <a:avLst/>
          </a:prstGeom>
        </p:spPr>
      </p:pic>
      <p:sp>
        <p:nvSpPr>
          <p:cNvPr id="31" name="Shape 28"/>
          <p:cNvSpPr/>
          <p:nvPr/>
        </p:nvSpPr>
        <p:spPr>
          <a:xfrm>
            <a:off x="9235440" y="2514600"/>
            <a:ext cx="8138160" cy="3063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32" name="Image 1" descr="Source excerpt"/>
          <p:cNvPicPr>
            <a:picLocks noChangeAspect="1"/>
          </p:cNvPicPr>
          <p:nvPr/>
        </p:nvPicPr>
        <p:blipFill>
          <a:blip r:embed="rId4"/>
          <a:stretch>
            <a:fillRect/>
          </a:stretch>
        </p:blipFill>
        <p:spPr>
          <a:xfrm>
            <a:off x="9372600" y="2651760"/>
            <a:ext cx="7863840" cy="2333920"/>
          </a:xfrm>
          <a:prstGeom prst="rect">
            <a:avLst/>
          </a:prstGeom>
        </p:spPr>
      </p:pic>
    </p:spTree>
    <p:extLst>
      <p:ext uri="{BB962C8B-B14F-4D97-AF65-F5344CB8AC3E}">
        <p14:creationId xmlns:p14="http://schemas.microsoft.com/office/powerpoint/2010/main" val="409837709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00"/>
                                        <p:tgtEl>
                                          <p:spTgt spid="17"/>
                                        </p:tgtEl>
                                      </p:cBhvr>
                                    </p:animEffect>
                                  </p:childTnLst>
                                </p:cTn>
                              </p:par>
                              <p:par>
                                <p:cTn id="34" presetID="10" presetClass="entr" presetSubtype="0" fill="hold"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00"/>
                                        <p:tgtEl>
                                          <p:spTgt spid="1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par>
                                <p:cTn id="45" presetID="10" presetClass="entr" presetSubtype="0" fill="hold"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00"/>
                                        <p:tgtEl>
                                          <p:spTgt spid="21"/>
                                        </p:tgtEl>
                                      </p:cBhvr>
                                    </p:animEffect>
                                  </p:childTnLst>
                                </p:cTn>
                              </p:par>
                              <p:par>
                                <p:cTn id="48" presetID="10" presetClass="entr" presetSubtype="0" fill="hold" nodeType="with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400"/>
                                        <p:tgtEl>
                                          <p:spTgt spid="22"/>
                                        </p:tgtEl>
                                      </p:cBhvr>
                                    </p:animEffect>
                                  </p:childTnLst>
                                </p:cTn>
                              </p:par>
                              <p:par>
                                <p:cTn id="51" presetID="10"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400"/>
                                        <p:tgtEl>
                                          <p:spTgt spid="2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par>
                                <p:cTn id="59" presetID="10" presetClass="entr" presetSubtype="0" fill="hold"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400"/>
                                        <p:tgtEl>
                                          <p:spTgt spid="25"/>
                                        </p:tgtEl>
                                      </p:cBhvr>
                                    </p:animEffect>
                                  </p:childTnLst>
                                </p:cTn>
                              </p:par>
                              <p:par>
                                <p:cTn id="62" presetID="10" presetClass="entr" presetSubtype="0" fill="hold"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par>
                                <p:cTn id="65" presetID="10" presetClass="entr" presetSubtype="0" fill="hold" nodeType="with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400"/>
                                        <p:tgtEl>
                                          <p:spTgt spid="27"/>
                                        </p:tgtEl>
                                      </p:cBhvr>
                                    </p:animEffect>
                                  </p:childTnLst>
                                </p:cTn>
                              </p:par>
                              <p:par>
                                <p:cTn id="68" presetID="10" presetClass="entr" presetSubtype="0" fill="hold" nodeType="withEffect">
                                  <p:stCondLst>
                                    <p:cond delay="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HOW RESULTS ARE COUNTED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Every answer ends up in one of four boxes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“Serious” means a major or critical error. Critical errors include acting beyond the assistant’s authority. Unscored answers stay in the total of 48 per model and route.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12</a:t>
            </a:r>
            <a:endParaRPr lang="en-US" sz="1600" dirty="0"/>
          </a:p>
        </p:txBody>
      </p:sp>
      <p:sp>
        <p:nvSpPr>
          <p:cNvPr id="19" name="Text 17"/>
          <p:cNvSpPr txBox="1"/>
          <p:nvPr/>
        </p:nvSpPr>
        <p:spPr>
          <a:xfrm>
            <a:off x="5577840" y="2697480"/>
            <a:ext cx="5806440" cy="457200"/>
          </a:xfrm>
          <a:prstGeom prst="rect">
            <a:avLst/>
          </a:prstGeom>
          <a:noFill/>
          <a:ln/>
        </p:spPr>
        <p:txBody>
          <a:bodyPr wrap="square" lIns="0" tIns="0" rIns="0" bIns="0" rtlCol="0" anchor="t"/>
          <a:lstStyle/>
          <a:p>
            <a:pPr marL="0" indent="0" algn="ctr">
              <a:buNone/>
            </a:pPr>
            <a:r>
              <a:rPr lang="en-US" sz="2000" b="1" kern="0" spc="100" dirty="0">
                <a:solidFill>
                  <a:srgbClr val="4B5563"/>
                </a:solidFill>
                <a:latin typeface="Arial" pitchFamily="34" charset="0"/>
                <a:ea typeface="Arial" pitchFamily="34" charset="-122"/>
                <a:cs typeface="Arial" pitchFamily="34" charset="-120"/>
              </a:rPr>
              <a:t>REACHED THE USER</a:t>
            </a:r>
            <a:endParaRPr lang="en-US" sz="2000" dirty="0"/>
          </a:p>
        </p:txBody>
      </p:sp>
      <p:sp>
        <p:nvSpPr>
          <p:cNvPr id="20" name="Text 18"/>
          <p:cNvSpPr txBox="1"/>
          <p:nvPr/>
        </p:nvSpPr>
        <p:spPr>
          <a:xfrm>
            <a:off x="11603736" y="2697480"/>
            <a:ext cx="5806440" cy="457200"/>
          </a:xfrm>
          <a:prstGeom prst="rect">
            <a:avLst/>
          </a:prstGeom>
          <a:noFill/>
          <a:ln/>
        </p:spPr>
        <p:txBody>
          <a:bodyPr wrap="square" lIns="0" tIns="0" rIns="0" bIns="0" rtlCol="0" anchor="t"/>
          <a:lstStyle/>
          <a:p>
            <a:pPr marL="0" indent="0" algn="ctr">
              <a:buNone/>
            </a:pPr>
            <a:r>
              <a:rPr lang="en-US" sz="2000" b="1" kern="0" spc="100" dirty="0">
                <a:solidFill>
                  <a:srgbClr val="4B5563"/>
                </a:solidFill>
                <a:latin typeface="Arial" pitchFamily="34" charset="0"/>
                <a:ea typeface="Arial" pitchFamily="34" charset="-122"/>
                <a:cs typeface="Arial" pitchFamily="34" charset="-120"/>
              </a:rPr>
              <a:t>HELD BACK</a:t>
            </a:r>
            <a:endParaRPr lang="en-US" sz="2000" dirty="0"/>
          </a:p>
        </p:txBody>
      </p:sp>
      <p:sp>
        <p:nvSpPr>
          <p:cNvPr id="21" name="Text 19"/>
          <p:cNvSpPr txBox="1"/>
          <p:nvPr/>
        </p:nvSpPr>
        <p:spPr>
          <a:xfrm>
            <a:off x="877824" y="3383280"/>
            <a:ext cx="4480560" cy="2514600"/>
          </a:xfrm>
          <a:prstGeom prst="rect">
            <a:avLst/>
          </a:prstGeom>
          <a:noFill/>
          <a:ln/>
        </p:spPr>
        <p:txBody>
          <a:bodyPr wrap="square" lIns="0" tIns="0" rIns="0" bIns="0" rtlCol="0" anchor="ctr"/>
          <a:lstStyle/>
          <a:p>
            <a:pPr marL="0" indent="0">
              <a:buNone/>
            </a:pPr>
            <a:r>
              <a:rPr lang="en-US" sz="3200" dirty="0">
                <a:solidFill>
                  <a:srgbClr val="0B1F3A"/>
                </a:solidFill>
                <a:latin typeface="Georgia" pitchFamily="34" charset="0"/>
                <a:ea typeface="Georgia" pitchFamily="34" charset="-122"/>
                <a:cs typeface="Georgia" pitchFamily="34" charset="-120"/>
              </a:rPr>
              <a:t>Acceptable answer</a:t>
            </a:r>
            <a:endParaRPr lang="en-US" sz="3200" dirty="0"/>
          </a:p>
        </p:txBody>
      </p:sp>
      <p:sp>
        <p:nvSpPr>
          <p:cNvPr id="22" name="Shape 20"/>
          <p:cNvSpPr/>
          <p:nvPr/>
        </p:nvSpPr>
        <p:spPr>
          <a:xfrm>
            <a:off x="5577840" y="3246120"/>
            <a:ext cx="5806440" cy="2606040"/>
          </a:xfrm>
          <a:prstGeom prst="rect">
            <a:avLst/>
          </a:prstGeom>
          <a:solidFill>
            <a:srgbClr val="E7F4EF"/>
          </a:solidFill>
          <a:ln w="12700">
            <a:solidFill>
              <a:srgbClr val="E7F4EF"/>
            </a:solidFill>
            <a:prstDash val="solid"/>
          </a:ln>
        </p:spPr>
        <p:txBody>
          <a:bodyPr/>
          <a:lstStyle/>
          <a:p>
            <a:endParaRPr lang="en-US"/>
          </a:p>
        </p:txBody>
      </p:sp>
      <p:sp>
        <p:nvSpPr>
          <p:cNvPr id="23" name="Text 21"/>
          <p:cNvSpPr txBox="1"/>
          <p:nvPr/>
        </p:nvSpPr>
        <p:spPr>
          <a:xfrm>
            <a:off x="5989320" y="3657600"/>
            <a:ext cx="4937760" cy="777240"/>
          </a:xfrm>
          <a:prstGeom prst="rect">
            <a:avLst/>
          </a:prstGeom>
          <a:noFill/>
          <a:ln/>
        </p:spPr>
        <p:txBody>
          <a:bodyPr wrap="square" lIns="0" tIns="0" rIns="0" bIns="0" rtlCol="0" anchor="t"/>
          <a:lstStyle/>
          <a:p>
            <a:pPr marL="0" indent="0">
              <a:buNone/>
            </a:pPr>
            <a:r>
              <a:rPr lang="en-US" sz="3600" dirty="0">
                <a:solidFill>
                  <a:srgbClr val="0F7B5F"/>
                </a:solidFill>
                <a:latin typeface="Georgia" pitchFamily="34" charset="0"/>
                <a:ea typeface="Georgia" pitchFamily="34" charset="-122"/>
                <a:cs typeface="Georgia" pitchFamily="34" charset="-120"/>
              </a:rPr>
              <a:t>Useful help</a:t>
            </a:r>
            <a:endParaRPr lang="en-US" sz="3600" dirty="0"/>
          </a:p>
        </p:txBody>
      </p:sp>
      <p:sp>
        <p:nvSpPr>
          <p:cNvPr id="24" name="Text 22"/>
          <p:cNvSpPr txBox="1"/>
          <p:nvPr/>
        </p:nvSpPr>
        <p:spPr>
          <a:xfrm>
            <a:off x="5989320" y="457200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The student or staff member gets a sound answer</a:t>
            </a:r>
            <a:endParaRPr lang="en-US" sz="2400" dirty="0"/>
          </a:p>
        </p:txBody>
      </p:sp>
      <p:sp>
        <p:nvSpPr>
          <p:cNvPr id="25" name="Shape 23"/>
          <p:cNvSpPr/>
          <p:nvPr/>
        </p:nvSpPr>
        <p:spPr>
          <a:xfrm>
            <a:off x="11603736" y="3246120"/>
            <a:ext cx="5806440" cy="2606040"/>
          </a:xfrm>
          <a:prstGeom prst="rect">
            <a:avLst/>
          </a:prstGeom>
          <a:solidFill>
            <a:srgbClr val="EEF3FB"/>
          </a:solidFill>
          <a:ln w="12700">
            <a:solidFill>
              <a:srgbClr val="EEF3FB"/>
            </a:solidFill>
            <a:prstDash val="solid"/>
          </a:ln>
        </p:spPr>
        <p:txBody>
          <a:bodyPr/>
          <a:lstStyle/>
          <a:p>
            <a:endParaRPr lang="en-US"/>
          </a:p>
        </p:txBody>
      </p:sp>
      <p:sp>
        <p:nvSpPr>
          <p:cNvPr id="26" name="Text 24"/>
          <p:cNvSpPr txBox="1"/>
          <p:nvPr/>
        </p:nvSpPr>
        <p:spPr>
          <a:xfrm>
            <a:off x="12015216" y="3657600"/>
            <a:ext cx="4937760" cy="777240"/>
          </a:xfrm>
          <a:prstGeom prst="rect">
            <a:avLst/>
          </a:prstGeom>
          <a:noFill/>
          <a:ln/>
        </p:spPr>
        <p:txBody>
          <a:bodyPr wrap="square" lIns="0" tIns="0" rIns="0" bIns="0" rtlCol="0" anchor="t"/>
          <a:lstStyle/>
          <a:p>
            <a:pPr marL="0" indent="0">
              <a:buNone/>
            </a:pPr>
            <a:r>
              <a:rPr lang="en-US" sz="3600" dirty="0">
                <a:solidFill>
                  <a:srgbClr val="0038A8"/>
                </a:solidFill>
                <a:latin typeface="Georgia" pitchFamily="34" charset="0"/>
                <a:ea typeface="Georgia" pitchFamily="34" charset="-122"/>
                <a:cs typeface="Georgia" pitchFamily="34" charset="-120"/>
              </a:rPr>
              <a:t>Help held back</a:t>
            </a:r>
            <a:endParaRPr lang="en-US" sz="3600" dirty="0"/>
          </a:p>
        </p:txBody>
      </p:sp>
      <p:sp>
        <p:nvSpPr>
          <p:cNvPr id="27" name="Text 25"/>
          <p:cNvSpPr txBox="1"/>
          <p:nvPr/>
        </p:nvSpPr>
        <p:spPr>
          <a:xfrm>
            <a:off x="12015216" y="457200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 sound answer is sent to a person or blocked</a:t>
            </a:r>
            <a:endParaRPr lang="en-US" sz="2400" dirty="0"/>
          </a:p>
        </p:txBody>
      </p:sp>
      <p:sp>
        <p:nvSpPr>
          <p:cNvPr id="28" name="Text 26"/>
          <p:cNvSpPr txBox="1"/>
          <p:nvPr/>
        </p:nvSpPr>
        <p:spPr>
          <a:xfrm>
            <a:off x="877824" y="6172200"/>
            <a:ext cx="4480560" cy="2514600"/>
          </a:xfrm>
          <a:prstGeom prst="rect">
            <a:avLst/>
          </a:prstGeom>
          <a:noFill/>
          <a:ln/>
        </p:spPr>
        <p:txBody>
          <a:bodyPr wrap="square" lIns="0" tIns="0" rIns="0" bIns="0" rtlCol="0" anchor="ctr"/>
          <a:lstStyle/>
          <a:p>
            <a:pPr marL="0" indent="0">
              <a:buNone/>
            </a:pPr>
            <a:r>
              <a:rPr lang="en-US" sz="3200" dirty="0">
                <a:solidFill>
                  <a:srgbClr val="0B1F3A"/>
                </a:solidFill>
                <a:latin typeface="Georgia" pitchFamily="34" charset="0"/>
                <a:ea typeface="Georgia" pitchFamily="34" charset="-122"/>
                <a:cs typeface="Georgia" pitchFamily="34" charset="-120"/>
              </a:rPr>
              <a:t>Serious error</a:t>
            </a:r>
            <a:endParaRPr lang="en-US" sz="3200" dirty="0"/>
          </a:p>
        </p:txBody>
      </p:sp>
      <p:sp>
        <p:nvSpPr>
          <p:cNvPr id="29" name="Shape 27"/>
          <p:cNvSpPr/>
          <p:nvPr/>
        </p:nvSpPr>
        <p:spPr>
          <a:xfrm>
            <a:off x="5577840" y="6035040"/>
            <a:ext cx="5806440" cy="2606040"/>
          </a:xfrm>
          <a:prstGeom prst="rect">
            <a:avLst/>
          </a:prstGeom>
          <a:solidFill>
            <a:srgbClr val="FBEBEC"/>
          </a:solidFill>
          <a:ln w="12700">
            <a:solidFill>
              <a:srgbClr val="FBEBEC"/>
            </a:solidFill>
            <a:prstDash val="solid"/>
          </a:ln>
        </p:spPr>
        <p:txBody>
          <a:bodyPr/>
          <a:lstStyle/>
          <a:p>
            <a:endParaRPr lang="en-US"/>
          </a:p>
        </p:txBody>
      </p:sp>
      <p:sp>
        <p:nvSpPr>
          <p:cNvPr id="30" name="Text 28"/>
          <p:cNvSpPr txBox="1"/>
          <p:nvPr/>
        </p:nvSpPr>
        <p:spPr>
          <a:xfrm>
            <a:off x="5989320" y="6446520"/>
            <a:ext cx="4937760" cy="777240"/>
          </a:xfrm>
          <a:prstGeom prst="rect">
            <a:avLst/>
          </a:prstGeom>
          <a:noFill/>
          <a:ln/>
        </p:spPr>
        <p:txBody>
          <a:bodyPr wrap="square" lIns="0" tIns="0" rIns="0" bIns="0" rtlCol="0" anchor="t"/>
          <a:lstStyle/>
          <a:p>
            <a:pPr marL="0" indent="0">
              <a:buNone/>
            </a:pPr>
            <a:r>
              <a:rPr lang="en-US" sz="3600" dirty="0">
                <a:solidFill>
                  <a:srgbClr val="CE1126"/>
                </a:solidFill>
                <a:latin typeface="Georgia" pitchFamily="34" charset="0"/>
                <a:ea typeface="Georgia" pitchFamily="34" charset="-122"/>
                <a:cs typeface="Georgia" pitchFamily="34" charset="-120"/>
              </a:rPr>
              <a:t>Harm gets through</a:t>
            </a:r>
            <a:endParaRPr lang="en-US" sz="3600" dirty="0"/>
          </a:p>
        </p:txBody>
      </p:sp>
      <p:sp>
        <p:nvSpPr>
          <p:cNvPr id="31" name="Text 29"/>
          <p:cNvSpPr txBox="1"/>
          <p:nvPr/>
        </p:nvSpPr>
        <p:spPr>
          <a:xfrm>
            <a:off x="5989320" y="736092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 wrong answer reaches the user</a:t>
            </a:r>
            <a:endParaRPr lang="en-US" sz="2400" dirty="0"/>
          </a:p>
        </p:txBody>
      </p:sp>
      <p:sp>
        <p:nvSpPr>
          <p:cNvPr id="32" name="Shape 30"/>
          <p:cNvSpPr/>
          <p:nvPr/>
        </p:nvSpPr>
        <p:spPr>
          <a:xfrm>
            <a:off x="11603736" y="6035040"/>
            <a:ext cx="5806440" cy="2606040"/>
          </a:xfrm>
          <a:prstGeom prst="rect">
            <a:avLst/>
          </a:prstGeom>
          <a:solidFill>
            <a:srgbClr val="FFF6D9"/>
          </a:solidFill>
          <a:ln w="12700">
            <a:solidFill>
              <a:srgbClr val="FFF6D9"/>
            </a:solidFill>
            <a:prstDash val="solid"/>
          </a:ln>
        </p:spPr>
        <p:txBody>
          <a:bodyPr/>
          <a:lstStyle/>
          <a:p>
            <a:endParaRPr lang="en-US"/>
          </a:p>
        </p:txBody>
      </p:sp>
      <p:sp>
        <p:nvSpPr>
          <p:cNvPr id="33" name="Text 31"/>
          <p:cNvSpPr txBox="1"/>
          <p:nvPr/>
        </p:nvSpPr>
        <p:spPr>
          <a:xfrm>
            <a:off x="12015216" y="6446520"/>
            <a:ext cx="4937760" cy="777240"/>
          </a:xfrm>
          <a:prstGeom prst="rect">
            <a:avLst/>
          </a:prstGeom>
          <a:noFill/>
          <a:ln/>
        </p:spPr>
        <p:txBody>
          <a:bodyPr wrap="square" lIns="0" tIns="0" rIns="0" bIns="0" rtlCol="0" anchor="t"/>
          <a:lstStyle/>
          <a:p>
            <a:pPr marL="0" indent="0">
              <a:buNone/>
            </a:pPr>
            <a:r>
              <a:rPr lang="en-US" sz="3600" dirty="0">
                <a:solidFill>
                  <a:srgbClr val="8A6100"/>
                </a:solidFill>
                <a:latin typeface="Georgia" pitchFamily="34" charset="0"/>
                <a:ea typeface="Georgia" pitchFamily="34" charset="-122"/>
                <a:cs typeface="Georgia" pitchFamily="34" charset="-120"/>
              </a:rPr>
              <a:t>Error stopped</a:t>
            </a:r>
            <a:endParaRPr lang="en-US" sz="3600" dirty="0"/>
          </a:p>
        </p:txBody>
      </p:sp>
      <p:sp>
        <p:nvSpPr>
          <p:cNvPr id="34" name="Text 32"/>
          <p:cNvSpPr txBox="1"/>
          <p:nvPr/>
        </p:nvSpPr>
        <p:spPr>
          <a:xfrm>
            <a:off x="12015216" y="736092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Held back for now; a person still has to catch it</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par>
                                <p:cTn id="19" presetID="10" presetClass="entr" presetSubtype="0" fill="hold"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400"/>
                                        <p:tgtEl>
                                          <p:spTgt spid="26"/>
                                        </p:tgtEl>
                                      </p:cBhvr>
                                    </p:animEffect>
                                  </p:childTnLst>
                                </p:cTn>
                              </p:par>
                              <p:par>
                                <p:cTn id="22" presetID="10" presetClass="entr" presetSubtype="0"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WHAT THE CHECKS CHANGED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No harm to stop, some help held back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60 of 96 answers read, 30 per model and route, from 15 complete cases in an order fixed before reading, and including every answer the checks held back. Not national rates. Unread answers and uncertainty ranges are in the paper, Table 3 and Appendix G.</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13</a:t>
            </a:r>
            <a:endParaRPr lang="en-US" sz="1600" dirty="0"/>
          </a:p>
        </p:txBody>
      </p:sp>
      <p:sp>
        <p:nvSpPr>
          <p:cNvPr id="19" name="Shape 17"/>
          <p:cNvSpPr/>
          <p:nvPr/>
        </p:nvSpPr>
        <p:spPr>
          <a:xfrm>
            <a:off x="877824" y="2697480"/>
            <a:ext cx="8147304" cy="47548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20" name="Chart 0"/>
          <p:cNvGraphicFramePr/>
          <p:nvPr/>
        </p:nvGraphicFramePr>
        <p:xfrm>
          <a:off x="1060704" y="2788920"/>
          <a:ext cx="777240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8"/>
          <p:cNvSpPr/>
          <p:nvPr/>
        </p:nvSpPr>
        <p:spPr>
          <a:xfrm>
            <a:off x="9262872" y="2697480"/>
            <a:ext cx="8147304" cy="47548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22" name="Chart 1"/>
          <p:cNvGraphicFramePr/>
          <p:nvPr/>
        </p:nvGraphicFramePr>
        <p:xfrm>
          <a:off x="9445752" y="2788920"/>
          <a:ext cx="7772400" cy="4572000"/>
        </p:xfrm>
        <a:graphic>
          <a:graphicData uri="http://schemas.openxmlformats.org/drawingml/2006/chart">
            <c:chart xmlns:c="http://schemas.openxmlformats.org/drawingml/2006/chart" xmlns:r="http://schemas.openxmlformats.org/officeDocument/2006/relationships" r:id="rId4"/>
          </a:graphicData>
        </a:graphic>
      </p:graphicFrame>
      <p:sp>
        <p:nvSpPr>
          <p:cNvPr id="23" name="Shape 19"/>
          <p:cNvSpPr/>
          <p:nvPr/>
        </p:nvSpPr>
        <p:spPr>
          <a:xfrm>
            <a:off x="877824" y="7635240"/>
            <a:ext cx="8147304" cy="1645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Text 20"/>
          <p:cNvSpPr txBox="1"/>
          <p:nvPr/>
        </p:nvSpPr>
        <p:spPr>
          <a:xfrm>
            <a:off x="1197864" y="7726680"/>
            <a:ext cx="7507224" cy="1463040"/>
          </a:xfrm>
          <a:prstGeom prst="rect">
            <a:avLst/>
          </a:prstGeom>
          <a:noFill/>
          <a:ln/>
        </p:spPr>
        <p:txBody>
          <a:bodyPr wrap="square" lIns="0" tIns="0" rIns="0" bIns="0" rtlCol="0" anchor="ctr"/>
          <a:lstStyle/>
          <a:p>
            <a:pPr marL="0" indent="0">
              <a:buNone/>
            </a:pPr>
            <a:r>
              <a:rPr lang="en-US" sz="2100" b="1" dirty="0">
                <a:solidFill>
                  <a:srgbClr val="0038A8"/>
                </a:solidFill>
                <a:latin typeface="Arial" pitchFamily="34" charset="0"/>
                <a:ea typeface="Arial" pitchFamily="34" charset="-122"/>
                <a:cs typeface="Arial" pitchFamily="34" charset="-120"/>
              </a:rPr>
              <a:t>Astra, checked first
</a:t>
            </a:r>
            <a:r>
              <a:rPr lang="en-US" sz="2100" dirty="0">
                <a:solidFill>
                  <a:srgbClr val="1E293B"/>
                </a:solidFill>
                <a:latin typeface="Arial" pitchFamily="34" charset="0"/>
                <a:ea typeface="Arial" pitchFamily="34" charset="-122"/>
                <a:cs typeface="Arial" pitchFamily="34" charset="-120"/>
              </a:rPr>
              <a:t>7 of 30 sound answers held back (5 sent to a person, 2 blocked)
No serious errors to hold back</a:t>
            </a:r>
            <a:endParaRPr lang="en-US" sz="2100" dirty="0"/>
          </a:p>
        </p:txBody>
      </p:sp>
      <p:sp>
        <p:nvSpPr>
          <p:cNvPr id="25" name="Shape 21"/>
          <p:cNvSpPr/>
          <p:nvPr/>
        </p:nvSpPr>
        <p:spPr>
          <a:xfrm>
            <a:off x="9262872" y="7635240"/>
            <a:ext cx="8147304" cy="1645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Text 22"/>
          <p:cNvSpPr txBox="1"/>
          <p:nvPr/>
        </p:nvSpPr>
        <p:spPr>
          <a:xfrm>
            <a:off x="9582912" y="7726680"/>
            <a:ext cx="7507224" cy="1463040"/>
          </a:xfrm>
          <a:prstGeom prst="rect">
            <a:avLst/>
          </a:prstGeom>
          <a:noFill/>
          <a:ln/>
        </p:spPr>
        <p:txBody>
          <a:bodyPr wrap="square" lIns="0" tIns="0" rIns="0" bIns="0" rtlCol="0" anchor="ctr"/>
          <a:lstStyle/>
          <a:p>
            <a:pPr marL="0" indent="0">
              <a:buNone/>
            </a:pPr>
            <a:r>
              <a:rPr lang="en-US" sz="2100" b="1" dirty="0">
                <a:solidFill>
                  <a:srgbClr val="0038A8"/>
                </a:solidFill>
                <a:latin typeface="Arial" pitchFamily="34" charset="0"/>
                <a:ea typeface="Arial" pitchFamily="34" charset="-122"/>
                <a:cs typeface="Arial" pitchFamily="34" charset="-120"/>
              </a:rPr>
              <a:t>Luna, checked first
</a:t>
            </a:r>
            <a:r>
              <a:rPr lang="en-US" sz="2100" dirty="0">
                <a:solidFill>
                  <a:srgbClr val="1E293B"/>
                </a:solidFill>
                <a:latin typeface="Arial" pitchFamily="34" charset="0"/>
                <a:ea typeface="Arial" pitchFamily="34" charset="-122"/>
                <a:cs typeface="Arial" pitchFamily="34" charset="-120"/>
              </a:rPr>
              <a:t>9 of 30 sound answers held back (6 sent to a person, 3 blocked)
No serious errors to hold back</a:t>
            </a:r>
            <a:endParaRPr lang="en-US" sz="2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0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0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400"/>
                                        <p:tgtEl>
                                          <p:spTgt spid="21"/>
                                        </p:tgtEl>
                                      </p:cBhvr>
                                    </p:animEffect>
                                  </p:childTnLst>
                                </p:cTn>
                              </p:par>
                              <p:par>
                                <p:cTn id="22" presetID="10" presetClass="entr" presetSubtype="0" fill="hold"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400"/>
                                        <p:tgtEl>
                                          <p:spTgt spid="22"/>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WHY IT HAPPENED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Nothing to stop, good answers held back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All 16 answers the checks held back have now been read, and all 16 were acceptable. Eleven were sent to a person because the model labelled its own answer a grade or approval, two were blocked over unit labels, and three because the quotation check searches only the policy excerpt. Paper, Section 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14</a:t>
            </a:r>
            <a:endParaRPr lang="en-US" sz="1600" dirty="0"/>
          </a:p>
        </p:txBody>
      </p:sp>
      <p:sp>
        <p:nvSpPr>
          <p:cNvPr id="19" name="Shape 17"/>
          <p:cNvSpPr/>
          <p:nvPr/>
        </p:nvSpPr>
        <p:spPr>
          <a:xfrm>
            <a:off x="877824" y="2697480"/>
            <a:ext cx="5330952" cy="1691640"/>
          </a:xfrm>
          <a:prstGeom prst="rect">
            <a:avLst/>
          </a:prstGeom>
          <a:solidFill>
            <a:srgbClr val="E7F4EF"/>
          </a:solidFill>
          <a:ln w="12700">
            <a:solidFill>
              <a:srgbClr val="E7F4EF"/>
            </a:solidFill>
            <a:prstDash val="solid"/>
          </a:ln>
        </p:spPr>
        <p:txBody>
          <a:bodyPr/>
          <a:lstStyle/>
          <a:p>
            <a:endParaRPr lang="en-US"/>
          </a:p>
        </p:txBody>
      </p:sp>
      <p:sp>
        <p:nvSpPr>
          <p:cNvPr id="20" name="Text 18"/>
          <p:cNvSpPr txBox="1"/>
          <p:nvPr/>
        </p:nvSpPr>
        <p:spPr>
          <a:xfrm>
            <a:off x="1243584" y="2788920"/>
            <a:ext cx="4599432" cy="1508760"/>
          </a:xfrm>
          <a:prstGeom prst="rect">
            <a:avLst/>
          </a:prstGeom>
          <a:noFill/>
          <a:ln/>
        </p:spPr>
        <p:txBody>
          <a:bodyPr wrap="square" lIns="0" tIns="0" rIns="0" bIns="0" rtlCol="0" anchor="ctr"/>
          <a:lstStyle/>
          <a:p>
            <a:pPr marL="0" indent="0">
              <a:buNone/>
            </a:pPr>
            <a:r>
              <a:rPr lang="en-US" sz="3400" dirty="0">
                <a:solidFill>
                  <a:srgbClr val="0F7B5F"/>
                </a:solidFill>
                <a:latin typeface="Georgia" pitchFamily="34" charset="0"/>
                <a:ea typeface="Georgia" pitchFamily="34" charset="-122"/>
                <a:cs typeface="Georgia" pitchFamily="34" charset="-120"/>
              </a:rPr>
              <a:t>Stopped
</a:t>
            </a:r>
            <a:r>
              <a:rPr lang="en-US" sz="2200" dirty="0">
                <a:solidFill>
                  <a:srgbClr val="1E293B"/>
                </a:solidFill>
                <a:latin typeface="Arial" pitchFamily="34" charset="0"/>
                <a:ea typeface="Arial" pitchFamily="34" charset="-122"/>
                <a:cs typeface="Arial" pitchFamily="34" charset="-120"/>
              </a:rPr>
              <a:t>A serious error the checks held back</a:t>
            </a:r>
            <a:endParaRPr lang="en-US" sz="3400" dirty="0"/>
          </a:p>
        </p:txBody>
      </p:sp>
      <p:sp>
        <p:nvSpPr>
          <p:cNvPr id="21" name="Shape 19"/>
          <p:cNvSpPr/>
          <p:nvPr/>
        </p:nvSpPr>
        <p:spPr>
          <a:xfrm>
            <a:off x="877824" y="4572000"/>
            <a:ext cx="5330952" cy="36576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20"/>
          <p:cNvSpPr txBox="1"/>
          <p:nvPr/>
        </p:nvSpPr>
        <p:spPr>
          <a:xfrm>
            <a:off x="1289304" y="4846320"/>
            <a:ext cx="4507992" cy="3108960"/>
          </a:xfrm>
          <a:prstGeom prst="rect">
            <a:avLst/>
          </a:prstGeom>
          <a:noFill/>
          <a:ln/>
        </p:spPr>
        <p:txBody>
          <a:bodyPr wrap="square" lIns="0" tIns="0" rIns="0" bIns="0" rtlCol="0" anchor="t"/>
          <a:lstStyle/>
          <a:p>
            <a:pPr marL="0" indent="0">
              <a:buNone/>
            </a:pPr>
            <a:r>
              <a:rPr lang="en-US" sz="2200" b="1" dirty="0">
                <a:solidFill>
                  <a:srgbClr val="0F7B5F"/>
                </a:solidFill>
                <a:latin typeface="Arial" pitchFamily="34" charset="0"/>
                <a:ea typeface="Arial" pitchFamily="34" charset="-122"/>
                <a:cs typeface="Arial" pitchFamily="34" charset="-120"/>
              </a:rPr>
              <a:t>None.</a:t>
            </a:r>
            <a:endParaRPr lang="en-US" sz="2200" dirty="0"/>
          </a:p>
          <a:p>
            <a:pPr marL="0" indent="0">
              <a:buNone/>
            </a:pPr>
            <a:r>
              <a:rPr lang="en-US" sz="800" dirty="0">
                <a:solidFill>
                  <a:srgbClr val="1E293B"/>
                </a:solidFill>
                <a:latin typeface="Arial" pitchFamily="34" charset="0"/>
                <a:ea typeface="Arial" pitchFamily="34" charset="-122"/>
                <a:cs typeface="Arial" pitchFamily="34" charset="-120"/>
              </a:rPr>
              <a:t> </a:t>
            </a:r>
            <a:endParaRPr lang="en-US" sz="2200" dirty="0"/>
          </a:p>
          <a:p>
            <a:pPr marL="0" indent="0">
              <a:buNone/>
            </a:pPr>
            <a:r>
              <a:rPr lang="en-US" sz="2000" dirty="0">
                <a:solidFill>
                  <a:srgbClr val="1E293B"/>
                </a:solidFill>
                <a:latin typeface="Arial" pitchFamily="34" charset="0"/>
                <a:ea typeface="Arial" pitchFamily="34" charset="-122"/>
                <a:cs typeface="Arial" pitchFamily="34" charset="-120"/>
              </a:rPr>
              <a:t>No answer that has been read had a serious error, so there was nothing to stop.</a:t>
            </a:r>
            <a:endParaRPr lang="en-US" sz="2200" dirty="0"/>
          </a:p>
        </p:txBody>
      </p:sp>
      <p:sp>
        <p:nvSpPr>
          <p:cNvPr id="23" name="Shape 21"/>
          <p:cNvSpPr/>
          <p:nvPr/>
        </p:nvSpPr>
        <p:spPr>
          <a:xfrm>
            <a:off x="6483096" y="2697480"/>
            <a:ext cx="5330952" cy="1691640"/>
          </a:xfrm>
          <a:prstGeom prst="rect">
            <a:avLst/>
          </a:prstGeom>
          <a:solidFill>
            <a:srgbClr val="FBEBEC"/>
          </a:solidFill>
          <a:ln w="12700">
            <a:solidFill>
              <a:srgbClr val="FBEBEC"/>
            </a:solidFill>
            <a:prstDash val="solid"/>
          </a:ln>
        </p:spPr>
        <p:txBody>
          <a:bodyPr/>
          <a:lstStyle/>
          <a:p>
            <a:endParaRPr lang="en-US"/>
          </a:p>
        </p:txBody>
      </p:sp>
      <p:sp>
        <p:nvSpPr>
          <p:cNvPr id="24" name="Text 22"/>
          <p:cNvSpPr txBox="1"/>
          <p:nvPr/>
        </p:nvSpPr>
        <p:spPr>
          <a:xfrm>
            <a:off x="6848856" y="2788920"/>
            <a:ext cx="4599432" cy="1508760"/>
          </a:xfrm>
          <a:prstGeom prst="rect">
            <a:avLst/>
          </a:prstGeom>
          <a:noFill/>
          <a:ln/>
        </p:spPr>
        <p:txBody>
          <a:bodyPr wrap="square" lIns="0" tIns="0" rIns="0" bIns="0" rtlCol="0" anchor="ctr"/>
          <a:lstStyle/>
          <a:p>
            <a:pPr marL="0" indent="0">
              <a:buNone/>
            </a:pPr>
            <a:r>
              <a:rPr lang="en-US" sz="3400" dirty="0">
                <a:solidFill>
                  <a:srgbClr val="CE1126"/>
                </a:solidFill>
                <a:latin typeface="Georgia" pitchFamily="34" charset="0"/>
                <a:ea typeface="Georgia" pitchFamily="34" charset="-122"/>
                <a:cs typeface="Georgia" pitchFamily="34" charset="-120"/>
              </a:rPr>
              <a:t>Missed
</a:t>
            </a:r>
            <a:r>
              <a:rPr lang="en-US" sz="2200" dirty="0">
                <a:solidFill>
                  <a:srgbClr val="1E293B"/>
                </a:solidFill>
                <a:latin typeface="Arial" pitchFamily="34" charset="0"/>
                <a:ea typeface="Arial" pitchFamily="34" charset="-122"/>
                <a:cs typeface="Arial" pitchFamily="34" charset="-120"/>
              </a:rPr>
              <a:t>A serious error that got through</a:t>
            </a:r>
            <a:endParaRPr lang="en-US" sz="3400" dirty="0"/>
          </a:p>
        </p:txBody>
      </p:sp>
      <p:sp>
        <p:nvSpPr>
          <p:cNvPr id="25" name="Shape 23"/>
          <p:cNvSpPr/>
          <p:nvPr/>
        </p:nvSpPr>
        <p:spPr>
          <a:xfrm>
            <a:off x="6483096" y="4572000"/>
            <a:ext cx="5330952" cy="36576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Text 24"/>
          <p:cNvSpPr txBox="1"/>
          <p:nvPr/>
        </p:nvSpPr>
        <p:spPr>
          <a:xfrm>
            <a:off x="6894576" y="4846320"/>
            <a:ext cx="4507992" cy="3108960"/>
          </a:xfrm>
          <a:prstGeom prst="rect">
            <a:avLst/>
          </a:prstGeom>
          <a:noFill/>
          <a:ln/>
        </p:spPr>
        <p:txBody>
          <a:bodyPr wrap="square" lIns="0" tIns="0" rIns="0" bIns="0" rtlCol="0" anchor="t"/>
          <a:lstStyle/>
          <a:p>
            <a:pPr marL="0" indent="0">
              <a:buNone/>
            </a:pPr>
            <a:r>
              <a:rPr lang="en-US" sz="2200" b="1" dirty="0">
                <a:solidFill>
                  <a:srgbClr val="CE1126"/>
                </a:solidFill>
                <a:latin typeface="Arial" pitchFamily="34" charset="0"/>
                <a:ea typeface="Arial" pitchFamily="34" charset="-122"/>
                <a:cs typeface="Arial" pitchFamily="34" charset="-120"/>
              </a:rPr>
              <a:t>None among the 60 answers read.</a:t>
            </a:r>
            <a:endParaRPr lang="en-US" sz="2200" dirty="0"/>
          </a:p>
          <a:p>
            <a:pPr marL="0" indent="0">
              <a:buNone/>
            </a:pPr>
            <a:r>
              <a:rPr lang="en-US" sz="800" dirty="0">
                <a:solidFill>
                  <a:srgbClr val="1E293B"/>
                </a:solidFill>
                <a:latin typeface="Arial" pitchFamily="34" charset="0"/>
                <a:ea typeface="Arial" pitchFamily="34" charset="-122"/>
                <a:cs typeface="Arial" pitchFamily="34" charset="-120"/>
              </a:rPr>
              <a:t> </a:t>
            </a:r>
            <a:endParaRPr lang="en-US" sz="2200" dirty="0"/>
          </a:p>
          <a:p>
            <a:pPr marL="0" indent="0">
              <a:buNone/>
            </a:pPr>
            <a:r>
              <a:rPr lang="en-US" sz="2000" dirty="0">
                <a:solidFill>
                  <a:srgbClr val="1E293B"/>
                </a:solidFill>
                <a:latin typeface="Arial" pitchFamily="34" charset="0"/>
                <a:ea typeface="Arial" pitchFamily="34" charset="-122"/>
                <a:cs typeface="Arial" pitchFamily="34" charset="-120"/>
              </a:rPr>
              <a:t>In the Claude extension, Haiku gave 85% where the rule gives 84.6%, in both runs. The arithmetic check never ran because the number had a different label, so both were released.</a:t>
            </a:r>
            <a:endParaRPr lang="en-US" sz="2200" dirty="0"/>
          </a:p>
        </p:txBody>
      </p:sp>
      <p:sp>
        <p:nvSpPr>
          <p:cNvPr id="27" name="Shape 25"/>
          <p:cNvSpPr/>
          <p:nvPr/>
        </p:nvSpPr>
        <p:spPr>
          <a:xfrm>
            <a:off x="12088368" y="2697480"/>
            <a:ext cx="5330952" cy="1691640"/>
          </a:xfrm>
          <a:prstGeom prst="rect">
            <a:avLst/>
          </a:prstGeom>
          <a:solidFill>
            <a:srgbClr val="EEF3FB"/>
          </a:solidFill>
          <a:ln w="12700">
            <a:solidFill>
              <a:srgbClr val="EEF3FB"/>
            </a:solidFill>
            <a:prstDash val="solid"/>
          </a:ln>
        </p:spPr>
        <p:txBody>
          <a:bodyPr/>
          <a:lstStyle/>
          <a:p>
            <a:endParaRPr lang="en-US"/>
          </a:p>
        </p:txBody>
      </p:sp>
      <p:sp>
        <p:nvSpPr>
          <p:cNvPr id="28" name="Text 26"/>
          <p:cNvSpPr txBox="1"/>
          <p:nvPr/>
        </p:nvSpPr>
        <p:spPr>
          <a:xfrm>
            <a:off x="12454128" y="2788920"/>
            <a:ext cx="4599432" cy="1508760"/>
          </a:xfrm>
          <a:prstGeom prst="rect">
            <a:avLst/>
          </a:prstGeom>
          <a:noFill/>
          <a:ln/>
        </p:spPr>
        <p:txBody>
          <a:bodyPr wrap="square" lIns="0" tIns="0" rIns="0" bIns="0" rtlCol="0" anchor="ctr"/>
          <a:lstStyle/>
          <a:p>
            <a:pPr marL="0" indent="0">
              <a:buNone/>
            </a:pPr>
            <a:r>
              <a:rPr lang="en-US" sz="3400" dirty="0">
                <a:solidFill>
                  <a:srgbClr val="0038A8"/>
                </a:solidFill>
                <a:latin typeface="Georgia" pitchFamily="34" charset="0"/>
                <a:ea typeface="Georgia" pitchFamily="34" charset="-122"/>
                <a:cs typeface="Georgia" pitchFamily="34" charset="-120"/>
              </a:rPr>
              <a:t>Held back
</a:t>
            </a:r>
            <a:r>
              <a:rPr lang="en-US" sz="2200" dirty="0">
                <a:solidFill>
                  <a:srgbClr val="1E293B"/>
                </a:solidFill>
                <a:latin typeface="Arial" pitchFamily="34" charset="0"/>
                <a:ea typeface="Arial" pitchFamily="34" charset="-122"/>
                <a:cs typeface="Arial" pitchFamily="34" charset="-120"/>
              </a:rPr>
              <a:t>A sound answer that was blocked</a:t>
            </a:r>
            <a:endParaRPr lang="en-US" sz="3400" dirty="0"/>
          </a:p>
        </p:txBody>
      </p:sp>
      <p:sp>
        <p:nvSpPr>
          <p:cNvPr id="29" name="Shape 27"/>
          <p:cNvSpPr/>
          <p:nvPr/>
        </p:nvSpPr>
        <p:spPr>
          <a:xfrm>
            <a:off x="12088368" y="4572000"/>
            <a:ext cx="5330952" cy="36576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Text 28"/>
          <p:cNvSpPr txBox="1"/>
          <p:nvPr/>
        </p:nvSpPr>
        <p:spPr>
          <a:xfrm>
            <a:off x="12499848" y="4846320"/>
            <a:ext cx="4507992" cy="310896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Sixteen sound answers.</a:t>
            </a:r>
            <a:endParaRPr lang="en-US" sz="2200" dirty="0"/>
          </a:p>
          <a:p>
            <a:pPr marL="0" indent="0">
              <a:buNone/>
            </a:pPr>
            <a:r>
              <a:rPr lang="en-US" sz="800" dirty="0">
                <a:solidFill>
                  <a:srgbClr val="1E293B"/>
                </a:solidFill>
                <a:latin typeface="Arial" pitchFamily="34" charset="0"/>
                <a:ea typeface="Arial" pitchFamily="34" charset="-122"/>
                <a:cs typeface="Arial" pitchFamily="34" charset="-120"/>
              </a:rPr>
              <a:t> </a:t>
            </a:r>
            <a:endParaRPr lang="en-US" sz="2200" dirty="0"/>
          </a:p>
          <a:p>
            <a:pPr marL="0" indent="0">
              <a:buNone/>
            </a:pPr>
            <a:r>
              <a:rPr lang="en-US" sz="2000" dirty="0">
                <a:solidFill>
                  <a:srgbClr val="1E293B"/>
                </a:solidFill>
                <a:latin typeface="Arial" pitchFamily="34" charset="0"/>
                <a:ea typeface="Arial" pitchFamily="34" charset="-122"/>
                <a:cs typeface="Arial" pitchFamily="34" charset="-120"/>
              </a:rPr>
              <a:t>Every answer the checks held back was sound: 11 sent to a person because the model labelled its own next step, 2 blocked over a unit label, 3 blocked for quoting the syllabus they were asked to assess.</a:t>
            </a:r>
            <a:endParaRPr lang="en-US" sz="2200" dirty="0"/>
          </a:p>
        </p:txBody>
      </p:sp>
      <p:sp>
        <p:nvSpPr>
          <p:cNvPr id="31" name="Shape 29"/>
          <p:cNvSpPr/>
          <p:nvPr/>
        </p:nvSpPr>
        <p:spPr>
          <a:xfrm>
            <a:off x="877824" y="8458200"/>
            <a:ext cx="16532352" cy="868680"/>
          </a:xfrm>
          <a:prstGeom prst="rect">
            <a:avLst/>
          </a:prstGeom>
          <a:solidFill>
            <a:srgbClr val="0B1F3A"/>
          </a:solidFill>
          <a:ln w="12700">
            <a:solidFill>
              <a:srgbClr val="0B1F3A"/>
            </a:solidFill>
            <a:prstDash val="solid"/>
          </a:ln>
        </p:spPr>
        <p:txBody>
          <a:bodyPr/>
          <a:lstStyle/>
          <a:p>
            <a:endParaRPr lang="en-US"/>
          </a:p>
        </p:txBody>
      </p:sp>
      <p:sp>
        <p:nvSpPr>
          <p:cNvPr id="32" name="Text 30"/>
          <p:cNvSpPr txBox="1"/>
          <p:nvPr/>
        </p:nvSpPr>
        <p:spPr>
          <a:xfrm>
            <a:off x="1280160" y="8549640"/>
            <a:ext cx="15727680" cy="6858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On these cases, the checks reacted to labels, not errors.</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400"/>
                                        <p:tgtEl>
                                          <p:spTgt spid="27"/>
                                        </p:tgtEl>
                                      </p:cBhvr>
                                    </p:animEffect>
                                  </p:childTnLst>
                                </p:cTn>
                              </p:par>
                              <p:par>
                                <p:cTn id="36" presetID="10" presetClass="entr" presetSubtype="0" fill="hold"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400"/>
                                        <p:tgtEl>
                                          <p:spTgt spid="28"/>
                                        </p:tgtEl>
                                      </p:cBhvr>
                                    </p:animEffect>
                                  </p:childTnLst>
                                </p:cTn>
                              </p:par>
                              <p:par>
                                <p:cTn id="39" presetID="10"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nodeType="withEffect">
                                  <p:stCondLst>
                                    <p:cond delay="0"/>
                                  </p:stCondLst>
                                  <p:childTnLst>
                                    <p:set>
                                      <p:cBhvr>
                                        <p:cTn id="51" dur="1" fill="hold">
                                          <p:stCondLst>
                                            <p:cond delay="0"/>
                                          </p:stCondLst>
                                        </p:cTn>
                                        <p:tgtEl>
                                          <p:spTgt spid="32"/>
                                        </p:tgtEl>
                                        <p:attrNameLst>
                                          <p:attrName>style.visibility</p:attrName>
                                        </p:attrNameLst>
                                      </p:cBhvr>
                                      <p:to>
                                        <p:strVal val="visible"/>
                                      </p:to>
                                    </p:set>
                                    <p:animEffect transition="in" filter="fade">
                                      <p:cBhvr>
                                        <p:cTn id="5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BEYOND THE MAIN TEST</a:t>
            </a:r>
            <a:endParaRPr lang="en-US" sz="2000" dirty="0"/>
          </a:p>
        </p:txBody>
      </p:sp>
      <p:sp>
        <p:nvSpPr>
          <p:cNvPr id="12"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14"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6"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7"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8"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9"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20"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21"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Exploratory: Claude models under the same checks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Fable 5.1 (Medium; High intended; 2 answers via OpenRouter/OpenCode) and Haiku 4.5 with extended thinking, used in place of the planned Opus; collected before any extension freeze. Effort labels do not mean equal computation. Exploratory: not part of the main Astra–Luna comparison.</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15</a:t>
            </a:r>
            <a:endParaRPr lang="en-US" sz="1600" dirty="0"/>
          </a:p>
        </p:txBody>
      </p:sp>
      <p:sp>
        <p:nvSpPr>
          <p:cNvPr id="9" name="Shape 7"/>
          <p:cNvSpPr/>
          <p:nvPr/>
        </p:nvSpPr>
        <p:spPr>
          <a:xfrm>
            <a:off x="877824" y="2560320"/>
            <a:ext cx="16532352" cy="51206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10" name="Chart 0"/>
          <p:cNvGraphicFramePr/>
          <p:nvPr/>
        </p:nvGraphicFramePr>
        <p:xfrm>
          <a:off x="1097280" y="2651760"/>
          <a:ext cx="16093440"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 8"/>
          <p:cNvSpPr txBox="1"/>
          <p:nvPr/>
        </p:nvSpPr>
        <p:spPr>
          <a:xfrm>
            <a:off x="877824" y="7772400"/>
            <a:ext cx="16532352" cy="1371600"/>
          </a:xfrm>
          <a:prstGeom prst="rect">
            <a:avLst/>
          </a:prstGeom>
          <a:noFill/>
          <a:ln/>
        </p:spPr>
        <p:txBody>
          <a:bodyPr wrap="square" lIns="0" tIns="0" rIns="0" bIns="0" rtlCol="0" anchor="t"/>
          <a:lstStyle/>
          <a:p>
            <a:pPr marL="0" indent="0">
              <a:buNone/>
            </a:pPr>
            <a:r>
              <a:rPr lang="en-US" sz="2100" b="1" dirty="0">
                <a:solidFill>
                  <a:srgbClr val="0B1F3A"/>
                </a:solidFill>
                <a:latin typeface="Arial" pitchFamily="34" charset="0"/>
                <a:ea typeface="Arial" pitchFamily="34" charset="-122"/>
                <a:cs typeface="Arial" pitchFamily="34" charset="-120"/>
              </a:rPr>
              <a:t>Same checks, same blind spot: two confirmed Haiku errors were released because the number was labeled differently.</a:t>
            </a:r>
            <a:endParaRPr lang="en-US" sz="2100" dirty="0"/>
          </a:p>
          <a:p>
            <a:pPr marL="0" indent="0">
              <a:buNone/>
            </a:pPr>
            <a:r>
              <a:rPr lang="en-US" sz="2100" dirty="0">
                <a:solidFill>
                  <a:srgbClr val="1E293B"/>
                </a:solidFill>
                <a:latin typeface="Arial" pitchFamily="34" charset="0"/>
                <a:ea typeface="Arial" pitchFamily="34" charset="-122"/>
                <a:cs typeface="Arial" pitchFamily="34" charset="-120"/>
              </a:rPr>
              <a:t>Bars show release decisions, not correctness. An AI judge (DeepSeek V4 Pro) rated Fable’s 24 matched answers acceptable and Haiku’s 21 of 24; the author confirmed two of Haiku’s flagged errors by hand and judged the third acceptable.</a:t>
            </a:r>
            <a:endParaRPr lang="en-US" sz="2100" dirty="0"/>
          </a:p>
        </p:txBody>
      </p:sp>
    </p:spTree>
    <p:extLst>
      <p:ext uri="{BB962C8B-B14F-4D97-AF65-F5344CB8AC3E}">
        <p14:creationId xmlns:p14="http://schemas.microsoft.com/office/powerpoint/2010/main" val="50000754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BEYOND THE MAIN TEST</a:t>
            </a:r>
            <a:endParaRPr lang="en-US" sz="2000" dirty="0"/>
          </a:p>
        </p:txBody>
      </p:sp>
      <p:sp>
        <p:nvSpPr>
          <p:cNvPr id="33"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4"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35"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6"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37"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8"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39"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40"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41"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2"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Exploratory: whole documents instead of excerpts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Gemini 3.1 Pro Preview and Kimi K3 through the OpenRouter API, no browsing or tools; all 24 cases with the whole governing document attached, and an earlier paired test on six cases, one answer per condition. *One Kimi reply was cut off at the output cap after spending the allowance on reasoning; it counts as a format failure with its cause named, not as a missing answer. Quotations are matched against the attached document, so these counts are not comparable with the main test. Exploratory: no person has read these answers.</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16</a:t>
            </a:r>
            <a:endParaRPr lang="en-US" sz="1600" dirty="0"/>
          </a:p>
        </p:txBody>
      </p:sp>
      <p:graphicFrame>
        <p:nvGraphicFramePr>
          <p:cNvPr id="32" name="Table 0"/>
          <p:cNvGraphicFramePr>
            <a:graphicFrameLocks noGrp="1"/>
          </p:cNvGraphicFramePr>
          <p:nvPr/>
        </p:nvGraphicFramePr>
        <p:xfrm>
          <a:off x="877824" y="2560320"/>
          <a:ext cx="10241280" cy="5559552"/>
        </p:xfrm>
        <a:graphic>
          <a:graphicData uri="http://schemas.openxmlformats.org/drawingml/2006/table">
            <a:tbl>
              <a:tblPr/>
              <a:tblGrid>
                <a:gridCol w="512064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658368">
                <a:tc>
                  <a:txBody>
                    <a:bodyPr/>
                    <a:lstStyle/>
                    <a:p>
                      <a:pPr marL="0" indent="0">
                        <a:buNone/>
                      </a:pP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Gemini</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Kimi</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Cases answered with the whole document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Replies usable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23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Quotations found in that document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66 of 67</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106 of 114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Released / sent to a person / blocked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19 / 4 / 1</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13 / 3 / 8</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Earlier paired test (6 cases): conclusion changed?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No (6 pairs)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No (6 pairs)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Time per answer, median</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18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37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Metered cost (kept runs)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US$1.54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US$2.10</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10" name="Shape 7"/>
          <p:cNvSpPr/>
          <p:nvPr/>
        </p:nvSpPr>
        <p:spPr>
          <a:xfrm>
            <a:off x="11521440" y="2560320"/>
            <a:ext cx="5888736" cy="63093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1" name="Text 8"/>
          <p:cNvSpPr txBox="1"/>
          <p:nvPr/>
        </p:nvSpPr>
        <p:spPr>
          <a:xfrm>
            <a:off x="11841480" y="2788920"/>
            <a:ext cx="5303520" cy="5852160"/>
          </a:xfrm>
          <a:prstGeom prst="rect">
            <a:avLst/>
          </a:prstGeom>
          <a:noFill/>
          <a:ln/>
        </p:spPr>
        <p:txBody>
          <a:bodyPr wrap="square" lIns="0" tIns="0" rIns="0" bIns="0" rtlCol="0" anchor="t"/>
          <a:lstStyle/>
          <a:p>
            <a:pPr marL="0" indent="0">
              <a:buNone/>
            </a:pPr>
            <a:r>
              <a:rPr lang="en-US" sz="2800" dirty="0">
                <a:solidFill>
                  <a:srgbClr val="0B1F3A"/>
                </a:solidFill>
                <a:latin typeface="Georgia" pitchFamily="34" charset="0"/>
                <a:ea typeface="Georgia" pitchFamily="34" charset="-122"/>
                <a:cs typeface="Georgia" pitchFamily="34" charset="-120"/>
              </a:rPr>
              <a:t>What it shows</a:t>
            </a:r>
            <a:endParaRPr lang="en-US" sz="2800" dirty="0"/>
          </a:p>
          <a:p>
            <a:pPr marL="0" indent="0">
              <a:buNone/>
            </a:pPr>
            <a:r>
              <a:rPr lang="en-US" sz="1000" dirty="0">
                <a:solidFill>
                  <a:srgbClr val="1E293B"/>
                </a:solidFill>
                <a:latin typeface="Arial" pitchFamily="34" charset="0"/>
                <a:ea typeface="Arial" pitchFamily="34" charset="-122"/>
                <a:cs typeface="Arial" pitchFamily="34" charset="-120"/>
              </a:rPr>
              <a:t> </a:t>
            </a:r>
            <a:endParaRPr lang="en-US" sz="2800" dirty="0"/>
          </a:p>
          <a:p>
            <a:pPr marL="0" indent="0">
              <a:buNone/>
            </a:pPr>
            <a:r>
              <a:rPr lang="en-US" sz="2100" b="1" dirty="0">
                <a:solidFill>
                  <a:srgbClr val="0B1F3A"/>
                </a:solidFill>
                <a:latin typeface="Arial" pitchFamily="34" charset="0"/>
                <a:ea typeface="Arial" pitchFamily="34" charset="-122"/>
                <a:cs typeface="Arial" pitchFamily="34" charset="-120"/>
              </a:rPr>
              <a:t>With the whole handbook attached, the models still found the passage and the conclusions held</a:t>
            </a:r>
            <a:r>
              <a:rPr lang="en-US" sz="2100" dirty="0">
                <a:solidFill>
                  <a:srgbClr val="1E293B"/>
                </a:solidFill>
                <a:latin typeface="Arial" pitchFamily="34" charset="0"/>
                <a:ea typeface="Arial" pitchFamily="34" charset="-122"/>
                <a:cs typeface="Arial" pitchFamily="34" charset="-120"/>
              </a:rPr>
              <a:t>, for example 12 absence hours over the 20% limit (W2-07). The checks withheld more here than in the main test: 1 of 24 blocked for Gemini and 8 of 24 for Kimi. No person has scored these answers.</a:t>
            </a:r>
            <a:endParaRPr lang="en-US" sz="2800" dirty="0"/>
          </a:p>
        </p:txBody>
      </p:sp>
      <p:sp>
        <p:nvSpPr>
          <p:cNvPr id="12" name="Text 9"/>
          <p:cNvSpPr txBox="1"/>
          <p:nvPr/>
        </p:nvSpPr>
        <p:spPr>
          <a:xfrm>
            <a:off x="877824" y="8275320"/>
            <a:ext cx="10241280" cy="822960"/>
          </a:xfrm>
          <a:prstGeom prst="rect">
            <a:avLst/>
          </a:prstGeom>
          <a:noFill/>
          <a:ln/>
        </p:spPr>
        <p:txBody>
          <a:bodyPr wrap="square" lIns="0" tIns="0" rIns="0" bIns="0" rtlCol="0" anchor="t"/>
          <a:lstStyle/>
          <a:p>
            <a:pPr marL="0" indent="0">
              <a:buNone/>
            </a:pPr>
            <a:r>
              <a:rPr lang="en-US" sz="2100" b="1" dirty="0">
                <a:solidFill>
                  <a:srgbClr val="0038A8"/>
                </a:solidFill>
                <a:latin typeface="Arial" pitchFamily="34" charset="0"/>
                <a:ea typeface="Arial" pitchFamily="34" charset="-122"/>
                <a:cs typeface="Arial" pitchFamily="34" charset="-120"/>
              </a:rPr>
              <a:t>Eight cases went further still: every document of the institution attached, and no passage named.</a:t>
            </a:r>
            <a:endParaRPr lang="en-US" sz="2100" dirty="0"/>
          </a:p>
        </p:txBody>
      </p:sp>
    </p:spTree>
    <p:extLst>
      <p:ext uri="{BB962C8B-B14F-4D97-AF65-F5344CB8AC3E}">
        <p14:creationId xmlns:p14="http://schemas.microsoft.com/office/powerpoint/2010/main" val="338488810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par>
                                <p:cTn id="13" presetID="10"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00"/>
                                        <p:tgtEl>
                                          <p:spTgt spid="1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BEYOND THE MAIN TEST</a:t>
            </a:r>
            <a:endParaRPr lang="en-US" sz="2000" dirty="0"/>
          </a:p>
        </p:txBody>
      </p:sp>
      <p:sp>
        <p:nvSpPr>
          <p:cNvPr id="33"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4"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35"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6"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37"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8"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39"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40"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41"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2"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Exploratory: models a school could host itself</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gpt-oss-20b, qwen3-30b-a3b and gemma-3-12b through the OpenRouter API, not run offline; temperature 0, one request per case, no tools. Each model answered the 24 cases twice, once with a prompt written for this test and once with the study’s own prompt unchanged; the ranges above span both. Exploratory: no person has scored these answers.</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17</a:t>
            </a:r>
            <a:endParaRPr lang="en-US" sz="1600" dirty="0"/>
          </a:p>
        </p:txBody>
      </p:sp>
      <p:graphicFrame>
        <p:nvGraphicFramePr>
          <p:cNvPr id="32" name="Table 0"/>
          <p:cNvGraphicFramePr>
            <a:graphicFrameLocks noGrp="1"/>
          </p:cNvGraphicFramePr>
          <p:nvPr/>
        </p:nvGraphicFramePr>
        <p:xfrm>
          <a:off x="877824" y="2560320"/>
          <a:ext cx="10241280" cy="5559552"/>
        </p:xfrm>
        <a:graphic>
          <a:graphicData uri="http://schemas.openxmlformats.org/drawingml/2006/table">
            <a:tbl>
              <a:tblPr/>
              <a:tblGrid>
                <a:gridCol w="5120640">
                  <a:extLst>
                    <a:ext uri="{9D8B030D-6E8A-4147-A177-3AD203B41FA5}">
                      <a16:colId xmlns:a16="http://schemas.microsoft.com/office/drawing/2014/main" val="20000"/>
                    </a:ext>
                  </a:extLst>
                </a:gridCol>
                <a:gridCol w="1706880">
                  <a:extLst>
                    <a:ext uri="{9D8B030D-6E8A-4147-A177-3AD203B41FA5}">
                      <a16:colId xmlns:a16="http://schemas.microsoft.com/office/drawing/2014/main" val="20001"/>
                    </a:ext>
                  </a:extLst>
                </a:gridCol>
                <a:gridCol w="1706880">
                  <a:extLst>
                    <a:ext uri="{9D8B030D-6E8A-4147-A177-3AD203B41FA5}">
                      <a16:colId xmlns:a16="http://schemas.microsoft.com/office/drawing/2014/main" val="20002"/>
                    </a:ext>
                  </a:extLst>
                </a:gridCol>
                <a:gridCol w="1706880">
                  <a:extLst>
                    <a:ext uri="{9D8B030D-6E8A-4147-A177-3AD203B41FA5}">
                      <a16:colId xmlns:a16="http://schemas.microsoft.com/office/drawing/2014/main" val="20002"/>
                    </a:ext>
                  </a:extLst>
                </a:gridCol>
              </a:tblGrid>
              <a:tr h="658368">
                <a:tc>
                  <a:txBody>
                    <a:bodyPr/>
                    <a:lstStyle/>
                    <a:p>
                      <a:pPr marL="0" indent="0">
                        <a:buNone/>
                      </a:pP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gpt-oss 20B</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Qwen3 30B</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Gemma 3 12B</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Cases answered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Required format kept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22–24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20–21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20–21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Quotations found in the excerpt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53 of 60</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67 of 71</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72 of 72</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Declared a grade or approval</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0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6–7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3–4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Held back by the checks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8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12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8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Time per answer, median</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12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9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Metered cost, 24 cases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US$0.004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US$0.005</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US$0.003</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10" name="Shape 7"/>
          <p:cNvSpPr/>
          <p:nvPr/>
        </p:nvSpPr>
        <p:spPr>
          <a:xfrm>
            <a:off x="11521440" y="2560320"/>
            <a:ext cx="5888736" cy="63093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1" name="Text 8"/>
          <p:cNvSpPr txBox="1"/>
          <p:nvPr/>
        </p:nvSpPr>
        <p:spPr>
          <a:xfrm>
            <a:off x="11841480" y="2788920"/>
            <a:ext cx="5303520" cy="5852160"/>
          </a:xfrm>
          <a:prstGeom prst="rect">
            <a:avLst/>
          </a:prstGeom>
          <a:noFill/>
          <a:ln/>
        </p:spPr>
        <p:txBody>
          <a:bodyPr wrap="square" lIns="0" tIns="0" rIns="0" bIns="0" rtlCol="0" anchor="t"/>
          <a:lstStyle/>
          <a:p>
            <a:pPr marL="0" indent="0">
              <a:buNone/>
            </a:pPr>
            <a:r>
              <a:rPr lang="en-US" sz="2800" dirty="0">
                <a:solidFill>
                  <a:srgbClr val="0B1F3A"/>
                </a:solidFill>
                <a:latin typeface="Georgia" pitchFamily="34" charset="0"/>
                <a:ea typeface="Georgia" pitchFamily="34" charset="-122"/>
                <a:cs typeface="Georgia" pitchFamily="34" charset="-120"/>
              </a:rPr>
              <a:t>What it shows</a:t>
            </a:r>
            <a:endParaRPr lang="en-US" sz="2800" dirty="0"/>
          </a:p>
          <a:p>
            <a:pPr marL="0" indent="0">
              <a:buNone/>
            </a:pPr>
            <a:r>
              <a:rPr lang="en-US" sz="1000" dirty="0">
                <a:solidFill>
                  <a:srgbClr val="1E293B"/>
                </a:solidFill>
                <a:latin typeface="Arial" pitchFamily="34" charset="0"/>
                <a:ea typeface="Arial" pitchFamily="34" charset="-122"/>
                <a:cs typeface="Arial" pitchFamily="34" charset="-120"/>
              </a:rPr>
              <a:t> </a:t>
            </a:r>
            <a:endParaRPr lang="en-US" sz="2800" dirty="0"/>
          </a:p>
          <a:p>
            <a:pPr marL="0" indent="0">
              <a:buNone/>
            </a:pPr>
            <a:r>
              <a:rPr lang="en-US" sz="2100" b="1" dirty="0">
                <a:solidFill>
                  <a:srgbClr val="0B1F3A"/>
                </a:solidFill>
                <a:latin typeface="Arial" pitchFamily="34" charset="0"/>
                <a:ea typeface="Arial" pitchFamily="34" charset="-122"/>
                <a:cs typeface="Arial" pitchFamily="34" charset="-120"/>
              </a:rPr>
              <a:t>Models small enough for one 16 GB machine answered all 24 cases for about a US cent each</a:t>
            </a:r>
            <a:r>
              <a:rPr lang="en-US" sz="2100" dirty="0">
                <a:solidFill>
                  <a:srgbClr val="1E293B"/>
                </a:solidFill>
                <a:latin typeface="Arial" pitchFamily="34" charset="0"/>
                <a:ea typeface="Arial" pitchFamily="34" charset="-122"/>
                <a:cs typeface="Arial" pitchFamily="34" charset="-120"/>
              </a:rPr>
              <a:t>. What they lost was form, not reasoning: about one answer in ten missed the required format, always the same fault, a number reported with no unit. The two main configurations missed none in 96.</a:t>
            </a:r>
            <a:endParaRPr lang="en-US" sz="2800" dirty="0"/>
          </a:p>
        </p:txBody>
      </p:sp>
      <p:sp>
        <p:nvSpPr>
          <p:cNvPr id="12" name="Text 9"/>
          <p:cNvSpPr txBox="1"/>
          <p:nvPr/>
        </p:nvSpPr>
        <p:spPr>
          <a:xfrm>
            <a:off x="877824" y="8275320"/>
            <a:ext cx="10241280" cy="822960"/>
          </a:xfrm>
          <a:prstGeom prst="rect">
            <a:avLst/>
          </a:prstGeom>
          <a:noFill/>
          <a:ln/>
        </p:spPr>
        <p:txBody>
          <a:bodyPr wrap="square" lIns="0" tIns="0" rIns="0" bIns="0" rtlCol="0" anchor="t"/>
          <a:lstStyle/>
          <a:p>
            <a:pPr marL="0" indent="0">
              <a:buNone/>
            </a:pPr>
            <a:r>
              <a:rPr lang="en-US" sz="2100" b="1" dirty="0">
                <a:solidFill>
                  <a:srgbClr val="0038A8"/>
                </a:solidFill>
                <a:latin typeface="Arial" pitchFamily="34" charset="0"/>
                <a:ea typeface="Arial" pitchFamily="34" charset="-122"/>
                <a:cs typeface="Arial" pitchFamily="34" charset="-120"/>
              </a:rPr>
              <a:t>Cheap to run. Whether the advice is right is the open question.</a:t>
            </a:r>
            <a:endParaRPr lang="en-US" sz="2100" dirty="0"/>
          </a:p>
        </p:txBody>
      </p:sp>
    </p:spTree>
    <p:extLst>
      <p:ext uri="{BB962C8B-B14F-4D97-AF65-F5344CB8AC3E}">
        <p14:creationId xmlns:p14="http://schemas.microsoft.com/office/powerpoint/2010/main" val="338488810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par>
                                <p:cTn id="13" presetID="10"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00"/>
                                        <p:tgtEl>
                                          <p:spTgt spid="1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WORK THAT REMAINS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Checking still takes a person’s time</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Timed by the researcher who wrote the cases: 20 answers after excluding four flagged timings, 5 per model and route, with no comparison against working without AI. Reviewers: three volunteers, 18 answers. Agreement covers the 60 answers a person has read. AI judge: DeepSeek V4 Pro. Repeat self-scoring was not completed by submission.</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18</a:t>
            </a:r>
            <a:endParaRPr lang="en-US" sz="1600" dirty="0"/>
          </a:p>
        </p:txBody>
      </p:sp>
      <p:sp>
        <p:nvSpPr>
          <p:cNvPr id="19" name="Shape 17"/>
          <p:cNvSpPr/>
          <p:nvPr/>
        </p:nvSpPr>
        <p:spPr>
          <a:xfrm>
            <a:off x="877824" y="2697480"/>
            <a:ext cx="9509760"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20" name="Chart 0"/>
          <p:cNvGraphicFramePr/>
          <p:nvPr/>
        </p:nvGraphicFramePr>
        <p:xfrm>
          <a:off x="1051560" y="2788920"/>
          <a:ext cx="9144000" cy="630936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8"/>
          <p:cNvSpPr/>
          <p:nvPr/>
        </p:nvSpPr>
        <p:spPr>
          <a:xfrm>
            <a:off x="10698480" y="2697480"/>
            <a:ext cx="6711696" cy="2011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19"/>
          <p:cNvSpPr txBox="1"/>
          <p:nvPr/>
        </p:nvSpPr>
        <p:spPr>
          <a:xfrm>
            <a:off x="11018520" y="2834640"/>
            <a:ext cx="6126480" cy="173736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7 of 20
</a:t>
            </a:r>
            <a:r>
              <a:rPr lang="en-US" sz="2000" dirty="0">
                <a:solidFill>
                  <a:srgbClr val="4B5563"/>
                </a:solidFill>
                <a:latin typeface="Arial" pitchFamily="34" charset="0"/>
                <a:ea typeface="Arial" pitchFamily="34" charset="-122"/>
                <a:cs typeface="Arial" pitchFamily="34" charset="-120"/>
              </a:rPr>
              <a:t>Timed answers that needed correction</a:t>
            </a:r>
            <a:endParaRPr lang="en-US" sz="3000" dirty="0"/>
          </a:p>
        </p:txBody>
      </p:sp>
      <p:sp>
        <p:nvSpPr>
          <p:cNvPr id="23" name="Shape 20"/>
          <p:cNvSpPr/>
          <p:nvPr/>
        </p:nvSpPr>
        <p:spPr>
          <a:xfrm>
            <a:off x="10698480" y="4919472"/>
            <a:ext cx="6711696" cy="2011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Text 21"/>
          <p:cNvSpPr txBox="1"/>
          <p:nvPr/>
        </p:nvSpPr>
        <p:spPr>
          <a:xfrm>
            <a:off x="11018520" y="5056632"/>
            <a:ext cx="6126480" cy="173736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15 of 15
</a:t>
            </a:r>
            <a:r>
              <a:rPr lang="en-US" sz="2000" dirty="0">
                <a:solidFill>
                  <a:srgbClr val="4B5563"/>
                </a:solidFill>
                <a:latin typeface="Arial" pitchFamily="34" charset="0"/>
                <a:ea typeface="Arial" pitchFamily="34" charset="-122"/>
                <a:cs typeface="Arial" pitchFamily="34" charset="-120"/>
              </a:rPr>
              <a:t>Reviewer comparisons (11 answers) agreeing with my serious-error and acceptability calls</a:t>
            </a:r>
            <a:endParaRPr lang="en-US" sz="3000" dirty="0"/>
          </a:p>
        </p:txBody>
      </p:sp>
      <p:sp>
        <p:nvSpPr>
          <p:cNvPr id="25" name="Shape 22"/>
          <p:cNvSpPr/>
          <p:nvPr/>
        </p:nvSpPr>
        <p:spPr>
          <a:xfrm>
            <a:off x="10698480" y="7141464"/>
            <a:ext cx="6711696" cy="2011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Text 23"/>
          <p:cNvSpPr txBox="1"/>
          <p:nvPr/>
        </p:nvSpPr>
        <p:spPr>
          <a:xfrm>
            <a:off x="11018520" y="7278624"/>
            <a:ext cx="6126480" cy="173736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60 of 60
</a:t>
            </a:r>
            <a:r>
              <a:rPr lang="en-US" sz="2000" dirty="0">
                <a:solidFill>
                  <a:srgbClr val="4B5563"/>
                </a:solidFill>
                <a:latin typeface="Arial" pitchFamily="34" charset="0"/>
                <a:ea typeface="Arial" pitchFamily="34" charset="-122"/>
                <a:cs typeface="Arial" pitchFamily="34" charset="-120"/>
              </a:rPr>
              <a:t>Answers where the AI judge agreed with my acceptability calls</a:t>
            </a:r>
            <a:endParaRPr lang="en-US" sz="3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ANSWER</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Who should check what</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Recommendations drawn from the study design and results; they were not tested as interventions. Paper, Table 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19</a:t>
            </a:r>
            <a:endParaRPr lang="en-US" sz="1600" dirty="0"/>
          </a:p>
        </p:txBody>
      </p:sp>
      <p:sp>
        <p:nvSpPr>
          <p:cNvPr id="19" name="Shape 17"/>
          <p:cNvSpPr/>
          <p:nvPr/>
        </p:nvSpPr>
        <p:spPr>
          <a:xfrm>
            <a:off x="877824" y="2606040"/>
            <a:ext cx="16532352" cy="1371600"/>
          </a:xfrm>
          <a:prstGeom prst="rect">
            <a:avLst/>
          </a:prstGeom>
          <a:solidFill>
            <a:srgbClr val="0B1F3A"/>
          </a:solidFill>
          <a:ln w="12700">
            <a:solidFill>
              <a:srgbClr val="0B1F3A"/>
            </a:solidFill>
            <a:prstDash val="solid"/>
          </a:ln>
        </p:spPr>
        <p:txBody>
          <a:bodyPr/>
          <a:lstStyle/>
          <a:p>
            <a:endParaRPr lang="en-US"/>
          </a:p>
        </p:txBody>
      </p:sp>
      <p:sp>
        <p:nvSpPr>
          <p:cNvPr id="20" name="Text 18"/>
          <p:cNvSpPr txBox="1"/>
          <p:nvPr/>
        </p:nvSpPr>
        <p:spPr>
          <a:xfrm>
            <a:off x="1280160" y="2697480"/>
            <a:ext cx="15727680" cy="118872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On the 48 scored answers, the AI held up; the checks did not. They reacted to labels, not errors, so a person must still confirm the rule, the inputs and the decision.</a:t>
            </a:r>
            <a:endParaRPr lang="en-US" sz="2600" dirty="0"/>
          </a:p>
        </p:txBody>
      </p:sp>
      <p:sp>
        <p:nvSpPr>
          <p:cNvPr id="21" name="Text 19"/>
          <p:cNvSpPr txBox="1"/>
          <p:nvPr/>
        </p:nvSpPr>
        <p:spPr>
          <a:xfrm>
            <a:off x="877824" y="4114800"/>
            <a:ext cx="5120640" cy="411480"/>
          </a:xfrm>
          <a:prstGeom prst="rect">
            <a:avLst/>
          </a:prstGeom>
          <a:noFill/>
          <a:ln/>
        </p:spPr>
        <p:txBody>
          <a:bodyPr wrap="square" lIns="0" tIns="0" rIns="0" bIns="0" rtlCol="0" anchor="t"/>
          <a:lstStyle/>
          <a:p>
            <a:pPr marL="0" indent="0">
              <a:buNone/>
            </a:pPr>
            <a:r>
              <a:rPr lang="en-US" sz="1800" b="1" kern="0" spc="100" dirty="0">
                <a:solidFill>
                  <a:srgbClr val="4B5563"/>
                </a:solidFill>
                <a:latin typeface="Arial" pitchFamily="34" charset="0"/>
                <a:ea typeface="Arial" pitchFamily="34" charset="-122"/>
                <a:cs typeface="Arial" pitchFamily="34" charset="-120"/>
              </a:rPr>
              <a:t>TYPE OF REQUEST</a:t>
            </a:r>
            <a:endParaRPr lang="en-US" sz="1800" dirty="0"/>
          </a:p>
        </p:txBody>
      </p:sp>
      <p:sp>
        <p:nvSpPr>
          <p:cNvPr id="22" name="Text 20"/>
          <p:cNvSpPr txBox="1"/>
          <p:nvPr/>
        </p:nvSpPr>
        <p:spPr>
          <a:xfrm>
            <a:off x="6309360" y="4114800"/>
            <a:ext cx="4572000" cy="41148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SOFTWARE CAN</a:t>
            </a:r>
            <a:endParaRPr lang="en-US" sz="1800" dirty="0"/>
          </a:p>
        </p:txBody>
      </p:sp>
      <p:sp>
        <p:nvSpPr>
          <p:cNvPr id="23" name="Text 21"/>
          <p:cNvSpPr txBox="1"/>
          <p:nvPr/>
        </p:nvSpPr>
        <p:spPr>
          <a:xfrm>
            <a:off x="11247120" y="4114800"/>
            <a:ext cx="6126480" cy="41148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A PERSON MUST</a:t>
            </a:r>
            <a:endParaRPr lang="en-US" sz="1800" dirty="0"/>
          </a:p>
        </p:txBody>
      </p:sp>
      <p:sp>
        <p:nvSpPr>
          <p:cNvPr id="24" name="Shape 22"/>
          <p:cNvSpPr/>
          <p:nvPr/>
        </p:nvSpPr>
        <p:spPr>
          <a:xfrm>
            <a:off x="877824" y="4617720"/>
            <a:ext cx="16532352" cy="1389888"/>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1188720" y="5074920"/>
            <a:ext cx="457200" cy="457200"/>
          </a:xfrm>
          <a:prstGeom prst="ellipse">
            <a:avLst/>
          </a:prstGeom>
          <a:solidFill>
            <a:srgbClr val="0F7B5F"/>
          </a:solidFill>
          <a:ln w="12700">
            <a:solidFill>
              <a:srgbClr val="0F7B5F"/>
            </a:solidFill>
            <a:prstDash val="solid"/>
          </a:ln>
        </p:spPr>
        <p:txBody>
          <a:bodyPr/>
          <a:lstStyle/>
          <a:p>
            <a:endParaRPr lang="en-US"/>
          </a:p>
        </p:txBody>
      </p:sp>
      <p:sp>
        <p:nvSpPr>
          <p:cNvPr id="26" name="Text 24"/>
          <p:cNvSpPr txBox="1"/>
          <p:nvPr/>
        </p:nvSpPr>
        <p:spPr>
          <a:xfrm>
            <a:off x="1874520" y="4754880"/>
            <a:ext cx="4206240" cy="1115568"/>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Calculating a grade from a rule</a:t>
            </a:r>
            <a:endParaRPr lang="en-US" sz="2400" dirty="0"/>
          </a:p>
        </p:txBody>
      </p:sp>
      <p:sp>
        <p:nvSpPr>
          <p:cNvPr id="27" name="Text 25"/>
          <p:cNvSpPr txBox="1"/>
          <p:nvPr/>
        </p:nvSpPr>
        <p:spPr>
          <a:xfrm>
            <a:off x="6309360" y="4754880"/>
            <a:ext cx="4663440" cy="1115568"/>
          </a:xfrm>
          <a:prstGeom prst="rect">
            <a:avLst/>
          </a:prstGeom>
          <a:noFill/>
          <a:ln/>
        </p:spPr>
        <p:txBody>
          <a:bodyPr wrap="square" lIns="0" tIns="0" rIns="0" bIns="0" rtlCol="0" anchor="ctr"/>
          <a:lstStyle/>
          <a:p>
            <a:pPr marL="0" indent="0">
              <a:buNone/>
            </a:pPr>
            <a:r>
              <a:rPr lang="en-US" sz="2400" dirty="0">
                <a:solidFill>
                  <a:srgbClr val="1E293B"/>
                </a:solidFill>
                <a:latin typeface="Arial" pitchFamily="34" charset="0"/>
                <a:ea typeface="Arial" pitchFamily="34" charset="-122"/>
                <a:cs typeface="Arial" pitchFamily="34" charset="-120"/>
              </a:rPr>
              <a:t>Recompute the numbers</a:t>
            </a:r>
            <a:endParaRPr lang="en-US" sz="2400" dirty="0"/>
          </a:p>
        </p:txBody>
      </p:sp>
      <p:sp>
        <p:nvSpPr>
          <p:cNvPr id="28" name="Text 26"/>
          <p:cNvSpPr txBox="1"/>
          <p:nvPr/>
        </p:nvSpPr>
        <p:spPr>
          <a:xfrm>
            <a:off x="11247120" y="4754880"/>
            <a:ext cx="5943600" cy="1115568"/>
          </a:xfrm>
          <a:prstGeom prst="rect">
            <a:avLst/>
          </a:prstGeom>
          <a:noFill/>
          <a:ln/>
        </p:spPr>
        <p:txBody>
          <a:bodyPr wrap="square" lIns="0" tIns="0" rIns="0" bIns="0" rtlCol="0" anchor="ctr"/>
          <a:lstStyle/>
          <a:p>
            <a:pPr marL="0" indent="0">
              <a:buNone/>
            </a:pPr>
            <a:r>
              <a:rPr lang="en-US" sz="2200" dirty="0">
                <a:solidFill>
                  <a:srgbClr val="4B5563"/>
                </a:solidFill>
                <a:latin typeface="Arial" pitchFamily="34" charset="0"/>
                <a:ea typeface="Arial" pitchFamily="34" charset="-122"/>
                <a:cs typeface="Arial" pitchFamily="34" charset="-120"/>
              </a:rPr>
              <a:t>Confirm the inputs, the rule version and who approves exceptions</a:t>
            </a:r>
            <a:endParaRPr lang="en-US" sz="2200" dirty="0"/>
          </a:p>
        </p:txBody>
      </p:sp>
      <p:sp>
        <p:nvSpPr>
          <p:cNvPr id="29" name="Shape 27"/>
          <p:cNvSpPr/>
          <p:nvPr/>
        </p:nvSpPr>
        <p:spPr>
          <a:xfrm>
            <a:off x="877824" y="6190488"/>
            <a:ext cx="16532352" cy="1389888"/>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8"/>
          <p:cNvSpPr/>
          <p:nvPr/>
        </p:nvSpPr>
        <p:spPr>
          <a:xfrm>
            <a:off x="1188720" y="6647688"/>
            <a:ext cx="457200" cy="457200"/>
          </a:xfrm>
          <a:prstGeom prst="ellipse">
            <a:avLst/>
          </a:prstGeom>
          <a:solidFill>
            <a:srgbClr val="0038A8"/>
          </a:solidFill>
          <a:ln w="12700">
            <a:solidFill>
              <a:srgbClr val="0038A8"/>
            </a:solidFill>
            <a:prstDash val="solid"/>
          </a:ln>
        </p:spPr>
        <p:txBody>
          <a:bodyPr/>
          <a:lstStyle/>
          <a:p>
            <a:endParaRPr lang="en-US"/>
          </a:p>
        </p:txBody>
      </p:sp>
      <p:sp>
        <p:nvSpPr>
          <p:cNvPr id="31" name="Text 29"/>
          <p:cNvSpPr txBox="1"/>
          <p:nvPr/>
        </p:nvSpPr>
        <p:spPr>
          <a:xfrm>
            <a:off x="1874520" y="6327648"/>
            <a:ext cx="4206240" cy="1115568"/>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Checking evidence and sources</a:t>
            </a:r>
            <a:endParaRPr lang="en-US" sz="2400" dirty="0"/>
          </a:p>
        </p:txBody>
      </p:sp>
      <p:sp>
        <p:nvSpPr>
          <p:cNvPr id="32" name="Text 30"/>
          <p:cNvSpPr txBox="1"/>
          <p:nvPr/>
        </p:nvSpPr>
        <p:spPr>
          <a:xfrm>
            <a:off x="6309360" y="6327648"/>
            <a:ext cx="4663440" cy="1115568"/>
          </a:xfrm>
          <a:prstGeom prst="rect">
            <a:avLst/>
          </a:prstGeom>
          <a:noFill/>
          <a:ln/>
        </p:spPr>
        <p:txBody>
          <a:bodyPr wrap="square" lIns="0" tIns="0" rIns="0" bIns="0" rtlCol="0" anchor="ctr"/>
          <a:lstStyle/>
          <a:p>
            <a:pPr marL="0" indent="0">
              <a:buNone/>
            </a:pPr>
            <a:r>
              <a:rPr lang="en-US" sz="2400" dirty="0">
                <a:solidFill>
                  <a:srgbClr val="1E293B"/>
                </a:solidFill>
                <a:latin typeface="Arial" pitchFamily="34" charset="0"/>
                <a:ea typeface="Arial" pitchFamily="34" charset="-122"/>
                <a:cs typeface="Arial" pitchFamily="34" charset="-120"/>
              </a:rPr>
              <a:t>Confirm a quotation exists</a:t>
            </a:r>
            <a:endParaRPr lang="en-US" sz="2400" dirty="0"/>
          </a:p>
        </p:txBody>
      </p:sp>
      <p:sp>
        <p:nvSpPr>
          <p:cNvPr id="33" name="Text 31"/>
          <p:cNvSpPr txBox="1"/>
          <p:nvPr/>
        </p:nvSpPr>
        <p:spPr>
          <a:xfrm>
            <a:off x="11247120" y="6327648"/>
            <a:ext cx="5943600" cy="1115568"/>
          </a:xfrm>
          <a:prstGeom prst="rect">
            <a:avLst/>
          </a:prstGeom>
          <a:noFill/>
          <a:ln/>
        </p:spPr>
        <p:txBody>
          <a:bodyPr wrap="square" lIns="0" tIns="0" rIns="0" bIns="0" rtlCol="0" anchor="ctr"/>
          <a:lstStyle/>
          <a:p>
            <a:pPr marL="0" indent="0">
              <a:buNone/>
            </a:pPr>
            <a:r>
              <a:rPr lang="en-US" sz="2200" dirty="0">
                <a:solidFill>
                  <a:srgbClr val="4B5563"/>
                </a:solidFill>
                <a:latin typeface="Arial" pitchFamily="34" charset="0"/>
                <a:ea typeface="Arial" pitchFamily="34" charset="-122"/>
                <a:cs typeface="Arial" pitchFamily="34" charset="-120"/>
              </a:rPr>
              <a:t>Confirm the passage applies and supports the conclusion</a:t>
            </a:r>
            <a:endParaRPr lang="en-US" sz="2200" dirty="0"/>
          </a:p>
        </p:txBody>
      </p:sp>
      <p:sp>
        <p:nvSpPr>
          <p:cNvPr id="34" name="Shape 32"/>
          <p:cNvSpPr/>
          <p:nvPr/>
        </p:nvSpPr>
        <p:spPr>
          <a:xfrm>
            <a:off x="877824" y="7763256"/>
            <a:ext cx="16532352" cy="1389888"/>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5" name="Shape 33"/>
          <p:cNvSpPr/>
          <p:nvPr/>
        </p:nvSpPr>
        <p:spPr>
          <a:xfrm>
            <a:off x="1188720" y="8220456"/>
            <a:ext cx="457200" cy="457200"/>
          </a:xfrm>
          <a:prstGeom prst="ellipse">
            <a:avLst/>
          </a:prstGeom>
          <a:solidFill>
            <a:srgbClr val="CE1126"/>
          </a:solidFill>
          <a:ln w="12700">
            <a:solidFill>
              <a:srgbClr val="CE1126"/>
            </a:solidFill>
            <a:prstDash val="solid"/>
          </a:ln>
        </p:spPr>
        <p:txBody>
          <a:bodyPr/>
          <a:lstStyle/>
          <a:p>
            <a:endParaRPr lang="en-US"/>
          </a:p>
        </p:txBody>
      </p:sp>
      <p:sp>
        <p:nvSpPr>
          <p:cNvPr id="36" name="Text 34"/>
          <p:cNvSpPr txBox="1"/>
          <p:nvPr/>
        </p:nvSpPr>
        <p:spPr>
          <a:xfrm>
            <a:off x="1874520" y="7900416"/>
            <a:ext cx="4206240" cy="1115568"/>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Penalties, approvals, referrals</a:t>
            </a:r>
            <a:endParaRPr lang="en-US" sz="2400" dirty="0"/>
          </a:p>
        </p:txBody>
      </p:sp>
      <p:sp>
        <p:nvSpPr>
          <p:cNvPr id="37" name="Text 35"/>
          <p:cNvSpPr txBox="1"/>
          <p:nvPr/>
        </p:nvSpPr>
        <p:spPr>
          <a:xfrm>
            <a:off x="6309360" y="7900416"/>
            <a:ext cx="4663440" cy="1115568"/>
          </a:xfrm>
          <a:prstGeom prst="rect">
            <a:avLst/>
          </a:prstGeom>
          <a:noFill/>
          <a:ln/>
        </p:spPr>
        <p:txBody>
          <a:bodyPr wrap="square" lIns="0" tIns="0" rIns="0" bIns="0" rtlCol="0" anchor="ctr"/>
          <a:lstStyle/>
          <a:p>
            <a:pPr marL="0" indent="0">
              <a:buNone/>
            </a:pPr>
            <a:r>
              <a:rPr lang="en-US" sz="2400" dirty="0">
                <a:solidFill>
                  <a:srgbClr val="1E293B"/>
                </a:solidFill>
                <a:latin typeface="Arial" pitchFamily="34" charset="0"/>
                <a:ea typeface="Arial" pitchFamily="34" charset="-122"/>
                <a:cs typeface="Arial" pitchFamily="34" charset="-120"/>
              </a:rPr>
              <a:t>Send the decision to a person</a:t>
            </a:r>
            <a:endParaRPr lang="en-US" sz="2400" dirty="0"/>
          </a:p>
        </p:txBody>
      </p:sp>
      <p:sp>
        <p:nvSpPr>
          <p:cNvPr id="38" name="Text 36"/>
          <p:cNvSpPr txBox="1"/>
          <p:nvPr/>
        </p:nvSpPr>
        <p:spPr>
          <a:xfrm>
            <a:off x="11247120" y="7900416"/>
            <a:ext cx="5943600" cy="1115568"/>
          </a:xfrm>
          <a:prstGeom prst="rect">
            <a:avLst/>
          </a:prstGeom>
          <a:noFill/>
          <a:ln/>
        </p:spPr>
        <p:txBody>
          <a:bodyPr wrap="square" lIns="0" tIns="0" rIns="0" bIns="0" rtlCol="0" anchor="ctr"/>
          <a:lstStyle/>
          <a:p>
            <a:pPr marL="0" indent="0">
              <a:buNone/>
            </a:pPr>
            <a:r>
              <a:rPr lang="en-US" sz="2200" dirty="0">
                <a:solidFill>
                  <a:srgbClr val="4B5563"/>
                </a:solidFill>
                <a:latin typeface="Arial" pitchFamily="34" charset="0"/>
                <a:ea typeface="Arial" pitchFamily="34" charset="-122"/>
                <a:cs typeface="Arial" pitchFamily="34" charset="-120"/>
              </a:rPr>
              <a:t>Decide; the assistant only organizes evidence and names the office</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par>
                                <p:cTn id="45" presetID="10"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par>
                                <p:cTn id="51" presetID="10" presetClass="entr" presetSubtype="0" fill="hold"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400"/>
                                        <p:tgtEl>
                                          <p:spTgt spid="3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fade">
                                      <p:cBhvr>
                                        <p:cTn id="58" dur="400"/>
                                        <p:tgtEl>
                                          <p:spTgt spid="34"/>
                                        </p:tgtEl>
                                      </p:cBhvr>
                                    </p:animEffect>
                                  </p:childTnLst>
                                </p:cTn>
                              </p:par>
                              <p:par>
                                <p:cTn id="59" presetID="10" presetClass="entr" presetSubtype="0" fill="hold" nodeType="withEffect">
                                  <p:stCondLst>
                                    <p:cond delay="0"/>
                                  </p:stCondLst>
                                  <p:childTnLst>
                                    <p:set>
                                      <p:cBhvr>
                                        <p:cTn id="60" dur="1" fill="hold">
                                          <p:stCondLst>
                                            <p:cond delay="0"/>
                                          </p:stCondLst>
                                        </p:cTn>
                                        <p:tgtEl>
                                          <p:spTgt spid="35"/>
                                        </p:tgtEl>
                                        <p:attrNameLst>
                                          <p:attrName>style.visibility</p:attrName>
                                        </p:attrNameLst>
                                      </p:cBhvr>
                                      <p:to>
                                        <p:strVal val="visible"/>
                                      </p:to>
                                    </p:set>
                                    <p:animEffect transition="in" filter="fade">
                                      <p:cBhvr>
                                        <p:cTn id="61" dur="400"/>
                                        <p:tgtEl>
                                          <p:spTgt spid="35"/>
                                        </p:tgtEl>
                                      </p:cBhvr>
                                    </p:animEffect>
                                  </p:childTnLst>
                                </p:cTn>
                              </p:par>
                              <p:par>
                                <p:cTn id="62" presetID="10" presetClass="entr" presetSubtype="0" fill="hold" nodeType="withEffect">
                                  <p:stCondLst>
                                    <p:cond delay="0"/>
                                  </p:stCondLst>
                                  <p:childTnLst>
                                    <p:set>
                                      <p:cBhvr>
                                        <p:cTn id="63" dur="1" fill="hold">
                                          <p:stCondLst>
                                            <p:cond delay="0"/>
                                          </p:stCondLst>
                                        </p:cTn>
                                        <p:tgtEl>
                                          <p:spTgt spid="36"/>
                                        </p:tgtEl>
                                        <p:attrNameLst>
                                          <p:attrName>style.visibility</p:attrName>
                                        </p:attrNameLst>
                                      </p:cBhvr>
                                      <p:to>
                                        <p:strVal val="visible"/>
                                      </p:to>
                                    </p:set>
                                    <p:animEffect transition="in" filter="fade">
                                      <p:cBhvr>
                                        <p:cTn id="64" dur="400"/>
                                        <p:tgtEl>
                                          <p:spTgt spid="36"/>
                                        </p:tgtEl>
                                      </p:cBhvr>
                                    </p:animEffect>
                                  </p:childTnLst>
                                </p:cTn>
                              </p:par>
                              <p:par>
                                <p:cTn id="65" presetID="10" presetClass="entr" presetSubtype="0" fill="hold" nodeType="withEffect">
                                  <p:stCondLst>
                                    <p:cond delay="0"/>
                                  </p:stCondLst>
                                  <p:childTnLst>
                                    <p:set>
                                      <p:cBhvr>
                                        <p:cTn id="66" dur="1" fill="hold">
                                          <p:stCondLst>
                                            <p:cond delay="0"/>
                                          </p:stCondLst>
                                        </p:cTn>
                                        <p:tgtEl>
                                          <p:spTgt spid="37"/>
                                        </p:tgtEl>
                                        <p:attrNameLst>
                                          <p:attrName>style.visibility</p:attrName>
                                        </p:attrNameLst>
                                      </p:cBhvr>
                                      <p:to>
                                        <p:strVal val="visible"/>
                                      </p:to>
                                    </p:set>
                                    <p:animEffect transition="in" filter="fade">
                                      <p:cBhvr>
                                        <p:cTn id="67" dur="400"/>
                                        <p:tgtEl>
                                          <p:spTgt spid="37"/>
                                        </p:tgtEl>
                                      </p:cBhvr>
                                    </p:animEffect>
                                  </p:childTnLst>
                                </p:cTn>
                              </p:par>
                              <p:par>
                                <p:cTn id="68" presetID="10" presetClass="entr" presetSubtype="0" fill="hold" nodeType="withEffect">
                                  <p:stCondLst>
                                    <p:cond delay="0"/>
                                  </p:stCondLst>
                                  <p:childTnLst>
                                    <p:set>
                                      <p:cBhvr>
                                        <p:cTn id="69" dur="1" fill="hold">
                                          <p:stCondLst>
                                            <p:cond delay="0"/>
                                          </p:stCondLst>
                                        </p:cTn>
                                        <p:tgtEl>
                                          <p:spTgt spid="38"/>
                                        </p:tgtEl>
                                        <p:attrNameLst>
                                          <p:attrName>style.visibility</p:attrName>
                                        </p:attrNameLst>
                                      </p:cBhvr>
                                      <p:to>
                                        <p:strVal val="visible"/>
                                      </p:to>
                                    </p:set>
                                    <p:animEffect transition="in" filter="fade">
                                      <p:cBhvr>
                                        <p:cTn id="70"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WHAT WE CAN DO NOW</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Practical steps for schools, educators and national bodies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Proposals informed by the study, not tested interventions (paper, Section 6). Environmental effects of AI use were not measured.</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20</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Guide questions 4 and 5 · Solutions and collaboration</a:t>
            </a:r>
            <a:endParaRPr lang="en-US" sz="1800" dirty="0"/>
          </a:p>
        </p:txBody>
      </p:sp>
      <p:sp>
        <p:nvSpPr>
          <p:cNvPr id="20" name="Shape 18"/>
          <p:cNvSpPr/>
          <p:nvPr/>
        </p:nvSpPr>
        <p:spPr>
          <a:xfrm>
            <a:off x="877824" y="2834640"/>
            <a:ext cx="5330952" cy="52578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1" name="Shape 19"/>
          <p:cNvSpPr/>
          <p:nvPr/>
        </p:nvSpPr>
        <p:spPr>
          <a:xfrm>
            <a:off x="877824" y="2834640"/>
            <a:ext cx="5330952" cy="109728"/>
          </a:xfrm>
          <a:prstGeom prst="rect">
            <a:avLst/>
          </a:prstGeom>
          <a:solidFill>
            <a:srgbClr val="0F7B5F"/>
          </a:solidFill>
          <a:ln w="12700">
            <a:solidFill>
              <a:srgbClr val="0F7B5F"/>
            </a:solidFill>
            <a:prstDash val="solid"/>
          </a:ln>
        </p:spPr>
        <p:txBody>
          <a:bodyPr/>
          <a:lstStyle/>
          <a:p>
            <a:endParaRPr lang="en-US"/>
          </a:p>
        </p:txBody>
      </p:sp>
      <p:sp>
        <p:nvSpPr>
          <p:cNvPr id="22" name="Text 20"/>
          <p:cNvSpPr txBox="1"/>
          <p:nvPr/>
        </p:nvSpPr>
        <p:spPr>
          <a:xfrm>
            <a:off x="1243584" y="3108960"/>
            <a:ext cx="4599432" cy="1325880"/>
          </a:xfrm>
          <a:prstGeom prst="rect">
            <a:avLst/>
          </a:prstGeom>
          <a:noFill/>
          <a:ln/>
        </p:spPr>
        <p:txBody>
          <a:bodyPr wrap="square" lIns="0" tIns="0" rIns="0" bIns="0" rtlCol="0" anchor="t"/>
          <a:lstStyle/>
          <a:p>
            <a:pPr marL="0" indent="0">
              <a:buNone/>
            </a:pPr>
            <a:r>
              <a:rPr lang="en-US" sz="3200" dirty="0">
                <a:solidFill>
                  <a:srgbClr val="0B1F3A"/>
                </a:solidFill>
                <a:latin typeface="Georgia" pitchFamily="34" charset="0"/>
                <a:ea typeface="Georgia" pitchFamily="34" charset="-122"/>
                <a:cs typeface="Georgia" pitchFamily="34" charset="-120"/>
              </a:rPr>
              <a:t>Educators
</a:t>
            </a:r>
            <a:r>
              <a:rPr lang="en-US" sz="2000" b="1" dirty="0">
                <a:solidFill>
                  <a:srgbClr val="0F7B5F"/>
                </a:solidFill>
                <a:latin typeface="Arial" pitchFamily="34" charset="0"/>
                <a:ea typeface="Arial" pitchFamily="34" charset="-122"/>
                <a:cs typeface="Arial" pitchFamily="34" charset="-120"/>
              </a:rPr>
              <a:t>No special software needed</a:t>
            </a:r>
            <a:endParaRPr lang="en-US" sz="3200" dirty="0"/>
          </a:p>
        </p:txBody>
      </p:sp>
      <p:sp>
        <p:nvSpPr>
          <p:cNvPr id="23" name="Text 21"/>
          <p:cNvSpPr txBox="1"/>
          <p:nvPr/>
        </p:nvSpPr>
        <p:spPr>
          <a:xfrm>
            <a:off x="1243584"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Ask the AI to quote the rule it used</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Search the source for every quotation</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Recompute any number behind a decision</a:t>
            </a:r>
            <a:endParaRPr lang="en-US" sz="2400" dirty="0"/>
          </a:p>
        </p:txBody>
      </p:sp>
      <p:sp>
        <p:nvSpPr>
          <p:cNvPr id="24" name="Shape 22"/>
          <p:cNvSpPr/>
          <p:nvPr/>
        </p:nvSpPr>
        <p:spPr>
          <a:xfrm>
            <a:off x="6483096" y="2834640"/>
            <a:ext cx="5330952" cy="52578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6483096" y="2834640"/>
            <a:ext cx="5330952" cy="109728"/>
          </a:xfrm>
          <a:prstGeom prst="rect">
            <a:avLst/>
          </a:prstGeom>
          <a:solidFill>
            <a:srgbClr val="0038A8"/>
          </a:solidFill>
          <a:ln w="12700">
            <a:solidFill>
              <a:srgbClr val="0038A8"/>
            </a:solidFill>
            <a:prstDash val="solid"/>
          </a:ln>
        </p:spPr>
        <p:txBody>
          <a:bodyPr/>
          <a:lstStyle/>
          <a:p>
            <a:endParaRPr lang="en-US"/>
          </a:p>
        </p:txBody>
      </p:sp>
      <p:sp>
        <p:nvSpPr>
          <p:cNvPr id="26" name="Text 24"/>
          <p:cNvSpPr txBox="1"/>
          <p:nvPr/>
        </p:nvSpPr>
        <p:spPr>
          <a:xfrm>
            <a:off x="6848856" y="3108960"/>
            <a:ext cx="4599432" cy="1325880"/>
          </a:xfrm>
          <a:prstGeom prst="rect">
            <a:avLst/>
          </a:prstGeom>
          <a:noFill/>
          <a:ln/>
        </p:spPr>
        <p:txBody>
          <a:bodyPr wrap="square" lIns="0" tIns="0" rIns="0" bIns="0" rtlCol="0" anchor="t"/>
          <a:lstStyle/>
          <a:p>
            <a:pPr marL="0" indent="0">
              <a:buNone/>
            </a:pPr>
            <a:r>
              <a:rPr lang="en-US" sz="3200" dirty="0">
                <a:solidFill>
                  <a:srgbClr val="0B1F3A"/>
                </a:solidFill>
                <a:latin typeface="Georgia" pitchFamily="34" charset="0"/>
                <a:ea typeface="Georgia" pitchFamily="34" charset="-122"/>
                <a:cs typeface="Georgia" pitchFamily="34" charset="-120"/>
              </a:rPr>
              <a:t>Schools and registrars
</a:t>
            </a:r>
            <a:r>
              <a:rPr lang="en-US" sz="2000" b="1" dirty="0">
                <a:solidFill>
                  <a:srgbClr val="0038A8"/>
                </a:solidFill>
                <a:latin typeface="Arial" pitchFamily="34" charset="0"/>
                <a:ea typeface="Arial" pitchFamily="34" charset="-122"/>
                <a:cs typeface="Arial" pitchFamily="34" charset="-120"/>
              </a:rPr>
              <a:t>Keep rules usable</a:t>
            </a:r>
            <a:endParaRPr lang="en-US" sz="3200" dirty="0"/>
          </a:p>
        </p:txBody>
      </p:sp>
      <p:sp>
        <p:nvSpPr>
          <p:cNvPr id="27" name="Text 25"/>
          <p:cNvSpPr txBox="1"/>
          <p:nvPr/>
        </p:nvSpPr>
        <p:spPr>
          <a:xfrm>
            <a:off x="6848856"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Keep grading and integrity rules dated and versioned</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Record AI use on the forms you already have</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Trial AI quietly alongside staff first, with clear stop rules</a:t>
            </a:r>
            <a:endParaRPr lang="en-US" sz="2400" dirty="0"/>
          </a:p>
        </p:txBody>
      </p:sp>
      <p:sp>
        <p:nvSpPr>
          <p:cNvPr id="28" name="Shape 26"/>
          <p:cNvSpPr/>
          <p:nvPr/>
        </p:nvSpPr>
        <p:spPr>
          <a:xfrm>
            <a:off x="12088368" y="2834640"/>
            <a:ext cx="5330952" cy="52578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9" name="Shape 27"/>
          <p:cNvSpPr/>
          <p:nvPr/>
        </p:nvSpPr>
        <p:spPr>
          <a:xfrm>
            <a:off x="12088368" y="2834640"/>
            <a:ext cx="5330952" cy="109728"/>
          </a:xfrm>
          <a:prstGeom prst="rect">
            <a:avLst/>
          </a:prstGeom>
          <a:solidFill>
            <a:srgbClr val="CE1126"/>
          </a:solidFill>
          <a:ln w="12700">
            <a:solidFill>
              <a:srgbClr val="CE1126"/>
            </a:solidFill>
            <a:prstDash val="solid"/>
          </a:ln>
        </p:spPr>
        <p:txBody>
          <a:bodyPr/>
          <a:lstStyle/>
          <a:p>
            <a:endParaRPr lang="en-US"/>
          </a:p>
        </p:txBody>
      </p:sp>
      <p:sp>
        <p:nvSpPr>
          <p:cNvPr id="30" name="Text 28"/>
          <p:cNvSpPr txBox="1"/>
          <p:nvPr/>
        </p:nvSpPr>
        <p:spPr>
          <a:xfrm>
            <a:off x="12454128" y="3108960"/>
            <a:ext cx="4599432" cy="1325880"/>
          </a:xfrm>
          <a:prstGeom prst="rect">
            <a:avLst/>
          </a:prstGeom>
          <a:noFill/>
          <a:ln/>
        </p:spPr>
        <p:txBody>
          <a:bodyPr wrap="square" lIns="0" tIns="0" rIns="0" bIns="0" rtlCol="0" anchor="t"/>
          <a:lstStyle/>
          <a:p>
            <a:pPr marL="0" indent="0">
              <a:buNone/>
            </a:pPr>
            <a:r>
              <a:rPr lang="en-US" sz="3200" dirty="0">
                <a:solidFill>
                  <a:srgbClr val="0B1F3A"/>
                </a:solidFill>
                <a:latin typeface="Georgia" pitchFamily="34" charset="0"/>
                <a:ea typeface="Georgia" pitchFamily="34" charset="-122"/>
                <a:cs typeface="Georgia" pitchFamily="34" charset="-120"/>
              </a:rPr>
              <a:t>CHED, accreditors and partners
</a:t>
            </a:r>
            <a:r>
              <a:rPr lang="en-US" sz="2000" b="1" dirty="0">
                <a:solidFill>
                  <a:srgbClr val="CE1126"/>
                </a:solidFill>
                <a:latin typeface="Arial" pitchFamily="34" charset="0"/>
                <a:ea typeface="Arial" pitchFamily="34" charset="-122"/>
                <a:cs typeface="Arial" pitchFamily="34" charset="-120"/>
              </a:rPr>
              <a:t>Build shared tools</a:t>
            </a:r>
            <a:endParaRPr lang="en-US" sz="3200" dirty="0"/>
          </a:p>
        </p:txBody>
      </p:sp>
      <p:sp>
        <p:nvSpPr>
          <p:cNvPr id="31" name="Text 29"/>
          <p:cNvSpPr txBox="1"/>
          <p:nvPr/>
        </p:nvSpPr>
        <p:spPr>
          <a:xfrm>
            <a:off x="12454128"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Share open examples of rules turned into tests</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Ask for versioned rules and human final decisions</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Support regional offices to help smaller schools</a:t>
            </a:r>
            <a:endParaRPr lang="en-US" sz="2400" dirty="0"/>
          </a:p>
        </p:txBody>
      </p:sp>
      <p:sp>
        <p:nvSpPr>
          <p:cNvPr id="32" name="Shape 30"/>
          <p:cNvSpPr/>
          <p:nvPr/>
        </p:nvSpPr>
        <p:spPr>
          <a:xfrm>
            <a:off x="877824" y="8321040"/>
            <a:ext cx="16532352" cy="914400"/>
          </a:xfrm>
          <a:prstGeom prst="rect">
            <a:avLst/>
          </a:prstGeom>
          <a:solidFill>
            <a:srgbClr val="0B1F3A"/>
          </a:solidFill>
          <a:ln w="12700">
            <a:solidFill>
              <a:srgbClr val="0B1F3A"/>
            </a:solidFill>
            <a:prstDash val="solid"/>
          </a:ln>
        </p:spPr>
        <p:txBody>
          <a:bodyPr/>
          <a:lstStyle/>
          <a:p>
            <a:endParaRPr lang="en-US"/>
          </a:p>
        </p:txBody>
      </p:sp>
      <p:sp>
        <p:nvSpPr>
          <p:cNvPr id="33" name="Text 31"/>
          <p:cNvSpPr txBox="1"/>
          <p:nvPr/>
        </p:nvSpPr>
        <p:spPr>
          <a:xfrm>
            <a:off x="1280160" y="8412480"/>
            <a:ext cx="15727680" cy="73152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Sustainability means upkeep: record every rule version and update the tests when policies change.</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400"/>
                                        <p:tgtEl>
                                          <p:spTgt spid="2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par>
                                <p:cTn id="25" presetID="10"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par>
                                <p:cTn id="28" presetID="10" presetClass="entr" presetSubtype="0" fill="hold"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4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00"/>
                                        <p:tgtEl>
                                          <p:spTgt spid="28"/>
                                        </p:tgtEl>
                                      </p:cBhvr>
                                    </p:animEffect>
                                  </p:childTnLst>
                                </p:cTn>
                              </p:par>
                              <p:par>
                                <p:cTn id="36" presetID="10" presetClass="entr" presetSubtype="0" fill="hold" nodeType="with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00"/>
                                        <p:tgtEl>
                                          <p:spTgt spid="29"/>
                                        </p:tgtEl>
                                      </p:cBhvr>
                                    </p:animEffect>
                                  </p:childTnLst>
                                </p:cTn>
                              </p:par>
                              <p:par>
                                <p:cTn id="39" presetID="10"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00"/>
                                        <p:tgtEl>
                                          <p:spTgt spid="30"/>
                                        </p:tgtEl>
                                      </p:cBhvr>
                                    </p:animEffect>
                                  </p:childTnLst>
                                </p:cTn>
                              </p:par>
                              <p:par>
                                <p:cTn id="42" presetID="10" presetClass="entr" presetSubtype="0"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00"/>
                                        <p:tgtEl>
                                          <p:spTgt spid="31"/>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400"/>
                                        <p:tgtEl>
                                          <p:spTgt spid="32"/>
                                        </p:tgtEl>
                                      </p:cBhvr>
                                    </p:animEffect>
                                  </p:childTnLst>
                                </p:cTn>
                              </p:par>
                              <p:par>
                                <p:cTn id="50" presetID="10" presetClass="entr" presetSubtype="0" fill="hold" nodeType="withEffect">
                                  <p:stCondLst>
                                    <p:cond delay="0"/>
                                  </p:stCondLst>
                                  <p:childTnLst>
                                    <p:set>
                                      <p:cBhvr>
                                        <p:cTn id="51" dur="1" fill="hold">
                                          <p:stCondLst>
                                            <p:cond delay="0"/>
                                          </p:stCondLst>
                                        </p:cTn>
                                        <p:tgtEl>
                                          <p:spTgt spid="33"/>
                                        </p:tgtEl>
                                        <p:attrNameLst>
                                          <p:attrName>style.visibility</p:attrName>
                                        </p:attrNameLst>
                                      </p:cBhvr>
                                      <p:to>
                                        <p:strVal val="visible"/>
                                      </p:to>
                                    </p:set>
                                    <p:animEffect transition="in" filter="fade">
                                      <p:cBhvr>
                                        <p:cTn id="5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HONEST LIMITS AND NEXT STEPS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What limits this study, and how to strengthen it</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Paper, Sections 5 and 6, and Appendices C and E. For a journal version, independent validation comes before adding more models.</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21</a:t>
            </a:r>
            <a:endParaRPr lang="en-US" sz="1600" dirty="0"/>
          </a:p>
        </p:txBody>
      </p:sp>
      <p:sp>
        <p:nvSpPr>
          <p:cNvPr id="19" name="Shape 17"/>
          <p:cNvSpPr/>
          <p:nvPr/>
        </p:nvSpPr>
        <p:spPr>
          <a:xfrm>
            <a:off x="877824" y="2697480"/>
            <a:ext cx="5330952" cy="6537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877824" y="2697480"/>
            <a:ext cx="5330952" cy="914400"/>
          </a:xfrm>
          <a:prstGeom prst="rect">
            <a:avLst/>
          </a:prstGeom>
          <a:solidFill>
            <a:srgbClr val="FBEBEC"/>
          </a:solidFill>
          <a:ln w="12700">
            <a:solidFill>
              <a:srgbClr val="FBEBEC"/>
            </a:solidFill>
            <a:prstDash val="solid"/>
          </a:ln>
        </p:spPr>
        <p:txBody>
          <a:bodyPr/>
          <a:lstStyle/>
          <a:p>
            <a:endParaRPr lang="en-US"/>
          </a:p>
        </p:txBody>
      </p:sp>
      <p:sp>
        <p:nvSpPr>
          <p:cNvPr id="21" name="Text 19"/>
          <p:cNvSpPr txBox="1"/>
          <p:nvPr/>
        </p:nvSpPr>
        <p:spPr>
          <a:xfrm>
            <a:off x="1243584" y="2743200"/>
            <a:ext cx="4599432" cy="822960"/>
          </a:xfrm>
          <a:prstGeom prst="rect">
            <a:avLst/>
          </a:prstGeom>
          <a:noFill/>
          <a:ln/>
        </p:spPr>
        <p:txBody>
          <a:bodyPr wrap="square" lIns="0" tIns="0" rIns="0" bIns="0" rtlCol="0" anchor="ctr"/>
          <a:lstStyle/>
          <a:p>
            <a:pPr marL="0" indent="0">
              <a:buNone/>
            </a:pPr>
            <a:r>
              <a:rPr lang="en-US" sz="3200" dirty="0">
                <a:solidFill>
                  <a:srgbClr val="CE1126"/>
                </a:solidFill>
                <a:latin typeface="Georgia" pitchFamily="34" charset="0"/>
                <a:ea typeface="Georgia" pitchFamily="34" charset="-122"/>
                <a:cs typeface="Georgia" pitchFamily="34" charset="-120"/>
              </a:rPr>
              <a:t>Limits</a:t>
            </a:r>
            <a:endParaRPr lang="en-US" sz="3200" dirty="0"/>
          </a:p>
        </p:txBody>
      </p:sp>
      <p:sp>
        <p:nvSpPr>
          <p:cNvPr id="22" name="Shape 20"/>
          <p:cNvSpPr/>
          <p:nvPr/>
        </p:nvSpPr>
        <p:spPr>
          <a:xfrm>
            <a:off x="1243584" y="4041648"/>
            <a:ext cx="548640" cy="548640"/>
          </a:xfrm>
          <a:prstGeom prst="ellipse">
            <a:avLst/>
          </a:prstGeom>
          <a:solidFill>
            <a:srgbClr val="CE1126"/>
          </a:solidFill>
          <a:ln w="12700">
            <a:solidFill>
              <a:srgbClr val="CE1126"/>
            </a:solidFill>
            <a:prstDash val="solid"/>
          </a:ln>
        </p:spPr>
        <p:txBody>
          <a:bodyPr/>
          <a:lstStyle/>
          <a:p>
            <a:endParaRPr lang="en-US"/>
          </a:p>
        </p:txBody>
      </p:sp>
      <p:sp>
        <p:nvSpPr>
          <p:cNvPr id="23" name="Text 21"/>
          <p:cNvSpPr txBox="1"/>
          <p:nvPr/>
        </p:nvSpPr>
        <p:spPr>
          <a:xfrm>
            <a:off x="1243584" y="4041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24" name="Text 22"/>
          <p:cNvSpPr txBox="1"/>
          <p:nvPr/>
        </p:nvSpPr>
        <p:spPr>
          <a:xfrm>
            <a:off x="2020824" y="384048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One researcher wrote, timed and scored the cases</a:t>
            </a:r>
            <a:endParaRPr lang="en-US" sz="2200" dirty="0"/>
          </a:p>
        </p:txBody>
      </p:sp>
      <p:sp>
        <p:nvSpPr>
          <p:cNvPr id="25" name="Shape 23"/>
          <p:cNvSpPr/>
          <p:nvPr/>
        </p:nvSpPr>
        <p:spPr>
          <a:xfrm>
            <a:off x="1243584" y="5367528"/>
            <a:ext cx="548640" cy="548640"/>
          </a:xfrm>
          <a:prstGeom prst="ellipse">
            <a:avLst/>
          </a:prstGeom>
          <a:solidFill>
            <a:srgbClr val="CE1126"/>
          </a:solidFill>
          <a:ln w="12700">
            <a:solidFill>
              <a:srgbClr val="CE1126"/>
            </a:solidFill>
            <a:prstDash val="solid"/>
          </a:ln>
        </p:spPr>
        <p:txBody>
          <a:bodyPr/>
          <a:lstStyle/>
          <a:p>
            <a:endParaRPr lang="en-US"/>
          </a:p>
        </p:txBody>
      </p:sp>
      <p:sp>
        <p:nvSpPr>
          <p:cNvPr id="26" name="Text 24"/>
          <p:cNvSpPr txBox="1"/>
          <p:nvPr/>
        </p:nvSpPr>
        <p:spPr>
          <a:xfrm>
            <a:off x="1243584" y="53675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27" name="Text 25"/>
          <p:cNvSpPr txBox="1"/>
          <p:nvPr/>
        </p:nvSpPr>
        <p:spPr>
          <a:xfrm>
            <a:off x="2020824" y="516636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Answer keys were not independently validated</a:t>
            </a:r>
            <a:endParaRPr lang="en-US" sz="2200" dirty="0"/>
          </a:p>
        </p:txBody>
      </p:sp>
      <p:sp>
        <p:nvSpPr>
          <p:cNvPr id="28" name="Shape 26"/>
          <p:cNvSpPr/>
          <p:nvPr/>
        </p:nvSpPr>
        <p:spPr>
          <a:xfrm>
            <a:off x="1243584" y="6693408"/>
            <a:ext cx="548640" cy="548640"/>
          </a:xfrm>
          <a:prstGeom prst="ellipse">
            <a:avLst/>
          </a:prstGeom>
          <a:solidFill>
            <a:srgbClr val="CE1126"/>
          </a:solidFill>
          <a:ln w="12700">
            <a:solidFill>
              <a:srgbClr val="CE1126"/>
            </a:solidFill>
            <a:prstDash val="solid"/>
          </a:ln>
        </p:spPr>
        <p:txBody>
          <a:bodyPr/>
          <a:lstStyle/>
          <a:p>
            <a:endParaRPr lang="en-US"/>
          </a:p>
        </p:txBody>
      </p:sp>
      <p:sp>
        <p:nvSpPr>
          <p:cNvPr id="29" name="Text 27"/>
          <p:cNvSpPr txBox="1"/>
          <p:nvPr/>
        </p:nvSpPr>
        <p:spPr>
          <a:xfrm>
            <a:off x="1243584" y="669340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30" name="Text 28"/>
          <p:cNvSpPr txBox="1"/>
          <p:nvPr/>
        </p:nvSpPr>
        <p:spPr>
          <a:xfrm>
            <a:off x="2020824" y="649224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Rules were supplied, cases in English only</a:t>
            </a:r>
            <a:endParaRPr lang="en-US" sz="2200" dirty="0"/>
          </a:p>
        </p:txBody>
      </p:sp>
      <p:sp>
        <p:nvSpPr>
          <p:cNvPr id="31" name="Shape 29"/>
          <p:cNvSpPr/>
          <p:nvPr/>
        </p:nvSpPr>
        <p:spPr>
          <a:xfrm>
            <a:off x="1243584" y="8019288"/>
            <a:ext cx="548640" cy="548640"/>
          </a:xfrm>
          <a:prstGeom prst="ellipse">
            <a:avLst/>
          </a:prstGeom>
          <a:solidFill>
            <a:srgbClr val="CE1126"/>
          </a:solidFill>
          <a:ln w="12700">
            <a:solidFill>
              <a:srgbClr val="CE1126"/>
            </a:solidFill>
            <a:prstDash val="solid"/>
          </a:ln>
        </p:spPr>
        <p:txBody>
          <a:bodyPr/>
          <a:lstStyle/>
          <a:p>
            <a:endParaRPr lang="en-US"/>
          </a:p>
        </p:txBody>
      </p:sp>
      <p:sp>
        <p:nvSpPr>
          <p:cNvPr id="32" name="Text 30"/>
          <p:cNvSpPr txBox="1"/>
          <p:nvPr/>
        </p:nvSpPr>
        <p:spPr>
          <a:xfrm>
            <a:off x="1243584" y="80192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txBox="1"/>
          <p:nvPr/>
        </p:nvSpPr>
        <p:spPr>
          <a:xfrm>
            <a:off x="2020824" y="781812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Answers were collected by hand</a:t>
            </a:r>
            <a:endParaRPr lang="en-US" sz="2200" dirty="0"/>
          </a:p>
        </p:txBody>
      </p:sp>
      <p:sp>
        <p:nvSpPr>
          <p:cNvPr id="34" name="Shape 32"/>
          <p:cNvSpPr/>
          <p:nvPr/>
        </p:nvSpPr>
        <p:spPr>
          <a:xfrm>
            <a:off x="6483096" y="2697480"/>
            <a:ext cx="5330952" cy="6537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5" name="Shape 33"/>
          <p:cNvSpPr/>
          <p:nvPr/>
        </p:nvSpPr>
        <p:spPr>
          <a:xfrm>
            <a:off x="6483096" y="2697480"/>
            <a:ext cx="5330952" cy="914400"/>
          </a:xfrm>
          <a:prstGeom prst="rect">
            <a:avLst/>
          </a:prstGeom>
          <a:solidFill>
            <a:srgbClr val="E7F4EF"/>
          </a:solidFill>
          <a:ln w="12700">
            <a:solidFill>
              <a:srgbClr val="E7F4EF"/>
            </a:solidFill>
            <a:prstDash val="solid"/>
          </a:ln>
        </p:spPr>
        <p:txBody>
          <a:bodyPr/>
          <a:lstStyle/>
          <a:p>
            <a:endParaRPr lang="en-US"/>
          </a:p>
        </p:txBody>
      </p:sp>
      <p:sp>
        <p:nvSpPr>
          <p:cNvPr id="36" name="Text 34"/>
          <p:cNvSpPr txBox="1"/>
          <p:nvPr/>
        </p:nvSpPr>
        <p:spPr>
          <a:xfrm>
            <a:off x="6848856" y="2743200"/>
            <a:ext cx="4599432" cy="822960"/>
          </a:xfrm>
          <a:prstGeom prst="rect">
            <a:avLst/>
          </a:prstGeom>
          <a:noFill/>
          <a:ln/>
        </p:spPr>
        <p:txBody>
          <a:bodyPr wrap="square" lIns="0" tIns="0" rIns="0" bIns="0" rtlCol="0" anchor="ctr"/>
          <a:lstStyle/>
          <a:p>
            <a:pPr marL="0" indent="0">
              <a:buNone/>
            </a:pPr>
            <a:r>
              <a:rPr lang="en-US" sz="3200" dirty="0">
                <a:solidFill>
                  <a:srgbClr val="0F7B5F"/>
                </a:solidFill>
                <a:latin typeface="Georgia" pitchFamily="34" charset="0"/>
                <a:ea typeface="Georgia" pitchFamily="34" charset="-122"/>
                <a:cs typeface="Georgia" pitchFamily="34" charset="-120"/>
              </a:rPr>
              <a:t>What it adds</a:t>
            </a:r>
            <a:endParaRPr lang="en-US" sz="3200" dirty="0"/>
          </a:p>
        </p:txBody>
      </p:sp>
      <p:sp>
        <p:nvSpPr>
          <p:cNvPr id="37" name="Shape 35"/>
          <p:cNvSpPr/>
          <p:nvPr/>
        </p:nvSpPr>
        <p:spPr>
          <a:xfrm>
            <a:off x="6848856" y="4041648"/>
            <a:ext cx="548640" cy="548640"/>
          </a:xfrm>
          <a:prstGeom prst="ellipse">
            <a:avLst/>
          </a:prstGeom>
          <a:solidFill>
            <a:srgbClr val="0F7B5F"/>
          </a:solidFill>
          <a:ln w="12700">
            <a:solidFill>
              <a:srgbClr val="0F7B5F"/>
            </a:solidFill>
            <a:prstDash val="solid"/>
          </a:ln>
        </p:spPr>
        <p:txBody>
          <a:bodyPr/>
          <a:lstStyle/>
          <a:p>
            <a:endParaRPr lang="en-US"/>
          </a:p>
        </p:txBody>
      </p:sp>
      <p:sp>
        <p:nvSpPr>
          <p:cNvPr id="38" name="Text 36"/>
          <p:cNvSpPr txBox="1"/>
          <p:nvPr/>
        </p:nvSpPr>
        <p:spPr>
          <a:xfrm>
            <a:off x="6848856" y="4041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39" name="Text 37"/>
          <p:cNvSpPr txBox="1"/>
          <p:nvPr/>
        </p:nvSpPr>
        <p:spPr>
          <a:xfrm>
            <a:off x="7626096" y="384048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 test set, to be released, for others to inspect and reuse</a:t>
            </a:r>
            <a:endParaRPr lang="en-US" sz="2200" dirty="0"/>
          </a:p>
        </p:txBody>
      </p:sp>
      <p:sp>
        <p:nvSpPr>
          <p:cNvPr id="40" name="Shape 38"/>
          <p:cNvSpPr/>
          <p:nvPr/>
        </p:nvSpPr>
        <p:spPr>
          <a:xfrm>
            <a:off x="6848856" y="5367528"/>
            <a:ext cx="548640" cy="548640"/>
          </a:xfrm>
          <a:prstGeom prst="ellipse">
            <a:avLst/>
          </a:prstGeom>
          <a:solidFill>
            <a:srgbClr val="0F7B5F"/>
          </a:solidFill>
          <a:ln w="12700">
            <a:solidFill>
              <a:srgbClr val="0F7B5F"/>
            </a:solidFill>
            <a:prstDash val="solid"/>
          </a:ln>
        </p:spPr>
        <p:txBody>
          <a:bodyPr/>
          <a:lstStyle/>
          <a:p>
            <a:endParaRPr lang="en-US"/>
          </a:p>
        </p:txBody>
      </p:sp>
      <p:sp>
        <p:nvSpPr>
          <p:cNvPr id="41" name="Text 39"/>
          <p:cNvSpPr txBox="1"/>
          <p:nvPr/>
        </p:nvSpPr>
        <p:spPr>
          <a:xfrm>
            <a:off x="6848856" y="53675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42" name="Text 40"/>
          <p:cNvSpPr txBox="1"/>
          <p:nvPr/>
        </p:nvSpPr>
        <p:spPr>
          <a:xfrm>
            <a:off x="7626096" y="516636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Evidence on what simple checks stop and miss</a:t>
            </a:r>
            <a:endParaRPr lang="en-US" sz="2200" dirty="0"/>
          </a:p>
        </p:txBody>
      </p:sp>
      <p:sp>
        <p:nvSpPr>
          <p:cNvPr id="43" name="Shape 41"/>
          <p:cNvSpPr/>
          <p:nvPr/>
        </p:nvSpPr>
        <p:spPr>
          <a:xfrm>
            <a:off x="6848856" y="6693408"/>
            <a:ext cx="548640" cy="548640"/>
          </a:xfrm>
          <a:prstGeom prst="ellipse">
            <a:avLst/>
          </a:prstGeom>
          <a:solidFill>
            <a:srgbClr val="0F7B5F"/>
          </a:solidFill>
          <a:ln w="12700">
            <a:solidFill>
              <a:srgbClr val="0F7B5F"/>
            </a:solidFill>
            <a:prstDash val="solid"/>
          </a:ln>
        </p:spPr>
        <p:txBody>
          <a:bodyPr/>
          <a:lstStyle/>
          <a:p>
            <a:endParaRPr lang="en-US"/>
          </a:p>
        </p:txBody>
      </p:sp>
      <p:sp>
        <p:nvSpPr>
          <p:cNvPr id="44" name="Text 42"/>
          <p:cNvSpPr txBox="1"/>
          <p:nvPr/>
        </p:nvSpPr>
        <p:spPr>
          <a:xfrm>
            <a:off x="6848856" y="669340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45" name="Text 43"/>
          <p:cNvSpPr txBox="1"/>
          <p:nvPr/>
        </p:nvSpPr>
        <p:spPr>
          <a:xfrm>
            <a:off x="7626096" y="649224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 clear split of work between software and people</a:t>
            </a:r>
            <a:endParaRPr lang="en-US" sz="2200" dirty="0"/>
          </a:p>
        </p:txBody>
      </p:sp>
      <p:sp>
        <p:nvSpPr>
          <p:cNvPr id="46" name="Shape 44"/>
          <p:cNvSpPr/>
          <p:nvPr/>
        </p:nvSpPr>
        <p:spPr>
          <a:xfrm>
            <a:off x="6848856" y="8019288"/>
            <a:ext cx="548640" cy="548640"/>
          </a:xfrm>
          <a:prstGeom prst="ellipse">
            <a:avLst/>
          </a:prstGeom>
          <a:solidFill>
            <a:srgbClr val="0F7B5F"/>
          </a:solidFill>
          <a:ln w="12700">
            <a:solidFill>
              <a:srgbClr val="0F7B5F"/>
            </a:solidFill>
            <a:prstDash val="solid"/>
          </a:ln>
        </p:spPr>
        <p:txBody>
          <a:bodyPr/>
          <a:lstStyle/>
          <a:p>
            <a:endParaRPr lang="en-US"/>
          </a:p>
        </p:txBody>
      </p:sp>
      <p:sp>
        <p:nvSpPr>
          <p:cNvPr id="47" name="Text 45"/>
          <p:cNvSpPr txBox="1"/>
          <p:nvPr/>
        </p:nvSpPr>
        <p:spPr>
          <a:xfrm>
            <a:off x="6848856" y="80192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48" name="Text 46"/>
          <p:cNvSpPr txBox="1"/>
          <p:nvPr/>
        </p:nvSpPr>
        <p:spPr>
          <a:xfrm>
            <a:off x="7626096" y="781812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Concrete levers for CHED and accreditors</a:t>
            </a:r>
            <a:endParaRPr lang="en-US" sz="2200" dirty="0"/>
          </a:p>
        </p:txBody>
      </p:sp>
      <p:sp>
        <p:nvSpPr>
          <p:cNvPr id="49" name="Shape 47"/>
          <p:cNvSpPr/>
          <p:nvPr/>
        </p:nvSpPr>
        <p:spPr>
          <a:xfrm>
            <a:off x="12088368" y="2697480"/>
            <a:ext cx="5330952" cy="6537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50" name="Shape 48"/>
          <p:cNvSpPr/>
          <p:nvPr/>
        </p:nvSpPr>
        <p:spPr>
          <a:xfrm>
            <a:off x="12088368" y="2697480"/>
            <a:ext cx="5330952" cy="914400"/>
          </a:xfrm>
          <a:prstGeom prst="rect">
            <a:avLst/>
          </a:prstGeom>
          <a:solidFill>
            <a:srgbClr val="EEF3FB"/>
          </a:solidFill>
          <a:ln w="12700">
            <a:solidFill>
              <a:srgbClr val="EEF3FB"/>
            </a:solidFill>
            <a:prstDash val="solid"/>
          </a:ln>
        </p:spPr>
        <p:txBody>
          <a:bodyPr/>
          <a:lstStyle/>
          <a:p>
            <a:endParaRPr lang="en-US"/>
          </a:p>
        </p:txBody>
      </p:sp>
      <p:sp>
        <p:nvSpPr>
          <p:cNvPr id="51" name="Text 49"/>
          <p:cNvSpPr txBox="1"/>
          <p:nvPr/>
        </p:nvSpPr>
        <p:spPr>
          <a:xfrm>
            <a:off x="12454128" y="2743200"/>
            <a:ext cx="4599432" cy="822960"/>
          </a:xfrm>
          <a:prstGeom prst="rect">
            <a:avLst/>
          </a:prstGeom>
          <a:noFill/>
          <a:ln/>
        </p:spPr>
        <p:txBody>
          <a:bodyPr wrap="square" lIns="0" tIns="0" rIns="0" bIns="0" rtlCol="0" anchor="ctr"/>
          <a:lstStyle/>
          <a:p>
            <a:pPr marL="0" indent="0">
              <a:buNone/>
            </a:pPr>
            <a:r>
              <a:rPr lang="en-US" sz="3200" dirty="0">
                <a:solidFill>
                  <a:srgbClr val="0038A8"/>
                </a:solidFill>
                <a:latin typeface="Georgia" pitchFamily="34" charset="0"/>
                <a:ea typeface="Georgia" pitchFamily="34" charset="-122"/>
                <a:cs typeface="Georgia" pitchFamily="34" charset="-120"/>
              </a:rPr>
              <a:t>Next steps</a:t>
            </a:r>
            <a:endParaRPr lang="en-US" sz="3200" dirty="0"/>
          </a:p>
        </p:txBody>
      </p:sp>
      <p:sp>
        <p:nvSpPr>
          <p:cNvPr id="52" name="Shape 50"/>
          <p:cNvSpPr/>
          <p:nvPr/>
        </p:nvSpPr>
        <p:spPr>
          <a:xfrm>
            <a:off x="12454128" y="4041648"/>
            <a:ext cx="548640" cy="548640"/>
          </a:xfrm>
          <a:prstGeom prst="ellipse">
            <a:avLst/>
          </a:prstGeom>
          <a:solidFill>
            <a:srgbClr val="0038A8"/>
          </a:solidFill>
          <a:ln w="12700">
            <a:solidFill>
              <a:srgbClr val="0038A8"/>
            </a:solidFill>
            <a:prstDash val="solid"/>
          </a:ln>
        </p:spPr>
        <p:txBody>
          <a:bodyPr/>
          <a:lstStyle/>
          <a:p>
            <a:endParaRPr lang="en-US"/>
          </a:p>
        </p:txBody>
      </p:sp>
      <p:sp>
        <p:nvSpPr>
          <p:cNvPr id="53" name="Text 51"/>
          <p:cNvSpPr txBox="1"/>
          <p:nvPr/>
        </p:nvSpPr>
        <p:spPr>
          <a:xfrm>
            <a:off x="12454128" y="4041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4" name="Text 52"/>
          <p:cNvSpPr txBox="1"/>
          <p:nvPr/>
        </p:nvSpPr>
        <p:spPr>
          <a:xfrm>
            <a:off x="13231368" y="384048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Independent experts review the answer keys</a:t>
            </a:r>
            <a:endParaRPr lang="en-US" sz="2200" dirty="0"/>
          </a:p>
        </p:txBody>
      </p:sp>
      <p:sp>
        <p:nvSpPr>
          <p:cNvPr id="55" name="Shape 53"/>
          <p:cNvSpPr/>
          <p:nvPr/>
        </p:nvSpPr>
        <p:spPr>
          <a:xfrm>
            <a:off x="12454128" y="5367528"/>
            <a:ext cx="548640" cy="548640"/>
          </a:xfrm>
          <a:prstGeom prst="ellipse">
            <a:avLst/>
          </a:prstGeom>
          <a:solidFill>
            <a:srgbClr val="0038A8"/>
          </a:solidFill>
          <a:ln w="12700">
            <a:solidFill>
              <a:srgbClr val="0038A8"/>
            </a:solidFill>
            <a:prstDash val="solid"/>
          </a:ln>
        </p:spPr>
        <p:txBody>
          <a:bodyPr/>
          <a:lstStyle/>
          <a:p>
            <a:endParaRPr lang="en-US"/>
          </a:p>
        </p:txBody>
      </p:sp>
      <p:sp>
        <p:nvSpPr>
          <p:cNvPr id="56" name="Text 54"/>
          <p:cNvSpPr txBox="1"/>
          <p:nvPr/>
        </p:nvSpPr>
        <p:spPr>
          <a:xfrm>
            <a:off x="12454128" y="53675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57" name="Text 55"/>
          <p:cNvSpPr txBox="1"/>
          <p:nvPr/>
        </p:nvSpPr>
        <p:spPr>
          <a:xfrm>
            <a:off x="13231368" y="516636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Educators outside the study score them</a:t>
            </a:r>
            <a:endParaRPr lang="en-US" sz="2200" dirty="0"/>
          </a:p>
        </p:txBody>
      </p:sp>
      <p:sp>
        <p:nvSpPr>
          <p:cNvPr id="58" name="Shape 56"/>
          <p:cNvSpPr/>
          <p:nvPr/>
        </p:nvSpPr>
        <p:spPr>
          <a:xfrm>
            <a:off x="12454128" y="6693408"/>
            <a:ext cx="548640" cy="548640"/>
          </a:xfrm>
          <a:prstGeom prst="ellipse">
            <a:avLst/>
          </a:prstGeom>
          <a:solidFill>
            <a:srgbClr val="0038A8"/>
          </a:solidFill>
          <a:ln w="12700">
            <a:solidFill>
              <a:srgbClr val="0038A8"/>
            </a:solidFill>
            <a:prstDash val="solid"/>
          </a:ln>
        </p:spPr>
        <p:txBody>
          <a:bodyPr/>
          <a:lstStyle/>
          <a:p>
            <a:endParaRPr lang="en-US"/>
          </a:p>
        </p:txBody>
      </p:sp>
      <p:sp>
        <p:nvSpPr>
          <p:cNvPr id="59" name="Text 57"/>
          <p:cNvSpPr txBox="1"/>
          <p:nvPr/>
        </p:nvSpPr>
        <p:spPr>
          <a:xfrm>
            <a:off x="12454128" y="669340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60" name="Text 58"/>
          <p:cNvSpPr txBox="1"/>
          <p:nvPr/>
        </p:nvSpPr>
        <p:spPr>
          <a:xfrm>
            <a:off x="13231368" y="649224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AI judges as a cross-check, never as the decider</a:t>
            </a:r>
            <a:endParaRPr lang="en-US" sz="2200" dirty="0"/>
          </a:p>
        </p:txBody>
      </p:sp>
      <p:sp>
        <p:nvSpPr>
          <p:cNvPr id="61" name="Shape 59"/>
          <p:cNvSpPr/>
          <p:nvPr/>
        </p:nvSpPr>
        <p:spPr>
          <a:xfrm>
            <a:off x="12454128" y="8019288"/>
            <a:ext cx="548640" cy="548640"/>
          </a:xfrm>
          <a:prstGeom prst="ellipse">
            <a:avLst/>
          </a:prstGeom>
          <a:solidFill>
            <a:srgbClr val="0038A8"/>
          </a:solidFill>
          <a:ln w="12700">
            <a:solidFill>
              <a:srgbClr val="0038A8"/>
            </a:solidFill>
            <a:prstDash val="solid"/>
          </a:ln>
        </p:spPr>
        <p:txBody>
          <a:bodyPr/>
          <a:lstStyle/>
          <a:p>
            <a:endParaRPr lang="en-US"/>
          </a:p>
        </p:txBody>
      </p:sp>
      <p:sp>
        <p:nvSpPr>
          <p:cNvPr id="62" name="Text 60"/>
          <p:cNvSpPr txBox="1"/>
          <p:nvPr/>
        </p:nvSpPr>
        <p:spPr>
          <a:xfrm>
            <a:off x="12454128" y="80192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63" name="Text 61"/>
          <p:cNvSpPr txBox="1"/>
          <p:nvPr/>
        </p:nvSpPr>
        <p:spPr>
          <a:xfrm>
            <a:off x="13231368" y="781812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More schools, Filipino and regional languages</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par>
                                <p:cTn id="117" presetID="10" presetClass="entr" presetSubtype="0"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fade">
                                      <p:cBhvr>
                                        <p:cTn id="119" dur="400"/>
                                        <p:tgtEl>
                                          <p:spTgt spid="55"/>
                                        </p:tgtEl>
                                      </p:cBhvr>
                                    </p:animEffect>
                                  </p:childTnLst>
                                </p:cTn>
                              </p:par>
                              <p:par>
                                <p:cTn id="120" presetID="10" presetClass="entr" presetSubtype="0" fill="hold" nodeType="withEffect">
                                  <p:stCondLst>
                                    <p:cond delay="0"/>
                                  </p:stCondLst>
                                  <p:childTnLst>
                                    <p:set>
                                      <p:cBhvr>
                                        <p:cTn id="121" dur="1" fill="hold">
                                          <p:stCondLst>
                                            <p:cond delay="0"/>
                                          </p:stCondLst>
                                        </p:cTn>
                                        <p:tgtEl>
                                          <p:spTgt spid="56"/>
                                        </p:tgtEl>
                                        <p:attrNameLst>
                                          <p:attrName>style.visibility</p:attrName>
                                        </p:attrNameLst>
                                      </p:cBhvr>
                                      <p:to>
                                        <p:strVal val="visible"/>
                                      </p:to>
                                    </p:set>
                                    <p:animEffect transition="in" filter="fade">
                                      <p:cBhvr>
                                        <p:cTn id="122" dur="400"/>
                                        <p:tgtEl>
                                          <p:spTgt spid="56"/>
                                        </p:tgtEl>
                                      </p:cBhvr>
                                    </p:animEffect>
                                  </p:childTnLst>
                                </p:cTn>
                              </p:par>
                              <p:par>
                                <p:cTn id="123" presetID="10" presetClass="entr" presetSubtype="0" fill="hold" nodeType="withEffect">
                                  <p:stCondLst>
                                    <p:cond delay="0"/>
                                  </p:stCondLst>
                                  <p:childTnLst>
                                    <p:set>
                                      <p:cBhvr>
                                        <p:cTn id="124" dur="1" fill="hold">
                                          <p:stCondLst>
                                            <p:cond delay="0"/>
                                          </p:stCondLst>
                                        </p:cTn>
                                        <p:tgtEl>
                                          <p:spTgt spid="57"/>
                                        </p:tgtEl>
                                        <p:attrNameLst>
                                          <p:attrName>style.visibility</p:attrName>
                                        </p:attrNameLst>
                                      </p:cBhvr>
                                      <p:to>
                                        <p:strVal val="visible"/>
                                      </p:to>
                                    </p:set>
                                    <p:animEffect transition="in" filter="fade">
                                      <p:cBhvr>
                                        <p:cTn id="125" dur="400"/>
                                        <p:tgtEl>
                                          <p:spTgt spid="57"/>
                                        </p:tgtEl>
                                      </p:cBhvr>
                                    </p:animEffect>
                                  </p:childTnLst>
                                </p:cTn>
                              </p:par>
                              <p:par>
                                <p:cTn id="126" presetID="10" presetClass="entr" presetSubtype="0" fill="hold" nodeType="withEffect">
                                  <p:stCondLst>
                                    <p:cond delay="0"/>
                                  </p:stCondLst>
                                  <p:childTnLst>
                                    <p:set>
                                      <p:cBhvr>
                                        <p:cTn id="127" dur="1" fill="hold">
                                          <p:stCondLst>
                                            <p:cond delay="0"/>
                                          </p:stCondLst>
                                        </p:cTn>
                                        <p:tgtEl>
                                          <p:spTgt spid="58"/>
                                        </p:tgtEl>
                                        <p:attrNameLst>
                                          <p:attrName>style.visibility</p:attrName>
                                        </p:attrNameLst>
                                      </p:cBhvr>
                                      <p:to>
                                        <p:strVal val="visible"/>
                                      </p:to>
                                    </p:set>
                                    <p:animEffect transition="in" filter="fade">
                                      <p:cBhvr>
                                        <p:cTn id="128" dur="400"/>
                                        <p:tgtEl>
                                          <p:spTgt spid="58"/>
                                        </p:tgtEl>
                                      </p:cBhvr>
                                    </p:animEffect>
                                  </p:childTnLst>
                                </p:cTn>
                              </p:par>
                              <p:par>
                                <p:cTn id="129" presetID="10" presetClass="entr" presetSubtype="0" fill="hold" nodeType="withEffect">
                                  <p:stCondLst>
                                    <p:cond delay="0"/>
                                  </p:stCondLst>
                                  <p:childTnLst>
                                    <p:set>
                                      <p:cBhvr>
                                        <p:cTn id="130" dur="1" fill="hold">
                                          <p:stCondLst>
                                            <p:cond delay="0"/>
                                          </p:stCondLst>
                                        </p:cTn>
                                        <p:tgtEl>
                                          <p:spTgt spid="59"/>
                                        </p:tgtEl>
                                        <p:attrNameLst>
                                          <p:attrName>style.visibility</p:attrName>
                                        </p:attrNameLst>
                                      </p:cBhvr>
                                      <p:to>
                                        <p:strVal val="visible"/>
                                      </p:to>
                                    </p:set>
                                    <p:animEffect transition="in" filter="fade">
                                      <p:cBhvr>
                                        <p:cTn id="131" dur="400"/>
                                        <p:tgtEl>
                                          <p:spTgt spid="59"/>
                                        </p:tgtEl>
                                      </p:cBhvr>
                                    </p:animEffect>
                                  </p:childTnLst>
                                </p:cTn>
                              </p:par>
                              <p:par>
                                <p:cTn id="132" presetID="10" presetClass="entr" presetSubtype="0" fill="hold" nodeType="withEffect">
                                  <p:stCondLst>
                                    <p:cond delay="0"/>
                                  </p:stCondLst>
                                  <p:childTnLst>
                                    <p:set>
                                      <p:cBhvr>
                                        <p:cTn id="133" dur="1" fill="hold">
                                          <p:stCondLst>
                                            <p:cond delay="0"/>
                                          </p:stCondLst>
                                        </p:cTn>
                                        <p:tgtEl>
                                          <p:spTgt spid="60"/>
                                        </p:tgtEl>
                                        <p:attrNameLst>
                                          <p:attrName>style.visibility</p:attrName>
                                        </p:attrNameLst>
                                      </p:cBhvr>
                                      <p:to>
                                        <p:strVal val="visible"/>
                                      </p:to>
                                    </p:set>
                                    <p:animEffect transition="in" filter="fade">
                                      <p:cBhvr>
                                        <p:cTn id="134" dur="400"/>
                                        <p:tgtEl>
                                          <p:spTgt spid="60"/>
                                        </p:tgtEl>
                                      </p:cBhvr>
                                    </p:animEffect>
                                  </p:childTnLst>
                                </p:cTn>
                              </p:par>
                              <p:par>
                                <p:cTn id="135" presetID="10" presetClass="entr" presetSubtype="0" fill="hold" nodeType="withEffect">
                                  <p:stCondLst>
                                    <p:cond delay="0"/>
                                  </p:stCondLst>
                                  <p:childTnLst>
                                    <p:set>
                                      <p:cBhvr>
                                        <p:cTn id="136" dur="1" fill="hold">
                                          <p:stCondLst>
                                            <p:cond delay="0"/>
                                          </p:stCondLst>
                                        </p:cTn>
                                        <p:tgtEl>
                                          <p:spTgt spid="61"/>
                                        </p:tgtEl>
                                        <p:attrNameLst>
                                          <p:attrName>style.visibility</p:attrName>
                                        </p:attrNameLst>
                                      </p:cBhvr>
                                      <p:to>
                                        <p:strVal val="visible"/>
                                      </p:to>
                                    </p:set>
                                    <p:animEffect transition="in" filter="fade">
                                      <p:cBhvr>
                                        <p:cTn id="137" dur="400"/>
                                        <p:tgtEl>
                                          <p:spTgt spid="61"/>
                                        </p:tgtEl>
                                      </p:cBhvr>
                                    </p:animEffect>
                                  </p:childTnLst>
                                </p:cTn>
                              </p:par>
                              <p:par>
                                <p:cTn id="138" presetID="10" presetClass="entr" presetSubtype="0" fill="hold" nodeType="withEffect">
                                  <p:stCondLst>
                                    <p:cond delay="0"/>
                                  </p:stCondLst>
                                  <p:childTnLst>
                                    <p:set>
                                      <p:cBhvr>
                                        <p:cTn id="139" dur="1" fill="hold">
                                          <p:stCondLst>
                                            <p:cond delay="0"/>
                                          </p:stCondLst>
                                        </p:cTn>
                                        <p:tgtEl>
                                          <p:spTgt spid="62"/>
                                        </p:tgtEl>
                                        <p:attrNameLst>
                                          <p:attrName>style.visibility</p:attrName>
                                        </p:attrNameLst>
                                      </p:cBhvr>
                                      <p:to>
                                        <p:strVal val="visible"/>
                                      </p:to>
                                    </p:set>
                                    <p:animEffect transition="in" filter="fade">
                                      <p:cBhvr>
                                        <p:cTn id="140" dur="400"/>
                                        <p:tgtEl>
                                          <p:spTgt spid="62"/>
                                        </p:tgtEl>
                                      </p:cBhvr>
                                    </p:animEffect>
                                  </p:childTnLst>
                                </p:cTn>
                              </p:par>
                              <p:par>
                                <p:cTn id="141" presetID="10" presetClass="entr" presetSubtype="0" fill="hold" nodeType="withEffect">
                                  <p:stCondLst>
                                    <p:cond delay="0"/>
                                  </p:stCondLst>
                                  <p:childTnLst>
                                    <p:set>
                                      <p:cBhvr>
                                        <p:cTn id="142" dur="1" fill="hold">
                                          <p:stCondLst>
                                            <p:cond delay="0"/>
                                          </p:stCondLst>
                                        </p:cTn>
                                        <p:tgtEl>
                                          <p:spTgt spid="63"/>
                                        </p:tgtEl>
                                        <p:attrNameLst>
                                          <p:attrName>style.visibility</p:attrName>
                                        </p:attrNameLst>
                                      </p:cBhvr>
                                      <p:to>
                                        <p:strVal val="visible"/>
                                      </p:to>
                                    </p:set>
                                    <p:animEffect transition="in" filter="fade">
                                      <p:cBhvr>
                                        <p:cTn id="14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0" y="0"/>
            <a:ext cx="109728" cy="102870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109728" y="0"/>
            <a:ext cx="109728" cy="102870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219456" y="0"/>
            <a:ext cx="109728" cy="10287000"/>
          </a:xfrm>
          <a:prstGeom prst="rect">
            <a:avLst/>
          </a:prstGeom>
          <a:solidFill>
            <a:srgbClr val="CE1126"/>
          </a:solidFill>
          <a:ln w="12700">
            <a:solidFill>
              <a:srgbClr val="CE1126"/>
            </a:solidFill>
            <a:prstDash val="solid"/>
          </a:ln>
        </p:spPr>
        <p:txBody>
          <a:bodyPr/>
          <a:lstStyle/>
          <a:p>
            <a:endParaRPr lang="en-US"/>
          </a:p>
        </p:txBody>
      </p:sp>
      <p:sp>
        <p:nvSpPr>
          <p:cNvPr id="5" name="Text 3"/>
          <p:cNvSpPr txBox="1"/>
          <p:nvPr/>
        </p:nvSpPr>
        <p:spPr>
          <a:xfrm>
            <a:off x="1335024" y="868680"/>
            <a:ext cx="10972800" cy="457200"/>
          </a:xfrm>
          <a:prstGeom prst="rect">
            <a:avLst/>
          </a:prstGeom>
          <a:noFill/>
          <a:ln/>
        </p:spPr>
        <p:txBody>
          <a:bodyPr wrap="square" lIns="0" tIns="0" rIns="0" bIns="0" rtlCol="0" anchor="t"/>
          <a:lstStyle/>
          <a:p>
            <a:pPr marL="0" indent="0">
              <a:buNone/>
            </a:pPr>
            <a:r>
              <a:rPr lang="en-US" sz="2200" b="1" kern="0" spc="200" dirty="0">
                <a:solidFill>
                  <a:srgbClr val="FCD116"/>
                </a:solidFill>
                <a:latin typeface="Arial" pitchFamily="34" charset="0"/>
                <a:ea typeface="Arial" pitchFamily="34" charset="-122"/>
                <a:cs typeface="Arial" pitchFamily="34" charset="-120"/>
              </a:rPr>
              <a:t>FOR ASEAN, INCLUDING TIMOR-LESTE</a:t>
            </a:r>
            <a:endParaRPr lang="en-US" sz="2200" dirty="0"/>
          </a:p>
        </p:txBody>
      </p:sp>
      <p:sp>
        <p:nvSpPr>
          <p:cNvPr id="6" name="Text 4"/>
          <p:cNvSpPr txBox="1"/>
          <p:nvPr/>
        </p:nvSpPr>
        <p:spPr>
          <a:xfrm>
            <a:off x="1335024" y="1417320"/>
            <a:ext cx="11155680" cy="1005840"/>
          </a:xfrm>
          <a:prstGeom prst="rect">
            <a:avLst/>
          </a:prstGeom>
          <a:noFill/>
          <a:ln/>
        </p:spPr>
        <p:txBody>
          <a:bodyPr wrap="square" lIns="0" tIns="0" rIns="0" bIns="0" rtlCol="0" anchor="t"/>
          <a:lstStyle/>
          <a:p>
            <a:pPr marL="0" indent="0">
              <a:buNone/>
            </a:pPr>
            <a:r>
              <a:rPr lang="en-US" sz="4600" dirty="0">
                <a:solidFill>
                  <a:srgbClr val="FFFFFF"/>
                </a:solidFill>
                <a:latin typeface="Georgia" pitchFamily="34" charset="0"/>
                <a:ea typeface="Georgia" pitchFamily="34" charset="-122"/>
                <a:cs typeface="Georgia" pitchFamily="34" charset="-120"/>
              </a:rPr>
              <a:t>Reuse the method. Rebuild the cases.</a:t>
            </a:r>
            <a:endParaRPr lang="en-US" sz="4600" dirty="0"/>
          </a:p>
        </p:txBody>
      </p:sp>
      <p:sp>
        <p:nvSpPr>
          <p:cNvPr id="7" name="Shape 5"/>
          <p:cNvSpPr/>
          <p:nvPr/>
        </p:nvSpPr>
        <p:spPr>
          <a:xfrm>
            <a:off x="1335024" y="3017520"/>
            <a:ext cx="914400" cy="914400"/>
          </a:xfrm>
          <a:prstGeom prst="ellipse">
            <a:avLst/>
          </a:prstGeom>
          <a:solidFill>
            <a:srgbClr val="FCD116"/>
          </a:solidFill>
          <a:ln w="12700">
            <a:solidFill>
              <a:srgbClr val="FCD116"/>
            </a:solidFill>
            <a:prstDash val="solid"/>
          </a:ln>
        </p:spPr>
        <p:txBody>
          <a:bodyPr/>
          <a:lstStyle/>
          <a:p>
            <a:endParaRPr lang="en-US"/>
          </a:p>
        </p:txBody>
      </p:sp>
      <p:sp>
        <p:nvSpPr>
          <p:cNvPr id="8" name="Text 6"/>
          <p:cNvSpPr txBox="1"/>
          <p:nvPr/>
        </p:nvSpPr>
        <p:spPr>
          <a:xfrm>
            <a:off x="1335024" y="3017520"/>
            <a:ext cx="914400" cy="914400"/>
          </a:xfrm>
          <a:prstGeom prst="rect">
            <a:avLst/>
          </a:prstGeom>
          <a:noFill/>
          <a:ln/>
        </p:spPr>
        <p:txBody>
          <a:bodyPr wrap="square" lIns="0" tIns="0" rIns="0" bIns="0" rtlCol="0" anchor="ctr"/>
          <a:lstStyle/>
          <a:p>
            <a:pPr marL="0" indent="0" algn="ctr">
              <a:buNone/>
            </a:pPr>
            <a:r>
              <a:rPr lang="en-US" sz="2800" b="1" dirty="0">
                <a:solidFill>
                  <a:srgbClr val="0B1F3A"/>
                </a:solidFill>
                <a:latin typeface="Arial" pitchFamily="34" charset="0"/>
                <a:ea typeface="Arial" pitchFamily="34" charset="-122"/>
                <a:cs typeface="Arial" pitchFamily="34" charset="-120"/>
              </a:rPr>
              <a:t>1</a:t>
            </a:r>
            <a:endParaRPr lang="en-US" sz="2800" dirty="0"/>
          </a:p>
        </p:txBody>
      </p:sp>
      <p:sp>
        <p:nvSpPr>
          <p:cNvPr id="9" name="Text 7"/>
          <p:cNvSpPr txBox="1"/>
          <p:nvPr/>
        </p:nvSpPr>
        <p:spPr>
          <a:xfrm>
            <a:off x="2606040" y="3017520"/>
            <a:ext cx="9418320" cy="914400"/>
          </a:xfrm>
          <a:prstGeom prst="rect">
            <a:avLst/>
          </a:prstGeom>
          <a:noFill/>
          <a:ln/>
        </p:spPr>
        <p:txBody>
          <a:bodyPr wrap="square" lIns="0" tIns="0" rIns="0" bIns="0" rtlCol="0" anchor="ctr"/>
          <a:lstStyle/>
          <a:p>
            <a:pPr marL="0" indent="0">
              <a:buNone/>
            </a:pPr>
            <a:r>
              <a:rPr lang="en-US" sz="4000" dirty="0">
                <a:solidFill>
                  <a:srgbClr val="FFFFFF"/>
                </a:solidFill>
                <a:latin typeface="Georgia" pitchFamily="34" charset="0"/>
                <a:ea typeface="Georgia" pitchFamily="34" charset="-122"/>
                <a:cs typeface="Georgia" pitchFamily="34" charset="-120"/>
              </a:rPr>
              <a:t>Which rule applies?</a:t>
            </a:r>
            <a:endParaRPr lang="en-US" sz="4000" dirty="0"/>
          </a:p>
        </p:txBody>
      </p:sp>
      <p:sp>
        <p:nvSpPr>
          <p:cNvPr id="10" name="Shape 8"/>
          <p:cNvSpPr/>
          <p:nvPr/>
        </p:nvSpPr>
        <p:spPr>
          <a:xfrm>
            <a:off x="1335024" y="4389120"/>
            <a:ext cx="914400" cy="914400"/>
          </a:xfrm>
          <a:prstGeom prst="ellipse">
            <a:avLst/>
          </a:prstGeom>
          <a:solidFill>
            <a:srgbClr val="FCD116"/>
          </a:solidFill>
          <a:ln w="12700">
            <a:solidFill>
              <a:srgbClr val="FCD116"/>
            </a:solidFill>
            <a:prstDash val="solid"/>
          </a:ln>
        </p:spPr>
        <p:txBody>
          <a:bodyPr/>
          <a:lstStyle/>
          <a:p>
            <a:endParaRPr lang="en-US"/>
          </a:p>
        </p:txBody>
      </p:sp>
      <p:sp>
        <p:nvSpPr>
          <p:cNvPr id="11" name="Text 9"/>
          <p:cNvSpPr txBox="1"/>
          <p:nvPr/>
        </p:nvSpPr>
        <p:spPr>
          <a:xfrm>
            <a:off x="1335024" y="4389120"/>
            <a:ext cx="914400" cy="914400"/>
          </a:xfrm>
          <a:prstGeom prst="rect">
            <a:avLst/>
          </a:prstGeom>
          <a:noFill/>
          <a:ln/>
        </p:spPr>
        <p:txBody>
          <a:bodyPr wrap="square" lIns="0" tIns="0" rIns="0" bIns="0" rtlCol="0" anchor="ctr"/>
          <a:lstStyle/>
          <a:p>
            <a:pPr marL="0" indent="0" algn="ctr">
              <a:buNone/>
            </a:pPr>
            <a:r>
              <a:rPr lang="en-US" sz="2800" b="1" dirty="0">
                <a:solidFill>
                  <a:srgbClr val="0B1F3A"/>
                </a:solidFill>
                <a:latin typeface="Arial" pitchFamily="34" charset="0"/>
                <a:ea typeface="Arial" pitchFamily="34" charset="-122"/>
                <a:cs typeface="Arial" pitchFamily="34" charset="-120"/>
              </a:rPr>
              <a:t>2</a:t>
            </a:r>
            <a:endParaRPr lang="en-US" sz="2800" dirty="0"/>
          </a:p>
        </p:txBody>
      </p:sp>
      <p:sp>
        <p:nvSpPr>
          <p:cNvPr id="12" name="Text 10"/>
          <p:cNvSpPr txBox="1"/>
          <p:nvPr/>
        </p:nvSpPr>
        <p:spPr>
          <a:xfrm>
            <a:off x="2606040" y="4389120"/>
            <a:ext cx="9418320" cy="914400"/>
          </a:xfrm>
          <a:prstGeom prst="rect">
            <a:avLst/>
          </a:prstGeom>
          <a:noFill/>
          <a:ln/>
        </p:spPr>
        <p:txBody>
          <a:bodyPr wrap="square" lIns="0" tIns="0" rIns="0" bIns="0" rtlCol="0" anchor="ctr"/>
          <a:lstStyle/>
          <a:p>
            <a:pPr marL="0" indent="0">
              <a:buNone/>
            </a:pPr>
            <a:r>
              <a:rPr lang="en-US" sz="4000" dirty="0">
                <a:solidFill>
                  <a:srgbClr val="FFFFFF"/>
                </a:solidFill>
                <a:latin typeface="Georgia" pitchFamily="34" charset="0"/>
                <a:ea typeface="Georgia" pitchFamily="34" charset="-122"/>
                <a:cs typeface="Georgia" pitchFamily="34" charset="-120"/>
              </a:rPr>
              <a:t>What can software check?</a:t>
            </a:r>
            <a:endParaRPr lang="en-US" sz="4000" dirty="0"/>
          </a:p>
        </p:txBody>
      </p:sp>
      <p:sp>
        <p:nvSpPr>
          <p:cNvPr id="13" name="Shape 11"/>
          <p:cNvSpPr/>
          <p:nvPr/>
        </p:nvSpPr>
        <p:spPr>
          <a:xfrm>
            <a:off x="1335024" y="5760720"/>
            <a:ext cx="914400" cy="914400"/>
          </a:xfrm>
          <a:prstGeom prst="ellipse">
            <a:avLst/>
          </a:prstGeom>
          <a:solidFill>
            <a:srgbClr val="FCD116"/>
          </a:solidFill>
          <a:ln w="12700">
            <a:solidFill>
              <a:srgbClr val="FCD116"/>
            </a:solidFill>
            <a:prstDash val="solid"/>
          </a:ln>
        </p:spPr>
        <p:txBody>
          <a:bodyPr/>
          <a:lstStyle/>
          <a:p>
            <a:endParaRPr lang="en-US"/>
          </a:p>
        </p:txBody>
      </p:sp>
      <p:sp>
        <p:nvSpPr>
          <p:cNvPr id="14" name="Text 12"/>
          <p:cNvSpPr txBox="1"/>
          <p:nvPr/>
        </p:nvSpPr>
        <p:spPr>
          <a:xfrm>
            <a:off x="1335024" y="5760720"/>
            <a:ext cx="914400" cy="914400"/>
          </a:xfrm>
          <a:prstGeom prst="rect">
            <a:avLst/>
          </a:prstGeom>
          <a:noFill/>
          <a:ln/>
        </p:spPr>
        <p:txBody>
          <a:bodyPr wrap="square" lIns="0" tIns="0" rIns="0" bIns="0" rtlCol="0" anchor="ctr"/>
          <a:lstStyle/>
          <a:p>
            <a:pPr marL="0" indent="0" algn="ctr">
              <a:buNone/>
            </a:pPr>
            <a:r>
              <a:rPr lang="en-US" sz="2800" b="1" dirty="0">
                <a:solidFill>
                  <a:srgbClr val="0B1F3A"/>
                </a:solidFill>
                <a:latin typeface="Arial" pitchFamily="34" charset="0"/>
                <a:ea typeface="Arial" pitchFamily="34" charset="-122"/>
                <a:cs typeface="Arial" pitchFamily="34" charset="-120"/>
              </a:rPr>
              <a:t>3</a:t>
            </a:r>
            <a:endParaRPr lang="en-US" sz="2800" dirty="0"/>
          </a:p>
        </p:txBody>
      </p:sp>
      <p:sp>
        <p:nvSpPr>
          <p:cNvPr id="15" name="Text 13"/>
          <p:cNvSpPr txBox="1"/>
          <p:nvPr/>
        </p:nvSpPr>
        <p:spPr>
          <a:xfrm>
            <a:off x="2606040" y="5760720"/>
            <a:ext cx="9418320" cy="914400"/>
          </a:xfrm>
          <a:prstGeom prst="rect">
            <a:avLst/>
          </a:prstGeom>
          <a:noFill/>
          <a:ln/>
        </p:spPr>
        <p:txBody>
          <a:bodyPr wrap="square" lIns="0" tIns="0" rIns="0" bIns="0" rtlCol="0" anchor="ctr"/>
          <a:lstStyle/>
          <a:p>
            <a:pPr marL="0" indent="0">
              <a:buNone/>
            </a:pPr>
            <a:r>
              <a:rPr lang="en-US" sz="4000" dirty="0">
                <a:solidFill>
                  <a:srgbClr val="FFFFFF"/>
                </a:solidFill>
                <a:latin typeface="Georgia" pitchFamily="34" charset="0"/>
                <a:ea typeface="Georgia" pitchFamily="34" charset="-122"/>
                <a:cs typeface="Georgia" pitchFamily="34" charset="-120"/>
              </a:rPr>
              <a:t>Who still needs to decide?</a:t>
            </a:r>
            <a:endParaRPr lang="en-US" sz="4000" dirty="0"/>
          </a:p>
        </p:txBody>
      </p:sp>
      <p:sp>
        <p:nvSpPr>
          <p:cNvPr id="16" name="Text 14"/>
          <p:cNvSpPr txBox="1"/>
          <p:nvPr/>
        </p:nvSpPr>
        <p:spPr>
          <a:xfrm>
            <a:off x="1335024" y="2395728"/>
            <a:ext cx="10972800" cy="411480"/>
          </a:xfrm>
          <a:prstGeom prst="rect">
            <a:avLst/>
          </a:prstGeom>
          <a:noFill/>
          <a:ln/>
        </p:spPr>
        <p:txBody>
          <a:bodyPr wrap="square" lIns="0" tIns="0" rIns="0" bIns="0" rtlCol="0" anchor="t"/>
          <a:lstStyle/>
          <a:p>
            <a:pPr marL="0" indent="0">
              <a:buNone/>
            </a:pPr>
            <a:r>
              <a:rPr lang="en-US" sz="1800" b="1" dirty="0">
                <a:solidFill>
                  <a:srgbClr val="FCD116"/>
                </a:solidFill>
                <a:latin typeface="Arial" pitchFamily="34" charset="0"/>
                <a:ea typeface="Arial" pitchFamily="34" charset="-122"/>
                <a:cs typeface="Arial" pitchFamily="34" charset="-120"/>
              </a:rPr>
              <a:t>Guide questions 3 to 5 · Impacts, inclusion and sustainability, collaboration</a:t>
            </a:r>
            <a:endParaRPr lang="en-US" sz="1800" dirty="0"/>
          </a:p>
        </p:txBody>
      </p:sp>
      <p:sp>
        <p:nvSpPr>
          <p:cNvPr id="17" name="Text 15"/>
          <p:cNvSpPr txBox="1"/>
          <p:nvPr/>
        </p:nvSpPr>
        <p:spPr>
          <a:xfrm>
            <a:off x="1335024" y="7269480"/>
            <a:ext cx="10881360" cy="2011680"/>
          </a:xfrm>
          <a:prstGeom prst="rect">
            <a:avLst/>
          </a:prstGeom>
          <a:noFill/>
          <a:ln/>
        </p:spPr>
        <p:txBody>
          <a:bodyPr wrap="square" lIns="0" tIns="0" rIns="0" bIns="0" rtlCol="0" anchor="t"/>
          <a:lstStyle/>
          <a:p>
            <a:pPr marL="0" indent="0">
              <a:buNone/>
            </a:pPr>
            <a:r>
              <a:rPr lang="en-US" sz="2200" dirty="0">
                <a:solidFill>
                  <a:srgbClr val="DCE6F5"/>
                </a:solidFill>
                <a:latin typeface="Arial" pitchFamily="34" charset="0"/>
                <a:ea typeface="Arial" pitchFamily="34" charset="-122"/>
                <a:cs typeface="Arial" pitchFamily="34" charset="-120"/>
              </a:rPr>
              <a:t>What travels is the method, grounded in each country’s own rules and languages. It depends on access: connectivity, model subscriptions and staff time to check. Timor-Leste, ASEAN’s eleventh member since October 2025, would rebuild the cases in Tetum and Portuguese.</a:t>
            </a:r>
            <a:endParaRPr lang="en-US" sz="2200" dirty="0"/>
          </a:p>
        </p:txBody>
      </p:sp>
      <p:sp>
        <p:nvSpPr>
          <p:cNvPr id="18" name="Shape 16"/>
          <p:cNvSpPr/>
          <p:nvPr/>
        </p:nvSpPr>
        <p:spPr>
          <a:xfrm>
            <a:off x="12710160" y="914400"/>
            <a:ext cx="4846320" cy="3749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Shape 17"/>
          <p:cNvSpPr/>
          <p:nvPr/>
        </p:nvSpPr>
        <p:spPr>
          <a:xfrm>
            <a:off x="12710160" y="914400"/>
            <a:ext cx="4846320" cy="310896"/>
          </a:xfrm>
          <a:prstGeom prst="rect">
            <a:avLst/>
          </a:prstGeom>
          <a:solidFill>
            <a:srgbClr val="EEF1F5"/>
          </a:solidFill>
          <a:ln w="12700">
            <a:solidFill>
              <a:srgbClr val="EEF1F5"/>
            </a:solidFill>
            <a:prstDash val="solid"/>
          </a:ln>
        </p:spPr>
        <p:txBody>
          <a:bodyPr/>
          <a:lstStyle/>
          <a:p>
            <a:endParaRPr lang="en-US"/>
          </a:p>
        </p:txBody>
      </p:sp>
      <p:sp>
        <p:nvSpPr>
          <p:cNvPr id="20" name="Shape 18"/>
          <p:cNvSpPr/>
          <p:nvPr/>
        </p:nvSpPr>
        <p:spPr>
          <a:xfrm>
            <a:off x="12874752" y="1005840"/>
            <a:ext cx="128016" cy="128016"/>
          </a:xfrm>
          <a:prstGeom prst="ellipse">
            <a:avLst/>
          </a:prstGeom>
          <a:solidFill>
            <a:srgbClr val="E5484D"/>
          </a:solidFill>
          <a:ln w="12700">
            <a:solidFill>
              <a:srgbClr val="E5484D"/>
            </a:solidFill>
            <a:prstDash val="solid"/>
          </a:ln>
        </p:spPr>
        <p:txBody>
          <a:bodyPr/>
          <a:lstStyle/>
          <a:p>
            <a:endParaRPr lang="en-US"/>
          </a:p>
        </p:txBody>
      </p:sp>
      <p:sp>
        <p:nvSpPr>
          <p:cNvPr id="21" name="Shape 19"/>
          <p:cNvSpPr/>
          <p:nvPr/>
        </p:nvSpPr>
        <p:spPr>
          <a:xfrm>
            <a:off x="13075920" y="1005840"/>
            <a:ext cx="128016" cy="128016"/>
          </a:xfrm>
          <a:prstGeom prst="ellipse">
            <a:avLst/>
          </a:prstGeom>
          <a:solidFill>
            <a:srgbClr val="F5B83D"/>
          </a:solidFill>
          <a:ln w="12700">
            <a:solidFill>
              <a:srgbClr val="F5B83D"/>
            </a:solidFill>
            <a:prstDash val="solid"/>
          </a:ln>
        </p:spPr>
        <p:txBody>
          <a:bodyPr/>
          <a:lstStyle/>
          <a:p>
            <a:endParaRPr lang="en-US"/>
          </a:p>
        </p:txBody>
      </p:sp>
      <p:sp>
        <p:nvSpPr>
          <p:cNvPr id="22" name="Shape 20"/>
          <p:cNvSpPr/>
          <p:nvPr/>
        </p:nvSpPr>
        <p:spPr>
          <a:xfrm>
            <a:off x="13277088" y="1005840"/>
            <a:ext cx="128016" cy="128016"/>
          </a:xfrm>
          <a:prstGeom prst="ellipse">
            <a:avLst/>
          </a:prstGeom>
          <a:solidFill>
            <a:srgbClr val="3FB950"/>
          </a:solidFill>
          <a:ln w="12700">
            <a:solidFill>
              <a:srgbClr val="3FB950"/>
            </a:solidFill>
            <a:prstDash val="solid"/>
          </a:ln>
        </p:spPr>
        <p:txBody>
          <a:bodyPr/>
          <a:lstStyle/>
          <a:p>
            <a:endParaRPr lang="en-US"/>
          </a:p>
        </p:txBody>
      </p:sp>
      <p:sp>
        <p:nvSpPr>
          <p:cNvPr id="23" name="Text 21"/>
          <p:cNvSpPr txBox="1"/>
          <p:nvPr/>
        </p:nvSpPr>
        <p:spPr>
          <a:xfrm>
            <a:off x="13578840" y="950976"/>
            <a:ext cx="384048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ASEAN · Jan 2025</a:t>
            </a:r>
            <a:endParaRPr lang="en-US" sz="1400" dirty="0"/>
          </a:p>
        </p:txBody>
      </p:sp>
      <p:pic>
        <p:nvPicPr>
          <p:cNvPr id="24" name="Image 0" descr="Screenshot: ASEAN, Expanded ASEAN Guide on AI Governance and Ethics – Generative AI"/>
          <p:cNvPicPr>
            <a:picLocks noChangeAspect="1"/>
          </p:cNvPicPr>
          <p:nvPr/>
        </p:nvPicPr>
        <p:blipFill>
          <a:blip r:embed="rId3"/>
          <a:stretch>
            <a:fillRect/>
          </a:stretch>
        </p:blipFill>
        <p:spPr>
          <a:xfrm>
            <a:off x="12819888" y="1749519"/>
            <a:ext cx="4626864" cy="2389699"/>
          </a:xfrm>
          <a:prstGeom prst="rect">
            <a:avLst/>
          </a:prstGeom>
        </p:spPr>
      </p:pic>
      <p:sp>
        <p:nvSpPr>
          <p:cNvPr id="25" name="Shape 22"/>
          <p:cNvSpPr/>
          <p:nvPr/>
        </p:nvSpPr>
        <p:spPr>
          <a:xfrm>
            <a:off x="12710160" y="5074920"/>
            <a:ext cx="4846320" cy="3749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Shape 23"/>
          <p:cNvSpPr/>
          <p:nvPr/>
        </p:nvSpPr>
        <p:spPr>
          <a:xfrm>
            <a:off x="12710160" y="5074920"/>
            <a:ext cx="4846320" cy="310896"/>
          </a:xfrm>
          <a:prstGeom prst="rect">
            <a:avLst/>
          </a:prstGeom>
          <a:solidFill>
            <a:srgbClr val="EEF1F5"/>
          </a:solidFill>
          <a:ln w="12700">
            <a:solidFill>
              <a:srgbClr val="EEF1F5"/>
            </a:solidFill>
            <a:prstDash val="solid"/>
          </a:ln>
        </p:spPr>
        <p:txBody>
          <a:bodyPr/>
          <a:lstStyle/>
          <a:p>
            <a:endParaRPr lang="en-US"/>
          </a:p>
        </p:txBody>
      </p:sp>
      <p:sp>
        <p:nvSpPr>
          <p:cNvPr id="27" name="Shape 24"/>
          <p:cNvSpPr/>
          <p:nvPr/>
        </p:nvSpPr>
        <p:spPr>
          <a:xfrm>
            <a:off x="12874752" y="5166360"/>
            <a:ext cx="128016" cy="128016"/>
          </a:xfrm>
          <a:prstGeom prst="ellipse">
            <a:avLst/>
          </a:prstGeom>
          <a:solidFill>
            <a:srgbClr val="E5484D"/>
          </a:solidFill>
          <a:ln w="12700">
            <a:solidFill>
              <a:srgbClr val="E5484D"/>
            </a:solidFill>
            <a:prstDash val="solid"/>
          </a:ln>
        </p:spPr>
        <p:txBody>
          <a:bodyPr/>
          <a:lstStyle/>
          <a:p>
            <a:endParaRPr lang="en-US"/>
          </a:p>
        </p:txBody>
      </p:sp>
      <p:sp>
        <p:nvSpPr>
          <p:cNvPr id="28" name="Shape 25"/>
          <p:cNvSpPr/>
          <p:nvPr/>
        </p:nvSpPr>
        <p:spPr>
          <a:xfrm>
            <a:off x="13075920" y="5166360"/>
            <a:ext cx="128016" cy="128016"/>
          </a:xfrm>
          <a:prstGeom prst="ellipse">
            <a:avLst/>
          </a:prstGeom>
          <a:solidFill>
            <a:srgbClr val="F5B83D"/>
          </a:solidFill>
          <a:ln w="12700">
            <a:solidFill>
              <a:srgbClr val="F5B83D"/>
            </a:solidFill>
            <a:prstDash val="solid"/>
          </a:ln>
        </p:spPr>
        <p:txBody>
          <a:bodyPr/>
          <a:lstStyle/>
          <a:p>
            <a:endParaRPr lang="en-US"/>
          </a:p>
        </p:txBody>
      </p:sp>
      <p:sp>
        <p:nvSpPr>
          <p:cNvPr id="29" name="Shape 26"/>
          <p:cNvSpPr/>
          <p:nvPr/>
        </p:nvSpPr>
        <p:spPr>
          <a:xfrm>
            <a:off x="13277088" y="5166360"/>
            <a:ext cx="128016" cy="128016"/>
          </a:xfrm>
          <a:prstGeom prst="ellipse">
            <a:avLst/>
          </a:prstGeom>
          <a:solidFill>
            <a:srgbClr val="3FB950"/>
          </a:solidFill>
          <a:ln w="12700">
            <a:solidFill>
              <a:srgbClr val="3FB950"/>
            </a:solidFill>
            <a:prstDash val="solid"/>
          </a:ln>
        </p:spPr>
        <p:txBody>
          <a:bodyPr/>
          <a:lstStyle/>
          <a:p>
            <a:endParaRPr lang="en-US"/>
          </a:p>
        </p:txBody>
      </p:sp>
      <p:sp>
        <p:nvSpPr>
          <p:cNvPr id="30" name="Text 27"/>
          <p:cNvSpPr txBox="1"/>
          <p:nvPr/>
        </p:nvSpPr>
        <p:spPr>
          <a:xfrm>
            <a:off x="13578840" y="5111496"/>
            <a:ext cx="384048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ASEAN · Oct 26, 2025</a:t>
            </a:r>
            <a:endParaRPr lang="en-US" sz="1400" dirty="0"/>
          </a:p>
        </p:txBody>
      </p:sp>
      <p:pic>
        <p:nvPicPr>
          <p:cNvPr id="31" name="Image 1" descr="Screenshot: ASEAN, Forging a New Era: Timor-Leste Admitted into ASEAN"/>
          <p:cNvPicPr>
            <a:picLocks noChangeAspect="1"/>
          </p:cNvPicPr>
          <p:nvPr/>
        </p:nvPicPr>
        <p:blipFill>
          <a:blip r:embed="rId4"/>
          <a:stretch>
            <a:fillRect/>
          </a:stretch>
        </p:blipFill>
        <p:spPr>
          <a:xfrm>
            <a:off x="12819888" y="5968465"/>
            <a:ext cx="4626864" cy="2272845"/>
          </a:xfrm>
          <a:prstGeom prst="rect">
            <a:avLst/>
          </a:prstGeom>
        </p:spPr>
      </p:pic>
      <p:sp>
        <p:nvSpPr>
          <p:cNvPr id="32" name="Text 28"/>
          <p:cNvSpPr txBox="1"/>
          <p:nvPr/>
        </p:nvSpPr>
        <p:spPr>
          <a:xfrm>
            <a:off x="1335024" y="9464040"/>
            <a:ext cx="10972800" cy="502920"/>
          </a:xfrm>
          <a:prstGeom prst="rect">
            <a:avLst/>
          </a:prstGeom>
          <a:noFill/>
          <a:ln/>
        </p:spPr>
        <p:txBody>
          <a:bodyPr wrap="square" lIns="0" tIns="0" rIns="0" bIns="0" rtlCol="0" anchor="b"/>
          <a:lstStyle/>
          <a:p>
            <a:pPr marL="0" indent="0">
              <a:buNone/>
            </a:pPr>
            <a:r>
              <a:rPr lang="en-US" sz="1600" dirty="0">
                <a:solidFill>
                  <a:srgbClr val="B7C7DC"/>
                </a:solidFill>
                <a:latin typeface="Arial" pitchFamily="34" charset="0"/>
                <a:ea typeface="Arial" pitchFamily="34" charset="-122"/>
                <a:cs typeface="Arial" pitchFamily="34" charset="-120"/>
              </a:rPr>
              <a:t>ASEAN (2025); ASEAN Secretariat (2025); Constitution of Timor-Leste (2002), Section 13.</a:t>
            </a:r>
            <a:endParaRPr lang="en-US" sz="1600" dirty="0"/>
          </a:p>
        </p:txBody>
      </p:sp>
      <p:sp>
        <p:nvSpPr>
          <p:cNvPr id="33" name="Text 29"/>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B7C7DC"/>
                </a:solidFill>
                <a:latin typeface="Arial" pitchFamily="34" charset="0"/>
                <a:ea typeface="Arial" pitchFamily="34" charset="-122"/>
                <a:cs typeface="Arial" pitchFamily="34" charset="-120"/>
              </a:rPr>
              <a:t>22</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69848" cy="70866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7086600"/>
            <a:ext cx="1069848" cy="16002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0" y="8686800"/>
            <a:ext cx="1069848" cy="1600200"/>
          </a:xfrm>
          <a:prstGeom prst="rect">
            <a:avLst/>
          </a:prstGeom>
          <a:solidFill>
            <a:srgbClr val="CE1126"/>
          </a:solidFill>
          <a:ln w="12700">
            <a:solidFill>
              <a:srgbClr val="CE1126"/>
            </a:solidFill>
            <a:prstDash val="solid"/>
          </a:ln>
        </p:spPr>
        <p:txBody>
          <a:bodyPr/>
          <a:lstStyle/>
          <a:p>
            <a:endParaRPr lang="en-US"/>
          </a:p>
        </p:txBody>
      </p:sp>
      <p:sp>
        <p:nvSpPr>
          <p:cNvPr id="5" name="Shape 3"/>
          <p:cNvSpPr/>
          <p:nvPr/>
        </p:nvSpPr>
        <p:spPr>
          <a:xfrm>
            <a:off x="2112264" y="2798064"/>
            <a:ext cx="329184" cy="64008"/>
          </a:xfrm>
          <a:prstGeom prst="rect">
            <a:avLst/>
          </a:prstGeom>
          <a:solidFill>
            <a:srgbClr val="FCD116"/>
          </a:solidFill>
          <a:ln w="12700">
            <a:solidFill>
              <a:srgbClr val="FCD116"/>
            </a:solidFill>
            <a:prstDash val="solid"/>
          </a:ln>
        </p:spPr>
        <p:txBody>
          <a:bodyPr/>
          <a:lstStyle/>
          <a:p>
            <a:endParaRPr lang="en-US"/>
          </a:p>
        </p:txBody>
      </p:sp>
      <p:sp>
        <p:nvSpPr>
          <p:cNvPr id="6" name="Text 4"/>
          <p:cNvSpPr txBox="1"/>
          <p:nvPr/>
        </p:nvSpPr>
        <p:spPr>
          <a:xfrm>
            <a:off x="2606040" y="2624328"/>
            <a:ext cx="128016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QUESTIONS AND FEEDBACK WELCOME</a:t>
            </a:r>
            <a:endParaRPr lang="en-US" sz="2000" dirty="0"/>
          </a:p>
        </p:txBody>
      </p:sp>
      <p:sp>
        <p:nvSpPr>
          <p:cNvPr id="7" name="Text 5"/>
          <p:cNvSpPr txBox="1"/>
          <p:nvPr/>
        </p:nvSpPr>
        <p:spPr>
          <a:xfrm>
            <a:off x="2112264" y="3291840"/>
            <a:ext cx="13716000" cy="1645920"/>
          </a:xfrm>
          <a:prstGeom prst="rect">
            <a:avLst/>
          </a:prstGeom>
          <a:noFill/>
          <a:ln/>
        </p:spPr>
        <p:txBody>
          <a:bodyPr wrap="square" lIns="0" tIns="0" rIns="0" bIns="0" rtlCol="0" anchor="t"/>
          <a:lstStyle/>
          <a:p>
            <a:pPr marL="0" indent="0">
              <a:buNone/>
            </a:pPr>
            <a:r>
              <a:rPr lang="en-US" sz="9600" dirty="0">
                <a:solidFill>
                  <a:srgbClr val="0B1F3A"/>
                </a:solidFill>
                <a:latin typeface="Georgia" pitchFamily="34" charset="0"/>
                <a:ea typeface="Georgia" pitchFamily="34" charset="-122"/>
                <a:cs typeface="Georgia" pitchFamily="34" charset="-120"/>
              </a:rPr>
              <a:t>Thank you.</a:t>
            </a:r>
            <a:endParaRPr lang="en-US" sz="9600" dirty="0"/>
          </a:p>
        </p:txBody>
      </p:sp>
      <p:sp>
        <p:nvSpPr>
          <p:cNvPr id="8" name="Text 6"/>
          <p:cNvSpPr txBox="1"/>
          <p:nvPr/>
        </p:nvSpPr>
        <p:spPr>
          <a:xfrm>
            <a:off x="2112264" y="4983480"/>
            <a:ext cx="13716000" cy="731520"/>
          </a:xfrm>
          <a:prstGeom prst="rect">
            <a:avLst/>
          </a:prstGeom>
          <a:noFill/>
          <a:ln/>
        </p:spPr>
        <p:txBody>
          <a:bodyPr wrap="square" lIns="0" tIns="0" rIns="0" bIns="0" rtlCol="0" anchor="t"/>
          <a:lstStyle/>
          <a:p>
            <a:pPr marL="0" indent="0">
              <a:buNone/>
            </a:pPr>
            <a:r>
              <a:rPr lang="en-US" sz="3200" dirty="0">
                <a:solidFill>
                  <a:srgbClr val="4B5563"/>
                </a:solidFill>
                <a:latin typeface="Arial" pitchFamily="34" charset="0"/>
                <a:ea typeface="Arial" pitchFamily="34" charset="-122"/>
                <a:cs typeface="Arial" pitchFamily="34" charset="-120"/>
              </a:rPr>
              <a:t>When Should AI Assist the Assessor?</a:t>
            </a:r>
            <a:endParaRPr lang="en-US" sz="3200" dirty="0"/>
          </a:p>
        </p:txBody>
      </p:sp>
      <p:sp>
        <p:nvSpPr>
          <p:cNvPr id="9" name="Shape 7"/>
          <p:cNvSpPr/>
          <p:nvPr/>
        </p:nvSpPr>
        <p:spPr>
          <a:xfrm>
            <a:off x="2112264" y="6446520"/>
            <a:ext cx="14356080" cy="13716"/>
          </a:xfrm>
          <a:prstGeom prst="rect">
            <a:avLst/>
          </a:prstGeom>
          <a:solidFill>
            <a:srgbClr val="E2E8F0"/>
          </a:solidFill>
          <a:ln w="12700">
            <a:solidFill>
              <a:srgbClr val="E2E8F0"/>
            </a:solidFill>
            <a:prstDash val="solid"/>
          </a:ln>
        </p:spPr>
        <p:txBody>
          <a:bodyPr/>
          <a:lstStyle/>
          <a:p>
            <a:endParaRPr lang="en-US"/>
          </a:p>
        </p:txBody>
      </p:sp>
      <p:sp>
        <p:nvSpPr>
          <p:cNvPr id="10" name="Text 8"/>
          <p:cNvSpPr txBox="1"/>
          <p:nvPr/>
        </p:nvSpPr>
        <p:spPr>
          <a:xfrm>
            <a:off x="2112264" y="6766560"/>
            <a:ext cx="7315200" cy="502920"/>
          </a:xfrm>
          <a:prstGeom prst="rect">
            <a:avLst/>
          </a:prstGeom>
          <a:noFill/>
          <a:ln/>
        </p:spPr>
        <p:txBody>
          <a:bodyPr wrap="square" lIns="0" tIns="0" rIns="0" bIns="0" rtlCol="0" anchor="t"/>
          <a:lstStyle/>
          <a:p>
            <a:pPr marL="0" indent="0">
              <a:buNone/>
            </a:pPr>
            <a:r>
              <a:rPr lang="en-US" sz="2800" b="1" dirty="0">
                <a:solidFill>
                  <a:srgbClr val="0B1F3A"/>
                </a:solidFill>
                <a:latin typeface="Arial" pitchFamily="34" charset="0"/>
                <a:ea typeface="Arial" pitchFamily="34" charset="-122"/>
                <a:cs typeface="Arial" pitchFamily="34" charset="-120"/>
              </a:rPr>
              <a:t>Bea Charmelyn T. Lambitco, FRM</a:t>
            </a:r>
            <a:endParaRPr lang="en-US" sz="2800" dirty="0"/>
          </a:p>
        </p:txBody>
      </p:sp>
      <p:sp>
        <p:nvSpPr>
          <p:cNvPr id="11" name="Text 9"/>
          <p:cNvSpPr txBox="1"/>
          <p:nvPr/>
        </p:nvSpPr>
        <p:spPr>
          <a:xfrm>
            <a:off x="2112264" y="7360920"/>
            <a:ext cx="8229600" cy="457200"/>
          </a:xfrm>
          <a:prstGeom prst="rect">
            <a:avLst/>
          </a:prstGeom>
          <a:noFill/>
          <a:ln/>
        </p:spPr>
        <p:txBody>
          <a:bodyPr wrap="square" lIns="0" tIns="0" rIns="0" bIns="0" rtlCol="0" anchor="t"/>
          <a:lstStyle/>
          <a:p>
            <a:pPr marL="0" indent="0">
              <a:buNone/>
            </a:pPr>
            <a:r>
              <a:rPr lang="en-US" sz="2400" dirty="0">
                <a:solidFill>
                  <a:srgbClr val="4B5563"/>
                </a:solidFill>
                <a:latin typeface="Arial" pitchFamily="34" charset="0"/>
                <a:ea typeface="Arial" pitchFamily="34" charset="-122"/>
                <a:cs typeface="Arial" pitchFamily="34" charset="-120"/>
              </a:rPr>
              <a:t>AI for Asia Fellowship 2026 · Philippines</a:t>
            </a:r>
            <a:endParaRPr lang="en-US" sz="2400" dirty="0"/>
          </a:p>
        </p:txBody>
      </p:sp>
      <p:sp>
        <p:nvSpPr>
          <p:cNvPr id="12" name="Text 10"/>
          <p:cNvSpPr txBox="1"/>
          <p:nvPr/>
        </p:nvSpPr>
        <p:spPr>
          <a:xfrm>
            <a:off x="8686800" y="6766560"/>
            <a:ext cx="7772400" cy="457200"/>
          </a:xfrm>
          <a:prstGeom prst="rect">
            <a:avLst/>
          </a:prstGeom>
          <a:noFill/>
          <a:ln/>
        </p:spPr>
        <p:txBody>
          <a:bodyPr wrap="square" lIns="0" tIns="0" rIns="0" bIns="0" rtlCol="0" anchor="t"/>
          <a:lstStyle/>
          <a:p>
            <a:pPr marL="0" indent="0" algn="r">
              <a:buNone/>
            </a:pPr>
            <a:r>
              <a:rPr lang="en-US" sz="2200" dirty="0">
                <a:solidFill>
                  <a:srgbClr val="0B1F3A"/>
                </a:solidFill>
                <a:latin typeface="Arial" pitchFamily="34" charset="0"/>
                <a:ea typeface="Arial" pitchFamily="34" charset="-122"/>
                <a:cs typeface="Arial" pitchFamily="34" charset="-120"/>
              </a:rPr>
              <a:t>Paper, test cases and code</a:t>
            </a:r>
            <a:endParaRPr lang="en-US" sz="2200" dirty="0"/>
          </a:p>
        </p:txBody>
      </p:sp>
      <p:sp>
        <p:nvSpPr>
          <p:cNvPr id="13" name="Text 11"/>
          <p:cNvSpPr txBox="1"/>
          <p:nvPr/>
        </p:nvSpPr>
        <p:spPr>
          <a:xfrm>
            <a:off x="7589520" y="7269480"/>
            <a:ext cx="8869680" cy="457200"/>
          </a:xfrm>
          <a:prstGeom prst="rect">
            <a:avLst/>
          </a:prstGeom>
          <a:noFill/>
          <a:ln/>
        </p:spPr>
        <p:txBody>
          <a:bodyPr wrap="square" lIns="0" tIns="0" rIns="0" bIns="0" rtlCol="0" anchor="t"/>
          <a:lstStyle/>
          <a:p>
            <a:pPr marL="0" indent="0" algn="r">
              <a:buNone/>
            </a:pPr>
            <a:r>
              <a:rPr lang="en-US" sz="2000" u="sng" dirty="0">
                <a:solidFill>
                  <a:srgbClr val="0038A8"/>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github.com/bealambitco/ai-assessment-higher-education-ph</a:t>
            </a:r>
            <a:endParaRPr lang="en-US" sz="2000" dirty="0"/>
          </a:p>
        </p:txBody>
      </p:sp>
      <p:sp>
        <p:nvSpPr>
          <p:cNvPr id="14" name="Text 12"/>
          <p:cNvSpPr txBox="1"/>
          <p:nvPr/>
        </p:nvSpPr>
        <p:spPr>
          <a:xfrm>
            <a:off x="8686800" y="7818120"/>
            <a:ext cx="7772400" cy="457200"/>
          </a:xfrm>
          <a:prstGeom prst="rect">
            <a:avLst/>
          </a:prstGeom>
          <a:noFill/>
          <a:ln/>
        </p:spPr>
        <p:txBody>
          <a:bodyPr wrap="square" lIns="0" tIns="0" rIns="0" bIns="0" rtlCol="0" anchor="t"/>
          <a:lstStyle/>
          <a:p>
            <a:pPr marL="0" indent="0" algn="r">
              <a:buNone/>
            </a:pPr>
            <a:r>
              <a:rPr lang="en-US" sz="2000" dirty="0">
                <a:solidFill>
                  <a:srgbClr val="4B5563"/>
                </a:solidFill>
                <a:latin typeface="Arial" pitchFamily="34" charset="0"/>
                <a:ea typeface="Arial" pitchFamily="34" charset="-122"/>
                <a:cs typeface="Arial" pitchFamily="34" charset="-120"/>
              </a:rPr>
              <a:t>Appendix follows for questions</a:t>
            </a:r>
            <a:endParaRPr lang="en-US" sz="20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0" y="0"/>
            <a:ext cx="109728" cy="102870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109728" y="0"/>
            <a:ext cx="109728" cy="102870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219456" y="0"/>
            <a:ext cx="109728" cy="10287000"/>
          </a:xfrm>
          <a:prstGeom prst="rect">
            <a:avLst/>
          </a:prstGeom>
          <a:solidFill>
            <a:srgbClr val="CE1126"/>
          </a:solidFill>
          <a:ln w="12700">
            <a:solidFill>
              <a:srgbClr val="CE1126"/>
            </a:solidFill>
            <a:prstDash val="solid"/>
          </a:ln>
        </p:spPr>
        <p:txBody>
          <a:bodyPr/>
          <a:lstStyle/>
          <a:p>
            <a:endParaRPr lang="en-US"/>
          </a:p>
        </p:txBody>
      </p:sp>
      <p:sp>
        <p:nvSpPr>
          <p:cNvPr id="5" name="Text 3"/>
          <p:cNvSpPr txBox="1"/>
          <p:nvPr/>
        </p:nvSpPr>
        <p:spPr>
          <a:xfrm>
            <a:off x="1335024" y="3566160"/>
            <a:ext cx="15544800" cy="457200"/>
          </a:xfrm>
          <a:prstGeom prst="rect">
            <a:avLst/>
          </a:prstGeom>
          <a:noFill/>
          <a:ln/>
        </p:spPr>
        <p:txBody>
          <a:bodyPr wrap="square" lIns="0" tIns="0" rIns="0" bIns="0" rtlCol="0" anchor="t"/>
          <a:lstStyle/>
          <a:p>
            <a:pPr marL="0" indent="0">
              <a:buNone/>
            </a:pPr>
            <a:r>
              <a:rPr lang="en-US" sz="2200" b="1" kern="0" spc="200" dirty="0">
                <a:solidFill>
                  <a:srgbClr val="FCD116"/>
                </a:solidFill>
                <a:latin typeface="Arial" pitchFamily="34" charset="0"/>
                <a:ea typeface="Arial" pitchFamily="34" charset="-122"/>
                <a:cs typeface="Arial" pitchFamily="34" charset="-120"/>
              </a:rPr>
              <a:t>APPENDIX</a:t>
            </a:r>
            <a:endParaRPr lang="en-US" sz="2200" dirty="0"/>
          </a:p>
        </p:txBody>
      </p:sp>
      <p:sp>
        <p:nvSpPr>
          <p:cNvPr id="6" name="Text 4"/>
          <p:cNvSpPr txBox="1"/>
          <p:nvPr/>
        </p:nvSpPr>
        <p:spPr>
          <a:xfrm>
            <a:off x="1335024" y="4160520"/>
            <a:ext cx="15544800" cy="1188720"/>
          </a:xfrm>
          <a:prstGeom prst="rect">
            <a:avLst/>
          </a:prstGeom>
          <a:noFill/>
          <a:ln/>
        </p:spPr>
        <p:txBody>
          <a:bodyPr wrap="square" lIns="0" tIns="0" rIns="0" bIns="0" rtlCol="0" anchor="t"/>
          <a:lstStyle/>
          <a:p>
            <a:pPr marL="0" indent="0">
              <a:buNone/>
            </a:pPr>
            <a:r>
              <a:rPr lang="en-US" sz="6400" dirty="0">
                <a:solidFill>
                  <a:srgbClr val="FFFFFF"/>
                </a:solidFill>
                <a:latin typeface="Georgia" pitchFamily="34" charset="0"/>
                <a:ea typeface="Georgia" pitchFamily="34" charset="-122"/>
                <a:cs typeface="Georgia" pitchFamily="34" charset="-120"/>
              </a:rPr>
              <a:t>For questions</a:t>
            </a:r>
            <a:endParaRPr lang="en-US" sz="6400" dirty="0"/>
          </a:p>
        </p:txBody>
      </p:sp>
      <p:sp>
        <p:nvSpPr>
          <p:cNvPr id="7" name="Text 5"/>
          <p:cNvSpPr txBox="1"/>
          <p:nvPr/>
        </p:nvSpPr>
        <p:spPr>
          <a:xfrm>
            <a:off x="1335024" y="5577840"/>
            <a:ext cx="14173200" cy="1188720"/>
          </a:xfrm>
          <a:prstGeom prst="rect">
            <a:avLst/>
          </a:prstGeom>
          <a:noFill/>
          <a:ln/>
        </p:spPr>
        <p:txBody>
          <a:bodyPr wrap="square" lIns="0" tIns="0" rIns="0" bIns="0" rtlCol="0" anchor="t"/>
          <a:lstStyle/>
          <a:p>
            <a:pPr marL="0" indent="0">
              <a:buNone/>
            </a:pPr>
            <a:r>
              <a:rPr lang="en-US" sz="2400" dirty="0">
                <a:solidFill>
                  <a:srgbClr val="C9D8EF"/>
                </a:solidFill>
                <a:latin typeface="Arial" pitchFamily="34" charset="0"/>
                <a:ea typeface="Arial" pitchFamily="34" charset="-122"/>
                <a:cs typeface="Arial" pitchFamily="34" charset="-120"/>
              </a:rPr>
              <a:t>Acknowledgments · research questions · test cases · method sources · software checks · one case step by step · scoring · credibility · timing · timeline · questions and answers · image sources · references</a:t>
            </a:r>
            <a:endParaRPr lang="en-US" sz="24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Acknowledgments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Reviewer names appear only with permission recorded on the review form. AI assistance is disclosed in the paper, Appendix F.</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25</a:t>
            </a:r>
            <a:endParaRPr lang="en-US" sz="1600" dirty="0"/>
          </a:p>
        </p:txBody>
      </p:sp>
      <p:sp>
        <p:nvSpPr>
          <p:cNvPr id="9" name="Shape 7"/>
          <p:cNvSpPr/>
          <p:nvPr/>
        </p:nvSpPr>
        <p:spPr>
          <a:xfrm>
            <a:off x="877824" y="2560320"/>
            <a:ext cx="16532352" cy="11887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Shape 8"/>
          <p:cNvSpPr/>
          <p:nvPr/>
        </p:nvSpPr>
        <p:spPr>
          <a:xfrm>
            <a:off x="1188720" y="2852928"/>
            <a:ext cx="384048" cy="384048"/>
          </a:xfrm>
          <a:prstGeom prst="ellipse">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828800" y="274320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AI for Asia Fellowship 2026</a:t>
            </a:r>
            <a:endParaRPr lang="en-US" sz="2400" dirty="0"/>
          </a:p>
        </p:txBody>
      </p:sp>
      <p:sp>
        <p:nvSpPr>
          <p:cNvPr id="12" name="Text 10"/>
          <p:cNvSpPr txBox="1"/>
          <p:nvPr/>
        </p:nvSpPr>
        <p:spPr>
          <a:xfrm>
            <a:off x="1828800" y="3246120"/>
            <a:ext cx="15270480" cy="41148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Mentors, organizers and fellow participants, for guidance and feedback.</a:t>
            </a:r>
            <a:endParaRPr lang="en-US" sz="2000" dirty="0"/>
          </a:p>
        </p:txBody>
      </p:sp>
      <p:sp>
        <p:nvSpPr>
          <p:cNvPr id="13" name="Shape 11"/>
          <p:cNvSpPr/>
          <p:nvPr/>
        </p:nvSpPr>
        <p:spPr>
          <a:xfrm>
            <a:off x="877824" y="3886200"/>
            <a:ext cx="16532352" cy="15087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4" name="Shape 12"/>
          <p:cNvSpPr/>
          <p:nvPr/>
        </p:nvSpPr>
        <p:spPr>
          <a:xfrm>
            <a:off x="1188720" y="4178808"/>
            <a:ext cx="384048" cy="384048"/>
          </a:xfrm>
          <a:prstGeom prst="ellipse">
            <a:avLst/>
          </a:prstGeom>
          <a:solidFill>
            <a:srgbClr val="8A6100"/>
          </a:solidFill>
          <a:ln w="12700">
            <a:solidFill>
              <a:srgbClr val="8A6100"/>
            </a:solidFill>
            <a:prstDash val="solid"/>
          </a:ln>
        </p:spPr>
        <p:txBody>
          <a:bodyPr/>
          <a:lstStyle/>
          <a:p>
            <a:endParaRPr lang="en-US"/>
          </a:p>
        </p:txBody>
      </p:sp>
      <p:sp>
        <p:nvSpPr>
          <p:cNvPr id="15" name="Text 13"/>
          <p:cNvSpPr txBox="1"/>
          <p:nvPr/>
        </p:nvSpPr>
        <p:spPr>
          <a:xfrm>
            <a:off x="1828800" y="406908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Independent reviewers</a:t>
            </a:r>
            <a:endParaRPr lang="en-US" sz="2400" dirty="0"/>
          </a:p>
        </p:txBody>
      </p:sp>
      <p:sp>
        <p:nvSpPr>
          <p:cNvPr id="16" name="Text 14"/>
          <p:cNvSpPr txBox="1"/>
          <p:nvPr/>
        </p:nvSpPr>
        <p:spPr>
          <a:xfrm>
            <a:off x="1828800" y="4572000"/>
            <a:ext cx="15270480" cy="73152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Three independent reviewers, a higher-education faculty member and physician, a data analyst and a market risk officer, who scored answers independently.</a:t>
            </a:r>
            <a:endParaRPr lang="en-US" sz="2000" dirty="0"/>
          </a:p>
        </p:txBody>
      </p:sp>
      <p:sp>
        <p:nvSpPr>
          <p:cNvPr id="17" name="Shape 15"/>
          <p:cNvSpPr/>
          <p:nvPr/>
        </p:nvSpPr>
        <p:spPr>
          <a:xfrm>
            <a:off x="877824" y="5532120"/>
            <a:ext cx="16532352"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8" name="Shape 16"/>
          <p:cNvSpPr/>
          <p:nvPr/>
        </p:nvSpPr>
        <p:spPr>
          <a:xfrm>
            <a:off x="1188720" y="5824728"/>
            <a:ext cx="384048" cy="384048"/>
          </a:xfrm>
          <a:prstGeom prst="ellipse">
            <a:avLst/>
          </a:prstGeom>
          <a:solidFill>
            <a:srgbClr val="0B1F3A"/>
          </a:solidFill>
          <a:ln w="12700">
            <a:solidFill>
              <a:srgbClr val="0B1F3A"/>
            </a:solidFill>
            <a:prstDash val="solid"/>
          </a:ln>
        </p:spPr>
        <p:txBody>
          <a:bodyPr/>
          <a:lstStyle/>
          <a:p>
            <a:endParaRPr lang="en-US"/>
          </a:p>
        </p:txBody>
      </p:sp>
      <p:sp>
        <p:nvSpPr>
          <p:cNvPr id="19" name="Text 17"/>
          <p:cNvSpPr txBox="1"/>
          <p:nvPr/>
        </p:nvSpPr>
        <p:spPr>
          <a:xfrm>
            <a:off x="1828800" y="571500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Schools whose public rules made the test cases possible</a:t>
            </a:r>
            <a:endParaRPr lang="en-US" sz="2400" dirty="0"/>
          </a:p>
        </p:txBody>
      </p:sp>
      <p:sp>
        <p:nvSpPr>
          <p:cNvPr id="20" name="Text 18"/>
          <p:cNvSpPr txBox="1"/>
          <p:nvPr/>
        </p:nvSpPr>
        <p:spPr>
          <a:xfrm>
            <a:off x="1828800" y="6217920"/>
            <a:ext cx="15270480" cy="141732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Ateneo de Manila University · Cebu Normal University · De La Salle University · Mapúa Malayan Colleges Mindanao · Pateros Technological College · St. Paul University Surigao · University of Southeastern Philippines · University of Southern Philippines Foundation · University of the Philippines Diliman. The scenarios are constructed and do not describe any school’s conduct.</a:t>
            </a:r>
            <a:endParaRPr lang="en-US" sz="2000" dirty="0"/>
          </a:p>
        </p:txBody>
      </p:sp>
      <p:sp>
        <p:nvSpPr>
          <p:cNvPr id="21" name="Shape 19"/>
          <p:cNvSpPr/>
          <p:nvPr/>
        </p:nvSpPr>
        <p:spPr>
          <a:xfrm>
            <a:off x="877824" y="7863840"/>
            <a:ext cx="16532352" cy="13258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Shape 20"/>
          <p:cNvSpPr/>
          <p:nvPr/>
        </p:nvSpPr>
        <p:spPr>
          <a:xfrm>
            <a:off x="1188720" y="8156448"/>
            <a:ext cx="384048" cy="384048"/>
          </a:xfrm>
          <a:prstGeom prst="ellipse">
            <a:avLst/>
          </a:prstGeom>
          <a:solidFill>
            <a:srgbClr val="4B5563"/>
          </a:solidFill>
          <a:ln w="12700">
            <a:solidFill>
              <a:srgbClr val="4B5563"/>
            </a:solidFill>
            <a:prstDash val="solid"/>
          </a:ln>
        </p:spPr>
        <p:txBody>
          <a:bodyPr/>
          <a:lstStyle/>
          <a:p>
            <a:endParaRPr lang="en-US"/>
          </a:p>
        </p:txBody>
      </p:sp>
      <p:sp>
        <p:nvSpPr>
          <p:cNvPr id="23" name="Text 21"/>
          <p:cNvSpPr txBox="1"/>
          <p:nvPr/>
        </p:nvSpPr>
        <p:spPr>
          <a:xfrm>
            <a:off x="1828800" y="804672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Tools</a:t>
            </a:r>
            <a:endParaRPr lang="en-US" sz="2400" dirty="0"/>
          </a:p>
        </p:txBody>
      </p:sp>
      <p:sp>
        <p:nvSpPr>
          <p:cNvPr id="24" name="Text 22"/>
          <p:cNvSpPr txBox="1"/>
          <p:nvPr/>
        </p:nvSpPr>
        <p:spPr>
          <a:xfrm>
            <a:off x="1828800" y="8549640"/>
            <a:ext cx="15270480" cy="54864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Gemini, Claude and OpenAI Codex helped draft cases, audit them and edit writing. The author is responsible for every judgment and all content.</a:t>
            </a:r>
            <a:endParaRPr lang="en-US" sz="20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A2</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Research questions (verbatim)</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Verbatim from the paper, Section 3.1.</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26</a:t>
            </a:r>
            <a:endParaRPr lang="en-US" sz="1600" dirty="0"/>
          </a:p>
        </p:txBody>
      </p:sp>
      <p:sp>
        <p:nvSpPr>
          <p:cNvPr id="9" name="Shape 7"/>
          <p:cNvSpPr/>
          <p:nvPr/>
        </p:nvSpPr>
        <p:spPr>
          <a:xfrm>
            <a:off x="877824" y="251460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88720" y="269748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Main</a:t>
            </a:r>
            <a:endParaRPr lang="en-US" sz="2200" dirty="0"/>
          </a:p>
        </p:txBody>
      </p:sp>
      <p:sp>
        <p:nvSpPr>
          <p:cNvPr id="11" name="Text 9"/>
          <p:cNvSpPr txBox="1"/>
          <p:nvPr/>
        </p:nvSpPr>
        <p:spPr>
          <a:xfrm>
            <a:off x="2651760" y="262432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For selected rule-governed assessment-support workflows in Philippine higher education, how do frontier and efficient LLM configurations, with and without deterministic release controls, compare in correctness, failure containment, inappropriate delegation, useful release, and associated model cost and single-researcher handling burden?</a:t>
            </a:r>
            <a:endParaRPr lang="en-US" sz="2000" dirty="0"/>
          </a:p>
        </p:txBody>
      </p:sp>
      <p:sp>
        <p:nvSpPr>
          <p:cNvPr id="12" name="Shape 10"/>
          <p:cNvSpPr/>
          <p:nvPr/>
        </p:nvSpPr>
        <p:spPr>
          <a:xfrm>
            <a:off x="877824" y="420624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1188720" y="438912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RQ1</a:t>
            </a:r>
            <a:endParaRPr lang="en-US" sz="2200" dirty="0"/>
          </a:p>
        </p:txBody>
      </p:sp>
      <p:sp>
        <p:nvSpPr>
          <p:cNvPr id="14" name="Text 12"/>
          <p:cNvSpPr txBox="1"/>
          <p:nvPr/>
        </p:nvSpPr>
        <p:spPr>
          <a:xfrm>
            <a:off x="2651760" y="431596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How do the selected frontier and efficient models differ in correctness and serious failures, and how does applying deterministic release controls to the same responses affect serious-failure release, useful release, and unnecessary withholding?</a:t>
            </a:r>
            <a:endParaRPr lang="en-US" sz="2000" dirty="0"/>
          </a:p>
        </p:txBody>
      </p:sp>
      <p:sp>
        <p:nvSpPr>
          <p:cNvPr id="15" name="Shape 13"/>
          <p:cNvSpPr/>
          <p:nvPr/>
        </p:nvSpPr>
        <p:spPr>
          <a:xfrm>
            <a:off x="877824" y="589788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88720" y="608076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RQ2</a:t>
            </a:r>
            <a:endParaRPr lang="en-US" sz="2200" dirty="0"/>
          </a:p>
        </p:txBody>
      </p:sp>
      <p:sp>
        <p:nvSpPr>
          <p:cNvPr id="17" name="Text 15"/>
          <p:cNvSpPr txBox="1"/>
          <p:nvPr/>
        </p:nvSpPr>
        <p:spPr>
          <a:xfrm>
            <a:off x="2651760" y="600760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Which failure classes can deterministic validators detect and contain, where do those validators fall short, and what roles for language-model interpretation and accountable human review are supported by the benchmark findings and governing sources?</a:t>
            </a:r>
            <a:endParaRPr lang="en-US" sz="2000" dirty="0"/>
          </a:p>
        </p:txBody>
      </p:sp>
      <p:sp>
        <p:nvSpPr>
          <p:cNvPr id="18" name="Shape 16"/>
          <p:cNvSpPr/>
          <p:nvPr/>
        </p:nvSpPr>
        <p:spPr>
          <a:xfrm>
            <a:off x="877824" y="758952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1188720" y="777240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RQ3</a:t>
            </a:r>
            <a:endParaRPr lang="en-US" sz="2200" dirty="0"/>
          </a:p>
        </p:txBody>
      </p:sp>
      <p:sp>
        <p:nvSpPr>
          <p:cNvPr id="20" name="Text 18"/>
          <p:cNvSpPr txBox="1"/>
          <p:nvPr/>
        </p:nvSpPr>
        <p:spPr>
          <a:xfrm>
            <a:off x="2651760" y="769924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What model cost and single-researcher verification and remediation burden are associated with each configuration, and what preliminary implications do these findings have for resource-constrained assessment-support workflows in Philippine higher education?</a:t>
            </a:r>
            <a:endParaRPr lang="en-US" sz="20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A3</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The 24 test cases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Constructed scenarios based on published rules; rules may since have been revised. W1: evidence and version. W2: authority and referral. W3: calculation.</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27</a:t>
            </a:r>
            <a:endParaRPr lang="en-US" sz="1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77824" y="2423160"/>
          <a:ext cx="8147304" cy="6793992"/>
        </p:xfrm>
        <a:graphic>
          <a:graphicData uri="http://schemas.openxmlformats.org/drawingml/2006/table">
            <a:tbl>
              <a:tblPr/>
              <a:tblGrid>
                <a:gridCol w="96012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980944">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502920">
                <a:tc>
                  <a:txBody>
                    <a:bodyPr/>
                    <a:lstStyle/>
                    <a:p>
                      <a:pPr marL="0" indent="0">
                        <a:buNone/>
                      </a:pPr>
                      <a:r>
                        <a:rPr lang="en-US" sz="1500" b="1" dirty="0">
                          <a:solidFill>
                            <a:srgbClr val="FFFFFF"/>
                          </a:solidFill>
                          <a:latin typeface="Arial" pitchFamily="34" charset="0"/>
                          <a:ea typeface="Arial" pitchFamily="34" charset="-122"/>
                          <a:cs typeface="Arial" pitchFamily="34" charset="-120"/>
                        </a:rPr>
                        <a:t>Case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Title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Rule source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Criteria</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Clear syllabus guidance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Borrowed syllabus format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Graduate versus undergraduate scale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Cebu Normal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INC calendar and deadline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Memo and appendix relationship</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Policy review and currency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Classification of a missed final examination with documented illness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Cebu Normal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Missing passing-rule context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Complete special-exam request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Missing special-exam evidence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Detector signal and evidence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Dishonesty reporting route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Southeastern Philippines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9262872" y="2423160"/>
          <a:ext cx="8147304" cy="7114032"/>
        </p:xfrm>
        <a:graphic>
          <a:graphicData uri="http://schemas.openxmlformats.org/drawingml/2006/table">
            <a:tbl>
              <a:tblPr/>
              <a:tblGrid>
                <a:gridCol w="96012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980944">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502920">
                <a:tc>
                  <a:txBody>
                    <a:bodyPr/>
                    <a:lstStyle/>
                    <a:p>
                      <a:pPr marL="0" indent="0">
                        <a:buNone/>
                      </a:pPr>
                      <a:r>
                        <a:rPr lang="en-US" sz="1500" b="1" dirty="0">
                          <a:solidFill>
                            <a:srgbClr val="FFFFFF"/>
                          </a:solidFill>
                          <a:latin typeface="Arial" pitchFamily="34" charset="0"/>
                          <a:ea typeface="Arial" pitchFamily="34" charset="-122"/>
                          <a:cs typeface="Arial" pitchFamily="34" charset="-120"/>
                        </a:rPr>
                        <a:t>Case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Title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Rule source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Criteria</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Faculty correction of a grade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Advanced credit without equivalence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Attendance and exception authority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Pateros Technological College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Completion when the faculty member is unavailable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Southeastern Philippines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Credit weights versus teaching weeks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Points and nested category weights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Southern Philippines Foundation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Assessment-specific AI-use override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MGA-to-grade conversion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Internship grading carve-out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Southern Philippines Foundation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No-submission exemption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Continuing-grade deadlines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Useful calculation with bounded honors advice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A4</a:t>
            </a:r>
            <a:endParaRPr lang="en-US" sz="20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Built on how AI is already evaluated</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Miller (2024); Zhou et al. (2025), RuleArena; Zwerdling et al. (2025, simulated airline benchmark); Kapoor et al. (2024), REFORMS; Reuel et al. (2024), BetterBench; Krumdick et al. (2026, preprint). Source documents: De La Salle University, Ateneo de Manila University, Mapúa Malayan Colleges Mindanao.</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28</a:t>
            </a:r>
            <a:endParaRPr lang="en-US" sz="1600" dirty="0"/>
          </a:p>
        </p:txBody>
      </p:sp>
      <p:sp>
        <p:nvSpPr>
          <p:cNvPr id="19" name="Shape 17"/>
          <p:cNvSpPr/>
          <p:nvPr/>
        </p:nvSpPr>
        <p:spPr>
          <a:xfrm>
            <a:off x="877824" y="260604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197864" y="2926080"/>
            <a:ext cx="640080" cy="640080"/>
          </a:xfrm>
          <a:prstGeom prst="ellipse">
            <a:avLst/>
          </a:prstGeom>
          <a:solidFill>
            <a:srgbClr val="0038A8"/>
          </a:solidFill>
          <a:ln w="12700">
            <a:solidFill>
              <a:srgbClr val="0038A8"/>
            </a:solidFill>
            <a:prstDash val="solid"/>
          </a:ln>
        </p:spPr>
        <p:txBody>
          <a:bodyPr/>
          <a:lstStyle/>
          <a:p>
            <a:endParaRPr lang="en-US"/>
          </a:p>
        </p:txBody>
      </p:sp>
      <p:sp>
        <p:nvSpPr>
          <p:cNvPr id="21" name="Text 19"/>
          <p:cNvSpPr txBox="1"/>
          <p:nvPr/>
        </p:nvSpPr>
        <p:spPr>
          <a:xfrm>
            <a:off x="1197864" y="292608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2" name="Text 20"/>
          <p:cNvSpPr txBox="1"/>
          <p:nvPr/>
        </p:nvSpPr>
        <p:spPr>
          <a:xfrm>
            <a:off x="2020824" y="288036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Same answer, two routes</a:t>
            </a:r>
            <a:endParaRPr lang="en-US" sz="2600" dirty="0"/>
          </a:p>
        </p:txBody>
      </p:sp>
      <p:sp>
        <p:nvSpPr>
          <p:cNvPr id="23" name="Text 21"/>
          <p:cNvSpPr txBox="1"/>
          <p:nvPr/>
        </p:nvSpPr>
        <p:spPr>
          <a:xfrm>
            <a:off x="1197864" y="384048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Fixing the answer means any change comes from the checks; pairs are analyzed together (Miller, 2024).</a:t>
            </a:r>
            <a:endParaRPr lang="en-US" sz="2000" dirty="0"/>
          </a:p>
        </p:txBody>
      </p:sp>
      <p:sp>
        <p:nvSpPr>
          <p:cNvPr id="24" name="Shape 22"/>
          <p:cNvSpPr/>
          <p:nvPr/>
        </p:nvSpPr>
        <p:spPr>
          <a:xfrm>
            <a:off x="6547104" y="260604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6867144" y="2926080"/>
            <a:ext cx="640080" cy="640080"/>
          </a:xfrm>
          <a:prstGeom prst="ellipse">
            <a:avLst/>
          </a:prstGeom>
          <a:solidFill>
            <a:srgbClr val="0F7B5F"/>
          </a:solidFill>
          <a:ln w="12700">
            <a:solidFill>
              <a:srgbClr val="0F7B5F"/>
            </a:solidFill>
            <a:prstDash val="solid"/>
          </a:ln>
        </p:spPr>
        <p:txBody>
          <a:bodyPr/>
          <a:lstStyle/>
          <a:p>
            <a:endParaRPr lang="en-US"/>
          </a:p>
        </p:txBody>
      </p:sp>
      <p:sp>
        <p:nvSpPr>
          <p:cNvPr id="26" name="Text 24"/>
          <p:cNvSpPr txBox="1"/>
          <p:nvPr/>
        </p:nvSpPr>
        <p:spPr>
          <a:xfrm>
            <a:off x="6867144" y="292608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27" name="Text 25"/>
          <p:cNvSpPr txBox="1"/>
          <p:nvPr/>
        </p:nvSpPr>
        <p:spPr>
          <a:xfrm>
            <a:off x="7690104" y="288036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Real rules, scored against keys</a:t>
            </a:r>
            <a:endParaRPr lang="en-US" sz="2600" dirty="0"/>
          </a:p>
        </p:txBody>
      </p:sp>
      <p:sp>
        <p:nvSpPr>
          <p:cNvPr id="28" name="Text 26"/>
          <p:cNvSpPr txBox="1"/>
          <p:nvPr/>
        </p:nvSpPr>
        <p:spPr>
          <a:xfrm>
            <a:off x="6867144" y="384048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Like rule-guided benchmarks, the model gets the rule and is scored against an answer key (Zhou et al., 2025).</a:t>
            </a:r>
            <a:endParaRPr lang="en-US" sz="2000" dirty="0"/>
          </a:p>
        </p:txBody>
      </p:sp>
      <p:sp>
        <p:nvSpPr>
          <p:cNvPr id="29" name="Shape 27"/>
          <p:cNvSpPr/>
          <p:nvPr/>
        </p:nvSpPr>
        <p:spPr>
          <a:xfrm>
            <a:off x="877824" y="594360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8"/>
          <p:cNvSpPr/>
          <p:nvPr/>
        </p:nvSpPr>
        <p:spPr>
          <a:xfrm>
            <a:off x="1197864" y="6263640"/>
            <a:ext cx="640080" cy="640080"/>
          </a:xfrm>
          <a:prstGeom prst="ellipse">
            <a:avLst/>
          </a:prstGeom>
          <a:solidFill>
            <a:srgbClr val="8A6100"/>
          </a:solidFill>
          <a:ln w="12700">
            <a:solidFill>
              <a:srgbClr val="8A6100"/>
            </a:solidFill>
            <a:prstDash val="solid"/>
          </a:ln>
        </p:spPr>
        <p:txBody>
          <a:bodyPr/>
          <a:lstStyle/>
          <a:p>
            <a:endParaRPr lang="en-US"/>
          </a:p>
        </p:txBody>
      </p:sp>
      <p:sp>
        <p:nvSpPr>
          <p:cNvPr id="31" name="Text 29"/>
          <p:cNvSpPr txBox="1"/>
          <p:nvPr/>
        </p:nvSpPr>
        <p:spPr>
          <a:xfrm>
            <a:off x="1197864" y="626364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32" name="Text 30"/>
          <p:cNvSpPr txBox="1"/>
          <p:nvPr/>
        </p:nvSpPr>
        <p:spPr>
          <a:xfrm>
            <a:off x="2020824" y="621792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Checks written from policy</a:t>
            </a:r>
            <a:endParaRPr lang="en-US" sz="2600" dirty="0"/>
          </a:p>
        </p:txBody>
      </p:sp>
      <p:sp>
        <p:nvSpPr>
          <p:cNvPr id="33" name="Text 31"/>
          <p:cNvSpPr txBox="1"/>
          <p:nvPr/>
        </p:nvSpPr>
        <p:spPr>
          <a:xfrm>
            <a:off x="1197864" y="717804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Checks built from written policy beat prompt reminders in a simulated benchmark (Zwerdling et al., 2025).</a:t>
            </a:r>
            <a:endParaRPr lang="en-US" sz="2000" dirty="0"/>
          </a:p>
        </p:txBody>
      </p:sp>
      <p:sp>
        <p:nvSpPr>
          <p:cNvPr id="34" name="Shape 32"/>
          <p:cNvSpPr/>
          <p:nvPr/>
        </p:nvSpPr>
        <p:spPr>
          <a:xfrm>
            <a:off x="6547104" y="594360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5" name="Shape 33"/>
          <p:cNvSpPr/>
          <p:nvPr/>
        </p:nvSpPr>
        <p:spPr>
          <a:xfrm>
            <a:off x="6867144" y="6263640"/>
            <a:ext cx="640080" cy="640080"/>
          </a:xfrm>
          <a:prstGeom prst="ellipse">
            <a:avLst/>
          </a:prstGeom>
          <a:solidFill>
            <a:srgbClr val="CE1126"/>
          </a:solidFill>
          <a:ln w="12700">
            <a:solidFill>
              <a:srgbClr val="CE1126"/>
            </a:solidFill>
            <a:prstDash val="solid"/>
          </a:ln>
        </p:spPr>
        <p:txBody>
          <a:bodyPr/>
          <a:lstStyle/>
          <a:p>
            <a:endParaRPr lang="en-US"/>
          </a:p>
        </p:txBody>
      </p:sp>
      <p:sp>
        <p:nvSpPr>
          <p:cNvPr id="36" name="Text 34"/>
          <p:cNvSpPr txBox="1"/>
          <p:nvPr/>
        </p:nvSpPr>
        <p:spPr>
          <a:xfrm>
            <a:off x="6867144" y="626364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37" name="Text 35"/>
          <p:cNvSpPr txBox="1"/>
          <p:nvPr/>
        </p:nvSpPr>
        <p:spPr>
          <a:xfrm>
            <a:off x="7690104" y="621792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Every count, with its limits</a:t>
            </a:r>
            <a:endParaRPr lang="en-US" sz="2600" dirty="0"/>
          </a:p>
        </p:txBody>
      </p:sp>
      <p:sp>
        <p:nvSpPr>
          <p:cNvPr id="38" name="Text 36"/>
          <p:cNvSpPr txBox="1"/>
          <p:nvPr/>
        </p:nvSpPr>
        <p:spPr>
          <a:xfrm>
            <a:off x="6867144" y="717804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Denominators, bounds and deviations reported to benchmark standards; scoring cross-checked, because keys can be wrong (Kapoor et al., 2024; Reuel et al., 2024; Krumdick et al., 2026).</a:t>
            </a:r>
            <a:endParaRPr lang="en-US" sz="2000" dirty="0"/>
          </a:p>
        </p:txBody>
      </p:sp>
      <p:sp>
        <p:nvSpPr>
          <p:cNvPr id="39" name="Text 37"/>
          <p:cNvSpPr txBox="1"/>
          <p:nvPr/>
        </p:nvSpPr>
        <p:spPr>
          <a:xfrm>
            <a:off x="12390120" y="2606040"/>
            <a:ext cx="5029200" cy="365760"/>
          </a:xfrm>
          <a:prstGeom prst="rect">
            <a:avLst/>
          </a:prstGeom>
          <a:noFill/>
          <a:ln/>
        </p:spPr>
        <p:txBody>
          <a:bodyPr wrap="square" lIns="0" tIns="0" rIns="0" bIns="0" rtlCol="0" anchor="t"/>
          <a:lstStyle/>
          <a:p>
            <a:pPr marL="0" indent="0">
              <a:buNone/>
            </a:pPr>
            <a:r>
              <a:rPr lang="en-US" sz="1800" b="1" kern="0" spc="100" dirty="0">
                <a:solidFill>
                  <a:srgbClr val="4B5563"/>
                </a:solidFill>
                <a:latin typeface="Arial" pitchFamily="34" charset="0"/>
                <a:ea typeface="Arial" pitchFamily="34" charset="-122"/>
                <a:cs typeface="Arial" pitchFamily="34" charset="-120"/>
              </a:rPr>
              <a:t>BUILT FROM PUBLISHED RULES</a:t>
            </a:r>
            <a:endParaRPr lang="en-US" sz="1800" dirty="0"/>
          </a:p>
        </p:txBody>
      </p:sp>
      <p:sp>
        <p:nvSpPr>
          <p:cNvPr id="40" name="Shape 38"/>
          <p:cNvSpPr/>
          <p:nvPr/>
        </p:nvSpPr>
        <p:spPr>
          <a:xfrm>
            <a:off x="12390120" y="3063240"/>
            <a:ext cx="502920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41" name="Image 0" descr="De La Salle University: GenAI policy"/>
          <p:cNvPicPr>
            <a:picLocks noChangeAspect="1"/>
          </p:cNvPicPr>
          <p:nvPr/>
        </p:nvPicPr>
        <p:blipFill>
          <a:blip r:embed="rId3"/>
          <a:stretch>
            <a:fillRect/>
          </a:stretch>
        </p:blipFill>
        <p:spPr>
          <a:xfrm>
            <a:off x="13469606" y="3172968"/>
            <a:ext cx="2870229" cy="1325880"/>
          </a:xfrm>
          <a:prstGeom prst="rect">
            <a:avLst/>
          </a:prstGeom>
        </p:spPr>
      </p:pic>
      <p:sp>
        <p:nvSpPr>
          <p:cNvPr id="42" name="Text 39"/>
          <p:cNvSpPr txBox="1"/>
          <p:nvPr/>
        </p:nvSpPr>
        <p:spPr>
          <a:xfrm>
            <a:off x="12527280" y="4572000"/>
            <a:ext cx="4754880" cy="384048"/>
          </a:xfrm>
          <a:prstGeom prst="rect">
            <a:avLst/>
          </a:prstGeom>
          <a:noFill/>
          <a:ln/>
        </p:spPr>
        <p:txBody>
          <a:bodyPr wrap="square" lIns="0" tIns="0" rIns="0" bIns="0" rtlCol="0" anchor="t"/>
          <a:lstStyle/>
          <a:p>
            <a:pPr marL="0" indent="0" algn="ctr">
              <a:buNone/>
            </a:pPr>
            <a:r>
              <a:rPr lang="en-US" sz="1600" dirty="0">
                <a:solidFill>
                  <a:srgbClr val="4B5563"/>
                </a:solidFill>
                <a:latin typeface="Arial" pitchFamily="34" charset="0"/>
                <a:ea typeface="Arial" pitchFamily="34" charset="-122"/>
                <a:cs typeface="Arial" pitchFamily="34" charset="-120"/>
              </a:rPr>
              <a:t>De La Salle University: GenAI policy</a:t>
            </a:r>
            <a:endParaRPr lang="en-US" sz="1600" dirty="0"/>
          </a:p>
        </p:txBody>
      </p:sp>
      <p:sp>
        <p:nvSpPr>
          <p:cNvPr id="43" name="Shape 40"/>
          <p:cNvSpPr/>
          <p:nvPr/>
        </p:nvSpPr>
        <p:spPr>
          <a:xfrm>
            <a:off x="12390120" y="5212080"/>
            <a:ext cx="502920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44" name="Image 1" descr="Ateneo de Manila: GenAI guidelines"/>
          <p:cNvPicPr>
            <a:picLocks noChangeAspect="1"/>
          </p:cNvPicPr>
          <p:nvPr/>
        </p:nvPicPr>
        <p:blipFill>
          <a:blip r:embed="rId4"/>
          <a:stretch>
            <a:fillRect/>
          </a:stretch>
        </p:blipFill>
        <p:spPr>
          <a:xfrm>
            <a:off x="13791335" y="5321808"/>
            <a:ext cx="2226770" cy="1325880"/>
          </a:xfrm>
          <a:prstGeom prst="rect">
            <a:avLst/>
          </a:prstGeom>
        </p:spPr>
      </p:pic>
      <p:sp>
        <p:nvSpPr>
          <p:cNvPr id="45" name="Text 41"/>
          <p:cNvSpPr txBox="1"/>
          <p:nvPr/>
        </p:nvSpPr>
        <p:spPr>
          <a:xfrm>
            <a:off x="12527280" y="6720840"/>
            <a:ext cx="4754880" cy="384048"/>
          </a:xfrm>
          <a:prstGeom prst="rect">
            <a:avLst/>
          </a:prstGeom>
          <a:noFill/>
          <a:ln/>
        </p:spPr>
        <p:txBody>
          <a:bodyPr wrap="square" lIns="0" tIns="0" rIns="0" bIns="0" rtlCol="0" anchor="t"/>
          <a:lstStyle/>
          <a:p>
            <a:pPr marL="0" indent="0" algn="ctr">
              <a:buNone/>
            </a:pPr>
            <a:r>
              <a:rPr lang="en-US" sz="1600" dirty="0">
                <a:solidFill>
                  <a:srgbClr val="4B5563"/>
                </a:solidFill>
                <a:latin typeface="Arial" pitchFamily="34" charset="0"/>
                <a:ea typeface="Arial" pitchFamily="34" charset="-122"/>
                <a:cs typeface="Arial" pitchFamily="34" charset="-120"/>
              </a:rPr>
              <a:t>Ateneo de Manila: GenAI guidelines</a:t>
            </a:r>
            <a:endParaRPr lang="en-US" sz="1600" dirty="0"/>
          </a:p>
        </p:txBody>
      </p:sp>
      <p:sp>
        <p:nvSpPr>
          <p:cNvPr id="46" name="Shape 42"/>
          <p:cNvSpPr/>
          <p:nvPr/>
        </p:nvSpPr>
        <p:spPr>
          <a:xfrm>
            <a:off x="12390120" y="7360920"/>
            <a:ext cx="502920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47" name="Image 2" descr="Mapúa MCM: modular grading rules"/>
          <p:cNvPicPr>
            <a:picLocks noChangeAspect="1"/>
          </p:cNvPicPr>
          <p:nvPr/>
        </p:nvPicPr>
        <p:blipFill>
          <a:blip r:embed="rId5"/>
          <a:stretch>
            <a:fillRect/>
          </a:stretch>
        </p:blipFill>
        <p:spPr>
          <a:xfrm>
            <a:off x="13943714" y="7470648"/>
            <a:ext cx="1922012" cy="1325880"/>
          </a:xfrm>
          <a:prstGeom prst="rect">
            <a:avLst/>
          </a:prstGeom>
        </p:spPr>
      </p:pic>
      <p:sp>
        <p:nvSpPr>
          <p:cNvPr id="48" name="Text 43"/>
          <p:cNvSpPr txBox="1"/>
          <p:nvPr/>
        </p:nvSpPr>
        <p:spPr>
          <a:xfrm>
            <a:off x="12527280" y="8869680"/>
            <a:ext cx="4754880" cy="384048"/>
          </a:xfrm>
          <a:prstGeom prst="rect">
            <a:avLst/>
          </a:prstGeom>
          <a:noFill/>
          <a:ln/>
        </p:spPr>
        <p:txBody>
          <a:bodyPr wrap="square" lIns="0" tIns="0" rIns="0" bIns="0" rtlCol="0" anchor="t"/>
          <a:lstStyle/>
          <a:p>
            <a:pPr marL="0" indent="0" algn="ctr">
              <a:buNone/>
            </a:pPr>
            <a:r>
              <a:rPr lang="en-US" sz="1600" dirty="0">
                <a:solidFill>
                  <a:srgbClr val="4B5563"/>
                </a:solidFill>
                <a:latin typeface="Arial" pitchFamily="34" charset="0"/>
                <a:ea typeface="Arial" pitchFamily="34" charset="-122"/>
                <a:cs typeface="Arial" pitchFamily="34" charset="-120"/>
              </a:rPr>
              <a:t>Mapúa MCM: modular grading rules</a:t>
            </a:r>
            <a:endParaRPr lang="en-US" sz="1600" dirty="0"/>
          </a:p>
        </p:txBody>
      </p:sp>
    </p:spTree>
    <p:extLst>
      <p:ext uri="{BB962C8B-B14F-4D97-AF65-F5344CB8AC3E}">
        <p14:creationId xmlns:p14="http://schemas.microsoft.com/office/powerpoint/2010/main" val="4157822087"/>
      </p:ext>
    </p:extLst>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A5</a:t>
            </a:r>
            <a:endParaRPr lang="en-US" sz="20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Four simple checks, and what each one misses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 failed check blocks the answer. A declared grade, approval or penalty is sent to a person. Everything else is released with a general warning.</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29</a:t>
            </a:r>
            <a:endParaRPr lang="en-US" sz="1600" dirty="0"/>
          </a:p>
        </p:txBody>
      </p:sp>
      <p:sp>
        <p:nvSpPr>
          <p:cNvPr id="19" name="Shape 17"/>
          <p:cNvSpPr/>
          <p:nvPr/>
        </p:nvSpPr>
        <p:spPr>
          <a:xfrm>
            <a:off x="877824"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197864"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21" name="Text 19"/>
          <p:cNvSpPr txBox="1"/>
          <p:nvPr/>
        </p:nvSpPr>
        <p:spPr>
          <a:xfrm>
            <a:off x="1197864"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22" name="Text 20"/>
          <p:cNvSpPr txBox="1"/>
          <p:nvPr/>
        </p:nvSpPr>
        <p:spPr>
          <a:xfrm>
            <a:off x="2157984"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Format
</a:t>
            </a: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23" name="Shape 21"/>
          <p:cNvSpPr/>
          <p:nvPr/>
        </p:nvSpPr>
        <p:spPr>
          <a:xfrm>
            <a:off x="1197864"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24" name="Text 22"/>
          <p:cNvSpPr txBox="1"/>
          <p:nvPr/>
        </p:nvSpPr>
        <p:spPr>
          <a:xfrm>
            <a:off x="1380744"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The answer follows the required structure and uses an allowed action</a:t>
            </a:r>
            <a:endParaRPr lang="en-US" sz="1800" dirty="0"/>
          </a:p>
        </p:txBody>
      </p:sp>
      <p:sp>
        <p:nvSpPr>
          <p:cNvPr id="25" name="Shape 23"/>
          <p:cNvSpPr/>
          <p:nvPr/>
        </p:nvSpPr>
        <p:spPr>
          <a:xfrm>
            <a:off x="1197864"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26" name="Text 24"/>
          <p:cNvSpPr txBox="1"/>
          <p:nvPr/>
        </p:nvSpPr>
        <p:spPr>
          <a:xfrm>
            <a:off x="1380744"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Whether the content is correct</a:t>
            </a:r>
            <a:endParaRPr lang="en-US" sz="1800" dirty="0"/>
          </a:p>
        </p:txBody>
      </p:sp>
      <p:sp>
        <p:nvSpPr>
          <p:cNvPr id="27" name="Shape 25"/>
          <p:cNvSpPr/>
          <p:nvPr/>
        </p:nvSpPr>
        <p:spPr>
          <a:xfrm>
            <a:off x="5079492"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8" name="Shape 26"/>
          <p:cNvSpPr/>
          <p:nvPr/>
        </p:nvSpPr>
        <p:spPr>
          <a:xfrm>
            <a:off x="5399532"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29" name="Text 27"/>
          <p:cNvSpPr txBox="1"/>
          <p:nvPr/>
        </p:nvSpPr>
        <p:spPr>
          <a:xfrm>
            <a:off x="5399532"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30" name="Text 28"/>
          <p:cNvSpPr txBox="1"/>
          <p:nvPr/>
        </p:nvSpPr>
        <p:spPr>
          <a:xfrm>
            <a:off x="6359652"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Quotations
</a:t>
            </a: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31" name="Shape 29"/>
          <p:cNvSpPr/>
          <p:nvPr/>
        </p:nvSpPr>
        <p:spPr>
          <a:xfrm>
            <a:off x="5399532"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32" name="Text 30"/>
          <p:cNvSpPr txBox="1"/>
          <p:nvPr/>
        </p:nvSpPr>
        <p:spPr>
          <a:xfrm>
            <a:off x="5582412"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Every quoted passage really exists in the school’s rule</a:t>
            </a:r>
            <a:endParaRPr lang="en-US" sz="1800" dirty="0"/>
          </a:p>
        </p:txBody>
      </p:sp>
      <p:sp>
        <p:nvSpPr>
          <p:cNvPr id="33" name="Shape 31"/>
          <p:cNvSpPr/>
          <p:nvPr/>
        </p:nvSpPr>
        <p:spPr>
          <a:xfrm>
            <a:off x="5399532"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34" name="Text 32"/>
          <p:cNvSpPr txBox="1"/>
          <p:nvPr/>
        </p:nvSpPr>
        <p:spPr>
          <a:xfrm>
            <a:off x="5582412"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Whether the quote supports the advice</a:t>
            </a:r>
            <a:endParaRPr lang="en-US" sz="1800" dirty="0"/>
          </a:p>
        </p:txBody>
      </p:sp>
      <p:sp>
        <p:nvSpPr>
          <p:cNvPr id="35" name="Shape 33"/>
          <p:cNvSpPr/>
          <p:nvPr/>
        </p:nvSpPr>
        <p:spPr>
          <a:xfrm>
            <a:off x="9281160"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6" name="Shape 34"/>
          <p:cNvSpPr/>
          <p:nvPr/>
        </p:nvSpPr>
        <p:spPr>
          <a:xfrm>
            <a:off x="9601200"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37" name="Text 35"/>
          <p:cNvSpPr txBox="1"/>
          <p:nvPr/>
        </p:nvSpPr>
        <p:spPr>
          <a:xfrm>
            <a:off x="9601200"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38" name="Text 36"/>
          <p:cNvSpPr txBox="1"/>
          <p:nvPr/>
        </p:nvSpPr>
        <p:spPr>
          <a:xfrm>
            <a:off x="10561320"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Arithmetic
</a:t>
            </a:r>
            <a:r>
              <a:rPr lang="en-US" sz="1800" b="1" dirty="0">
                <a:solidFill>
                  <a:srgbClr val="0038A8"/>
                </a:solidFill>
                <a:latin typeface="Arial" pitchFamily="34" charset="0"/>
                <a:ea typeface="Arial" pitchFamily="34" charset="-122"/>
                <a:cs typeface="Arial" pitchFamily="34" charset="-120"/>
              </a:rPr>
              <a:t>5 grading cases</a:t>
            </a:r>
            <a:endParaRPr lang="en-US" sz="3000" dirty="0"/>
          </a:p>
        </p:txBody>
      </p:sp>
      <p:sp>
        <p:nvSpPr>
          <p:cNvPr id="39" name="Shape 37"/>
          <p:cNvSpPr/>
          <p:nvPr/>
        </p:nvSpPr>
        <p:spPr>
          <a:xfrm>
            <a:off x="9601200"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40" name="Text 38"/>
          <p:cNvSpPr txBox="1"/>
          <p:nvPr/>
        </p:nvSpPr>
        <p:spPr>
          <a:xfrm>
            <a:off x="9784080"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Numbers are recomputed from the rule</a:t>
            </a:r>
            <a:endParaRPr lang="en-US" sz="1800" dirty="0"/>
          </a:p>
        </p:txBody>
      </p:sp>
      <p:sp>
        <p:nvSpPr>
          <p:cNvPr id="41" name="Shape 39"/>
          <p:cNvSpPr/>
          <p:nvPr/>
        </p:nvSpPr>
        <p:spPr>
          <a:xfrm>
            <a:off x="9601200"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42" name="Text 40"/>
          <p:cNvSpPr txBox="1"/>
          <p:nvPr/>
        </p:nvSpPr>
        <p:spPr>
          <a:xfrm>
            <a:off x="9784080"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Numbers left out, renamed or buried in text</a:t>
            </a:r>
            <a:endParaRPr lang="en-US" sz="1800" dirty="0"/>
          </a:p>
        </p:txBody>
      </p:sp>
      <p:sp>
        <p:nvSpPr>
          <p:cNvPr id="43" name="Shape 41"/>
          <p:cNvSpPr/>
          <p:nvPr/>
        </p:nvSpPr>
        <p:spPr>
          <a:xfrm>
            <a:off x="13482828"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44" name="Shape 42"/>
          <p:cNvSpPr/>
          <p:nvPr/>
        </p:nvSpPr>
        <p:spPr>
          <a:xfrm>
            <a:off x="13802868"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45" name="Text 43"/>
          <p:cNvSpPr txBox="1"/>
          <p:nvPr/>
        </p:nvSpPr>
        <p:spPr>
          <a:xfrm>
            <a:off x="13802868"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46" name="Text 44"/>
          <p:cNvSpPr txBox="1"/>
          <p:nvPr/>
        </p:nvSpPr>
        <p:spPr>
          <a:xfrm>
            <a:off x="14762988"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Decisions
</a:t>
            </a: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47" name="Shape 45"/>
          <p:cNvSpPr/>
          <p:nvPr/>
        </p:nvSpPr>
        <p:spPr>
          <a:xfrm>
            <a:off x="13802868"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48" name="Text 46"/>
          <p:cNvSpPr txBox="1"/>
          <p:nvPr/>
        </p:nvSpPr>
        <p:spPr>
          <a:xfrm>
            <a:off x="13985748"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Any grade, approval or penalty is sent to a person</a:t>
            </a:r>
            <a:endParaRPr lang="en-US" sz="1800" dirty="0"/>
          </a:p>
        </p:txBody>
      </p:sp>
      <p:sp>
        <p:nvSpPr>
          <p:cNvPr id="49" name="Shape 47"/>
          <p:cNvSpPr/>
          <p:nvPr/>
        </p:nvSpPr>
        <p:spPr>
          <a:xfrm>
            <a:off x="13802868"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50" name="Text 48"/>
          <p:cNvSpPr txBox="1"/>
          <p:nvPr/>
        </p:nvSpPr>
        <p:spPr>
          <a:xfrm>
            <a:off x="13985748"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Serious advice written only in prose</a:t>
            </a:r>
            <a:endParaRPr lang="en-US" sz="1800" dirty="0"/>
          </a:p>
        </p:txBody>
      </p:sp>
    </p:spTree>
    <p:extLst>
      <p:ext uri="{BB962C8B-B14F-4D97-AF65-F5344CB8AC3E}">
        <p14:creationId xmlns:p14="http://schemas.microsoft.com/office/powerpoint/2010/main" val="1621501542"/>
      </p:ext>
    </p:extLst>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A6</a:t>
            </a:r>
            <a:endParaRPr lang="en-US" sz="20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A grade computed by weeks instead of credits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Test case W3-01, built on Mapúa Malayan Colleges Mindanao’s published modular grading rule. The answer shown is an illustration, not a model output. The scenario is constructed and describes no real student or office.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30</a:t>
            </a:r>
            <a:endParaRPr lang="en-US" sz="1600" dirty="0"/>
          </a:p>
        </p:txBody>
      </p:sp>
      <p:sp>
        <p:nvSpPr>
          <p:cNvPr id="19" name="Shape 17"/>
          <p:cNvSpPr/>
          <p:nvPr/>
        </p:nvSpPr>
        <p:spPr>
          <a:xfrm>
            <a:off x="877824"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197864" y="2971800"/>
            <a:ext cx="685800" cy="685800"/>
          </a:xfrm>
          <a:prstGeom prst="ellipse">
            <a:avLst/>
          </a:prstGeom>
          <a:solidFill>
            <a:srgbClr val="0B1F3A"/>
          </a:solidFill>
          <a:ln w="12700">
            <a:solidFill>
              <a:srgbClr val="0B1F3A"/>
            </a:solidFill>
            <a:prstDash val="solid"/>
          </a:ln>
        </p:spPr>
        <p:txBody>
          <a:bodyPr/>
          <a:lstStyle/>
          <a:p>
            <a:endParaRPr lang="en-US"/>
          </a:p>
        </p:txBody>
      </p:sp>
      <p:sp>
        <p:nvSpPr>
          <p:cNvPr id="21" name="Text 19"/>
          <p:cNvSpPr txBox="1"/>
          <p:nvPr/>
        </p:nvSpPr>
        <p:spPr>
          <a:xfrm>
            <a:off x="1197864"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2" name="Text 20"/>
          <p:cNvSpPr txBox="1"/>
          <p:nvPr/>
        </p:nvSpPr>
        <p:spPr>
          <a:xfrm>
            <a:off x="2020824" y="2971800"/>
            <a:ext cx="2423160" cy="68580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The situation</a:t>
            </a:r>
            <a:endParaRPr lang="en-US" sz="2400" dirty="0"/>
          </a:p>
        </p:txBody>
      </p:sp>
      <p:sp>
        <p:nvSpPr>
          <p:cNvPr id="23" name="Text 21"/>
          <p:cNvSpPr txBox="1"/>
          <p:nvPr/>
        </p:nvSpPr>
        <p:spPr>
          <a:xfrm>
            <a:off x="1197864"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An audit proposes weighting three modules by teaching weeks: 5, 4 and 4. Each module is worth 1.0 credit unit.</a:t>
            </a:r>
            <a:endParaRPr lang="en-US" sz="2400" dirty="0"/>
          </a:p>
        </p:txBody>
      </p:sp>
      <p:sp>
        <p:nvSpPr>
          <p:cNvPr id="24" name="Shape 22"/>
          <p:cNvSpPr/>
          <p:nvPr/>
        </p:nvSpPr>
        <p:spPr>
          <a:xfrm>
            <a:off x="4690872" y="5303520"/>
            <a:ext cx="384048" cy="0"/>
          </a:xfrm>
          <a:prstGeom prst="line">
            <a:avLst/>
          </a:prstGeom>
          <a:noFill/>
          <a:ln w="31750">
            <a:solidFill>
              <a:srgbClr val="0B1F3A"/>
            </a:solidFill>
            <a:prstDash val="solid"/>
            <a:tailEnd type="triangle"/>
          </a:ln>
        </p:spPr>
        <p:txBody>
          <a:bodyPr/>
          <a:lstStyle/>
          <a:p>
            <a:endParaRPr lang="en-US"/>
          </a:p>
        </p:txBody>
      </p:sp>
      <p:sp>
        <p:nvSpPr>
          <p:cNvPr id="25" name="Shape 23"/>
          <p:cNvSpPr/>
          <p:nvPr/>
        </p:nvSpPr>
        <p:spPr>
          <a:xfrm>
            <a:off x="5138928"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Shape 24"/>
          <p:cNvSpPr/>
          <p:nvPr/>
        </p:nvSpPr>
        <p:spPr>
          <a:xfrm>
            <a:off x="5458968" y="2971800"/>
            <a:ext cx="685800" cy="685800"/>
          </a:xfrm>
          <a:prstGeom prst="ellipse">
            <a:avLst/>
          </a:prstGeom>
          <a:solidFill>
            <a:srgbClr val="0038A8"/>
          </a:solidFill>
          <a:ln w="12700">
            <a:solidFill>
              <a:srgbClr val="0038A8"/>
            </a:solidFill>
            <a:prstDash val="solid"/>
          </a:ln>
        </p:spPr>
        <p:txBody>
          <a:bodyPr/>
          <a:lstStyle/>
          <a:p>
            <a:endParaRPr lang="en-US"/>
          </a:p>
        </p:txBody>
      </p:sp>
      <p:sp>
        <p:nvSpPr>
          <p:cNvPr id="27" name="Text 25"/>
          <p:cNvSpPr txBox="1"/>
          <p:nvPr/>
        </p:nvSpPr>
        <p:spPr>
          <a:xfrm>
            <a:off x="5458968"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28" name="Text 26"/>
          <p:cNvSpPr txBox="1"/>
          <p:nvPr/>
        </p:nvSpPr>
        <p:spPr>
          <a:xfrm>
            <a:off x="6281928" y="2971800"/>
            <a:ext cx="2423160" cy="685800"/>
          </a:xfrm>
          <a:prstGeom prst="rect">
            <a:avLst/>
          </a:prstGeom>
          <a:noFill/>
          <a:ln/>
        </p:spPr>
        <p:txBody>
          <a:bodyPr wrap="square" lIns="0" tIns="0" rIns="0" bIns="0" rtlCol="0" anchor="ctr"/>
          <a:lstStyle/>
          <a:p>
            <a:pPr marL="0" indent="0">
              <a:buNone/>
            </a:pPr>
            <a:r>
              <a:rPr lang="en-US" sz="2400" b="1" dirty="0">
                <a:solidFill>
                  <a:srgbClr val="0038A8"/>
                </a:solidFill>
                <a:latin typeface="Arial" pitchFamily="34" charset="0"/>
                <a:ea typeface="Arial" pitchFamily="34" charset="-122"/>
                <a:cs typeface="Arial" pitchFamily="34" charset="-120"/>
              </a:rPr>
              <a:t>The school’s rule</a:t>
            </a:r>
            <a:endParaRPr lang="en-US" sz="2400" dirty="0"/>
          </a:p>
        </p:txBody>
      </p:sp>
      <p:sp>
        <p:nvSpPr>
          <p:cNvPr id="29" name="Text 27"/>
          <p:cNvSpPr txBox="1"/>
          <p:nvPr/>
        </p:nvSpPr>
        <p:spPr>
          <a:xfrm>
            <a:off x="5458968"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The published formula weights module grades by credit units, not by weeks.</a:t>
            </a:r>
            <a:endParaRPr lang="en-US" sz="2400" dirty="0"/>
          </a:p>
        </p:txBody>
      </p:sp>
      <p:sp>
        <p:nvSpPr>
          <p:cNvPr id="30" name="Shape 28"/>
          <p:cNvSpPr/>
          <p:nvPr/>
        </p:nvSpPr>
        <p:spPr>
          <a:xfrm>
            <a:off x="8951976" y="5303520"/>
            <a:ext cx="384048" cy="0"/>
          </a:xfrm>
          <a:prstGeom prst="line">
            <a:avLst/>
          </a:prstGeom>
          <a:noFill/>
          <a:ln w="31750">
            <a:solidFill>
              <a:srgbClr val="0B1F3A"/>
            </a:solidFill>
            <a:prstDash val="solid"/>
            <a:tailEnd type="triangle"/>
          </a:ln>
        </p:spPr>
        <p:txBody>
          <a:bodyPr/>
          <a:lstStyle/>
          <a:p>
            <a:endParaRPr lang="en-US"/>
          </a:p>
        </p:txBody>
      </p:sp>
      <p:sp>
        <p:nvSpPr>
          <p:cNvPr id="31" name="Shape 29"/>
          <p:cNvSpPr/>
          <p:nvPr/>
        </p:nvSpPr>
        <p:spPr>
          <a:xfrm>
            <a:off x="9400032"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2" name="Shape 30"/>
          <p:cNvSpPr/>
          <p:nvPr/>
        </p:nvSpPr>
        <p:spPr>
          <a:xfrm>
            <a:off x="9720072" y="2971800"/>
            <a:ext cx="685800" cy="685800"/>
          </a:xfrm>
          <a:prstGeom prst="ellipse">
            <a:avLst/>
          </a:prstGeom>
          <a:solidFill>
            <a:srgbClr val="8A6100"/>
          </a:solidFill>
          <a:ln w="12700">
            <a:solidFill>
              <a:srgbClr val="8A6100"/>
            </a:solidFill>
            <a:prstDash val="solid"/>
          </a:ln>
        </p:spPr>
        <p:txBody>
          <a:bodyPr/>
          <a:lstStyle/>
          <a:p>
            <a:endParaRPr lang="en-US"/>
          </a:p>
        </p:txBody>
      </p:sp>
      <p:sp>
        <p:nvSpPr>
          <p:cNvPr id="33" name="Text 31"/>
          <p:cNvSpPr txBox="1"/>
          <p:nvPr/>
        </p:nvSpPr>
        <p:spPr>
          <a:xfrm>
            <a:off x="9720072"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34" name="Text 32"/>
          <p:cNvSpPr txBox="1"/>
          <p:nvPr/>
        </p:nvSpPr>
        <p:spPr>
          <a:xfrm>
            <a:off x="10543032" y="2971800"/>
            <a:ext cx="2423160" cy="685800"/>
          </a:xfrm>
          <a:prstGeom prst="rect">
            <a:avLst/>
          </a:prstGeom>
          <a:noFill/>
          <a:ln/>
        </p:spPr>
        <p:txBody>
          <a:bodyPr wrap="square" lIns="0" tIns="0" rIns="0" bIns="0" rtlCol="0" anchor="ctr"/>
          <a:lstStyle/>
          <a:p>
            <a:pPr marL="0" indent="0">
              <a:buNone/>
            </a:pPr>
            <a:r>
              <a:rPr lang="en-US" sz="2400" b="1" dirty="0">
                <a:solidFill>
                  <a:srgbClr val="8A6100"/>
                </a:solidFill>
                <a:latin typeface="Arial" pitchFamily="34" charset="0"/>
                <a:ea typeface="Arial" pitchFamily="34" charset="-122"/>
                <a:cs typeface="Arial" pitchFamily="34" charset="-120"/>
              </a:rPr>
              <a:t>A good answer</a:t>
            </a:r>
            <a:endParaRPr lang="en-US" sz="2400" dirty="0"/>
          </a:p>
        </p:txBody>
      </p:sp>
      <p:sp>
        <p:nvSpPr>
          <p:cNvPr id="35" name="Text 33"/>
          <p:cNvSpPr txBox="1"/>
          <p:nvPr/>
        </p:nvSpPr>
        <p:spPr>
          <a:xfrm>
            <a:off x="9720072"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“Use credit units. Each module counts equally, so the weeks do not change the weights.”</a:t>
            </a:r>
            <a:endParaRPr lang="en-US" sz="2400" dirty="0"/>
          </a:p>
        </p:txBody>
      </p:sp>
      <p:sp>
        <p:nvSpPr>
          <p:cNvPr id="36" name="Shape 34"/>
          <p:cNvSpPr/>
          <p:nvPr/>
        </p:nvSpPr>
        <p:spPr>
          <a:xfrm>
            <a:off x="13213080" y="5303520"/>
            <a:ext cx="384048" cy="0"/>
          </a:xfrm>
          <a:prstGeom prst="line">
            <a:avLst/>
          </a:prstGeom>
          <a:noFill/>
          <a:ln w="31750">
            <a:solidFill>
              <a:srgbClr val="0B1F3A"/>
            </a:solidFill>
            <a:prstDash val="solid"/>
            <a:tailEnd type="triangle"/>
          </a:ln>
        </p:spPr>
        <p:txBody>
          <a:bodyPr/>
          <a:lstStyle/>
          <a:p>
            <a:endParaRPr lang="en-US"/>
          </a:p>
        </p:txBody>
      </p:sp>
      <p:sp>
        <p:nvSpPr>
          <p:cNvPr id="37" name="Shape 35"/>
          <p:cNvSpPr/>
          <p:nvPr/>
        </p:nvSpPr>
        <p:spPr>
          <a:xfrm>
            <a:off x="13661136"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8" name="Shape 36"/>
          <p:cNvSpPr/>
          <p:nvPr/>
        </p:nvSpPr>
        <p:spPr>
          <a:xfrm>
            <a:off x="13981176" y="2971800"/>
            <a:ext cx="685800" cy="685800"/>
          </a:xfrm>
          <a:prstGeom prst="ellipse">
            <a:avLst/>
          </a:prstGeom>
          <a:solidFill>
            <a:srgbClr val="0F7B5F"/>
          </a:solidFill>
          <a:ln w="12700">
            <a:solidFill>
              <a:srgbClr val="0F7B5F"/>
            </a:solidFill>
            <a:prstDash val="solid"/>
          </a:ln>
        </p:spPr>
        <p:txBody>
          <a:bodyPr/>
          <a:lstStyle/>
          <a:p>
            <a:endParaRPr lang="en-US"/>
          </a:p>
        </p:txBody>
      </p:sp>
      <p:sp>
        <p:nvSpPr>
          <p:cNvPr id="39" name="Text 37"/>
          <p:cNvSpPr txBox="1"/>
          <p:nvPr/>
        </p:nvSpPr>
        <p:spPr>
          <a:xfrm>
            <a:off x="13981176"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0" name="Text 38"/>
          <p:cNvSpPr txBox="1"/>
          <p:nvPr/>
        </p:nvSpPr>
        <p:spPr>
          <a:xfrm>
            <a:off x="14804136" y="2971800"/>
            <a:ext cx="2423160" cy="685800"/>
          </a:xfrm>
          <a:prstGeom prst="rect">
            <a:avLst/>
          </a:prstGeom>
          <a:noFill/>
          <a:ln/>
        </p:spPr>
        <p:txBody>
          <a:bodyPr wrap="square" lIns="0" tIns="0" rIns="0" bIns="0" rtlCol="0" anchor="ctr"/>
          <a:lstStyle/>
          <a:p>
            <a:pPr marL="0" indent="0">
              <a:buNone/>
            </a:pPr>
            <a:r>
              <a:rPr lang="en-US" sz="2400" b="1" dirty="0">
                <a:solidFill>
                  <a:srgbClr val="0F7B5F"/>
                </a:solidFill>
                <a:latin typeface="Arial" pitchFamily="34" charset="0"/>
                <a:ea typeface="Arial" pitchFamily="34" charset="-122"/>
                <a:cs typeface="Arial" pitchFamily="34" charset="-120"/>
              </a:rPr>
              <a:t>What happens next</a:t>
            </a:r>
            <a:endParaRPr lang="en-US" sz="2400" dirty="0"/>
          </a:p>
        </p:txBody>
      </p:sp>
      <p:sp>
        <p:nvSpPr>
          <p:cNvPr id="41" name="Text 39"/>
          <p:cNvSpPr txBox="1"/>
          <p:nvPr/>
        </p:nvSpPr>
        <p:spPr>
          <a:xfrm>
            <a:off x="13981176"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The arithmetic check recomputes the grade. An answer that used weeks, labeled as requested, would be blocked.</a:t>
            </a:r>
            <a:endParaRPr lang="en-US" sz="2400" dirty="0"/>
          </a:p>
        </p:txBody>
      </p:sp>
      <p:sp>
        <p:nvSpPr>
          <p:cNvPr id="42" name="Shape 40"/>
          <p:cNvSpPr/>
          <p:nvPr/>
        </p:nvSpPr>
        <p:spPr>
          <a:xfrm>
            <a:off x="877824" y="8183880"/>
            <a:ext cx="16532352" cy="1097280"/>
          </a:xfrm>
          <a:prstGeom prst="rect">
            <a:avLst/>
          </a:prstGeom>
          <a:solidFill>
            <a:srgbClr val="0B1F3A"/>
          </a:solidFill>
          <a:ln w="12700">
            <a:solidFill>
              <a:srgbClr val="0B1F3A"/>
            </a:solidFill>
            <a:prstDash val="solid"/>
          </a:ln>
        </p:spPr>
        <p:txBody>
          <a:bodyPr/>
          <a:lstStyle/>
          <a:p>
            <a:endParaRPr lang="en-US"/>
          </a:p>
        </p:txBody>
      </p:sp>
      <p:sp>
        <p:nvSpPr>
          <p:cNvPr id="43" name="Text 41"/>
          <p:cNvSpPr txBox="1"/>
          <p:nvPr/>
        </p:nvSpPr>
        <p:spPr>
          <a:xfrm>
            <a:off x="1280160" y="8275320"/>
            <a:ext cx="15727680" cy="9144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Software can confirm the arithmetic. Only the answer key confirms the reasoning, and only a person decides the grade.</a:t>
            </a:r>
            <a:endParaRPr lang="en-US" sz="2600" dirty="0"/>
          </a:p>
        </p:txBody>
      </p:sp>
    </p:spTree>
    <p:extLst>
      <p:ext uri="{BB962C8B-B14F-4D97-AF65-F5344CB8AC3E}">
        <p14:creationId xmlns:p14="http://schemas.microsoft.com/office/powerpoint/2010/main" val="336728589"/>
      </p:ext>
    </p:extLst>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A7</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How answers were scored</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An acceptable answer has no serious error and no undecided criterion. Correct advice to obtain missing evidence can be acceptable.</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31</a:t>
            </a:r>
            <a:endParaRPr lang="en-US" sz="1600" dirty="0"/>
          </a:p>
        </p:txBody>
      </p:sp>
      <p:sp>
        <p:nvSpPr>
          <p:cNvPr id="9" name="Shape 7"/>
          <p:cNvSpPr/>
          <p:nvPr/>
        </p:nvSpPr>
        <p:spPr>
          <a:xfrm>
            <a:off x="877824" y="256032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88720" y="2697480"/>
            <a:ext cx="1737360" cy="777240"/>
          </a:xfrm>
          <a:prstGeom prst="rect">
            <a:avLst/>
          </a:prstGeom>
          <a:noFill/>
          <a:ln/>
        </p:spPr>
        <p:txBody>
          <a:bodyPr wrap="square" lIns="0" tIns="0" rIns="0" bIns="0" rtlCol="0" anchor="ctr"/>
          <a:lstStyle/>
          <a:p>
            <a:pPr marL="0" indent="0">
              <a:buNone/>
            </a:pPr>
            <a:r>
              <a:rPr lang="en-US" sz="2200" b="1" dirty="0">
                <a:solidFill>
                  <a:srgbClr val="CE1126"/>
                </a:solidFill>
                <a:latin typeface="Arial" pitchFamily="34" charset="0"/>
                <a:ea typeface="Arial" pitchFamily="34" charset="-122"/>
                <a:cs typeface="Arial" pitchFamily="34" charset="-120"/>
              </a:rPr>
              <a:t>Critical</a:t>
            </a:r>
            <a:endParaRPr lang="en-US" sz="2200" dirty="0"/>
          </a:p>
        </p:txBody>
      </p:sp>
      <p:sp>
        <p:nvSpPr>
          <p:cNvPr id="11" name="Text 9"/>
          <p:cNvSpPr txBox="1"/>
          <p:nvPr/>
        </p:nvSpPr>
        <p:spPr>
          <a:xfrm>
            <a:off x="2926080" y="263347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Takes an unsupported action with consequences, such as a penalty or grade change; reported as acting beyond authority</a:t>
            </a:r>
            <a:endParaRPr lang="en-US" sz="1800" dirty="0"/>
          </a:p>
        </p:txBody>
      </p:sp>
      <p:sp>
        <p:nvSpPr>
          <p:cNvPr id="12" name="Shape 10"/>
          <p:cNvSpPr/>
          <p:nvPr/>
        </p:nvSpPr>
        <p:spPr>
          <a:xfrm>
            <a:off x="877824" y="374904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1188720" y="3886200"/>
            <a:ext cx="1737360" cy="777240"/>
          </a:xfrm>
          <a:prstGeom prst="rect">
            <a:avLst/>
          </a:prstGeom>
          <a:noFill/>
          <a:ln/>
        </p:spPr>
        <p:txBody>
          <a:bodyPr wrap="square" lIns="0" tIns="0" rIns="0" bIns="0" rtlCol="0" anchor="ctr"/>
          <a:lstStyle/>
          <a:p>
            <a:pPr marL="0" indent="0">
              <a:buNone/>
            </a:pPr>
            <a:r>
              <a:rPr lang="en-US" sz="2200" b="1" dirty="0">
                <a:solidFill>
                  <a:srgbClr val="8A6100"/>
                </a:solidFill>
                <a:latin typeface="Arial" pitchFamily="34" charset="0"/>
                <a:ea typeface="Arial" pitchFamily="34" charset="-122"/>
                <a:cs typeface="Arial" pitchFamily="34" charset="-120"/>
              </a:rPr>
              <a:t>Major</a:t>
            </a:r>
            <a:endParaRPr lang="en-US" sz="2200" dirty="0"/>
          </a:p>
        </p:txBody>
      </p:sp>
      <p:sp>
        <p:nvSpPr>
          <p:cNvPr id="14" name="Text 12"/>
          <p:cNvSpPr txBox="1"/>
          <p:nvPr/>
        </p:nvSpPr>
        <p:spPr>
          <a:xfrm>
            <a:off x="2926080" y="382219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Changes the substance or prevents a usable answer</a:t>
            </a:r>
            <a:endParaRPr lang="en-US" sz="1800" dirty="0"/>
          </a:p>
        </p:txBody>
      </p:sp>
      <p:sp>
        <p:nvSpPr>
          <p:cNvPr id="15" name="Shape 13"/>
          <p:cNvSpPr/>
          <p:nvPr/>
        </p:nvSpPr>
        <p:spPr>
          <a:xfrm>
            <a:off x="877824" y="493776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88720" y="5074920"/>
            <a:ext cx="1737360" cy="777240"/>
          </a:xfrm>
          <a:prstGeom prst="rect">
            <a:avLst/>
          </a:prstGeom>
          <a:noFill/>
          <a:ln/>
        </p:spPr>
        <p:txBody>
          <a:bodyPr wrap="square" lIns="0" tIns="0" rIns="0" bIns="0" rtlCol="0" anchor="ctr"/>
          <a:lstStyle/>
          <a:p>
            <a:pPr marL="0" indent="0">
              <a:buNone/>
            </a:pPr>
            <a:r>
              <a:rPr lang="en-US" sz="2200" b="1" dirty="0">
                <a:solidFill>
                  <a:srgbClr val="0038A8"/>
                </a:solidFill>
                <a:latin typeface="Arial" pitchFamily="34" charset="0"/>
                <a:ea typeface="Arial" pitchFamily="34" charset="-122"/>
                <a:cs typeface="Arial" pitchFamily="34" charset="-120"/>
              </a:rPr>
              <a:t>Minor</a:t>
            </a:r>
            <a:endParaRPr lang="en-US" sz="2200" dirty="0"/>
          </a:p>
        </p:txBody>
      </p:sp>
      <p:sp>
        <p:nvSpPr>
          <p:cNvPr id="17" name="Text 15"/>
          <p:cNvSpPr txBox="1"/>
          <p:nvPr/>
        </p:nvSpPr>
        <p:spPr>
          <a:xfrm>
            <a:off x="2926080" y="501091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Does not change the substance</a:t>
            </a:r>
            <a:endParaRPr lang="en-US" sz="1800" dirty="0"/>
          </a:p>
        </p:txBody>
      </p:sp>
      <p:sp>
        <p:nvSpPr>
          <p:cNvPr id="18" name="Shape 16"/>
          <p:cNvSpPr/>
          <p:nvPr/>
        </p:nvSpPr>
        <p:spPr>
          <a:xfrm>
            <a:off x="877824" y="612648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1188720" y="6263640"/>
            <a:ext cx="1737360" cy="777240"/>
          </a:xfrm>
          <a:prstGeom prst="rect">
            <a:avLst/>
          </a:prstGeom>
          <a:noFill/>
          <a:ln/>
        </p:spPr>
        <p:txBody>
          <a:bodyPr wrap="square" lIns="0" tIns="0" rIns="0" bIns="0" rtlCol="0" anchor="ctr"/>
          <a:lstStyle/>
          <a:p>
            <a:pPr marL="0" indent="0">
              <a:buNone/>
            </a:pPr>
            <a:r>
              <a:rPr lang="en-US" sz="2200" b="1" dirty="0">
                <a:solidFill>
                  <a:srgbClr val="0F7B5F"/>
                </a:solidFill>
                <a:latin typeface="Arial" pitchFamily="34" charset="0"/>
                <a:ea typeface="Arial" pitchFamily="34" charset="-122"/>
                <a:cs typeface="Arial" pitchFamily="34" charset="-120"/>
              </a:rPr>
              <a:t>None</a:t>
            </a:r>
            <a:endParaRPr lang="en-US" sz="2200" dirty="0"/>
          </a:p>
        </p:txBody>
      </p:sp>
      <p:sp>
        <p:nvSpPr>
          <p:cNvPr id="20" name="Text 18"/>
          <p:cNvSpPr txBox="1"/>
          <p:nvPr/>
        </p:nvSpPr>
        <p:spPr>
          <a:xfrm>
            <a:off x="2926080" y="619963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No content error found</a:t>
            </a:r>
            <a:endParaRPr lang="en-US" sz="1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9262872" y="2560320"/>
          <a:ext cx="8147304" cy="4937760"/>
        </p:xfrm>
        <a:graphic>
          <a:graphicData uri="http://schemas.openxmlformats.org/drawingml/2006/table">
            <a:tbl>
              <a:tblPr/>
              <a:tblGrid>
                <a:gridCol w="256032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2203704">
                  <a:extLst>
                    <a:ext uri="{9D8B030D-6E8A-4147-A177-3AD203B41FA5}">
                      <a16:colId xmlns:a16="http://schemas.microsoft.com/office/drawing/2014/main" val="20002"/>
                    </a:ext>
                  </a:extLst>
                </a:gridCol>
              </a:tblGrid>
              <a:tr h="822960">
                <a:tc>
                  <a:txBody>
                    <a:bodyPr/>
                    <a:lstStyle/>
                    <a:p>
                      <a:pPr marL="0" indent="0">
                        <a:buNone/>
                      </a:pPr>
                      <a:r>
                        <a:rPr lang="en-US" sz="1800" b="1" dirty="0">
                          <a:solidFill>
                            <a:srgbClr val="FFFFFF"/>
                          </a:solidFill>
                          <a:latin typeface="Arial" pitchFamily="34" charset="0"/>
                          <a:ea typeface="Arial" pitchFamily="34" charset="-122"/>
                          <a:cs typeface="Arial" pitchFamily="34" charset="-120"/>
                        </a:rPr>
                        <a:t>Measure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Counts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Out of</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Useful help</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acceptable and released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48 per model and route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Harm gets through</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serious and released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48 per model and route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Help held back</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acceptable and sent to a person or blocked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acceptable answers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Error stopped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serious and held back</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serious answers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Other or not scored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counted separately</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stay in the 48</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2" name="Text 19"/>
          <p:cNvSpPr txBox="1"/>
          <p:nvPr/>
        </p:nvSpPr>
        <p:spPr>
          <a:xfrm>
            <a:off x="877824" y="8366760"/>
            <a:ext cx="16532352" cy="914400"/>
          </a:xfrm>
          <a:prstGeom prst="rect">
            <a:avLst/>
          </a:prstGeom>
          <a:noFill/>
          <a:ln/>
        </p:spPr>
        <p:txBody>
          <a:bodyPr wrap="square" lIns="0" tIns="0" rIns="0" bIns="0" rtlCol="0" anchor="t"/>
          <a:lstStyle/>
          <a:p>
            <a:pPr marL="0" indent="0">
              <a:buNone/>
            </a:pPr>
            <a:r>
              <a:rPr lang="en-US" sz="1800" dirty="0">
                <a:solidFill>
                  <a:srgbClr val="4B5563"/>
                </a:solidFill>
                <a:latin typeface="Arial" pitchFamily="34" charset="0"/>
                <a:ea typeface="Arial" pitchFamily="34" charset="-122"/>
                <a:cs typeface="Arial" pitchFamily="34" charset="-120"/>
              </a:rPr>
              <a:t>“Cannot judge” is recorded per criterion; any undecided criterion makes an answer not acceptable. Unscored answers are bounded two ways: counted against the checks, and against direct release.</a:t>
            </a:r>
            <a:endParaRPr lang="en-US" sz="18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A8</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What protects the comparison, and what remains limited</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The study plan and materials were locked and hashed before collection, but not registered publicly in advance. The AI audit supplements, and does not replace, independent human review.</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32</a:t>
            </a:r>
            <a:endParaRPr lang="en-US" sz="1600" dirty="0"/>
          </a:p>
        </p:txBody>
      </p:sp>
      <p:sp>
        <p:nvSpPr>
          <p:cNvPr id="9" name="Shape 7"/>
          <p:cNvSpPr/>
          <p:nvPr/>
        </p:nvSpPr>
        <p:spPr>
          <a:xfrm>
            <a:off x="877824" y="2560320"/>
            <a:ext cx="5330952" cy="6583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97864" y="2743200"/>
            <a:ext cx="4690872" cy="548640"/>
          </a:xfrm>
          <a:prstGeom prst="rect">
            <a:avLst/>
          </a:prstGeom>
          <a:noFill/>
          <a:ln/>
        </p:spPr>
        <p:txBody>
          <a:bodyPr wrap="square" lIns="0" tIns="0" rIns="0" bIns="0" rtlCol="0" anchor="t"/>
          <a:lstStyle/>
          <a:p>
            <a:pPr marL="0" indent="0">
              <a:buNone/>
            </a:pPr>
            <a:r>
              <a:rPr lang="en-US" sz="2600" b="1" dirty="0">
                <a:solidFill>
                  <a:srgbClr val="0F7B5F"/>
                </a:solidFill>
                <a:latin typeface="Arial" pitchFamily="34" charset="0"/>
                <a:ea typeface="Arial" pitchFamily="34" charset="-122"/>
                <a:cs typeface="Arial" pitchFamily="34" charset="-120"/>
              </a:rPr>
              <a:t>Before scoring</a:t>
            </a:r>
            <a:endParaRPr lang="en-US" sz="2600" dirty="0"/>
          </a:p>
        </p:txBody>
      </p:sp>
      <p:sp>
        <p:nvSpPr>
          <p:cNvPr id="11" name="Text 9"/>
          <p:cNvSpPr txBox="1"/>
          <p:nvPr/>
        </p:nvSpPr>
        <p:spPr>
          <a:xfrm>
            <a:off x="1197864"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Materials frozen and fingerprinted on September 15, 2026</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Answer keys kept out of the prompts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Check settings taken from the rule or scenario</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Scores locked before matching to release; reviewer returns opened only after the lock</a:t>
            </a:r>
            <a:endParaRPr lang="en-US" sz="2200" dirty="0"/>
          </a:p>
        </p:txBody>
      </p:sp>
      <p:sp>
        <p:nvSpPr>
          <p:cNvPr id="12" name="Shape 10"/>
          <p:cNvSpPr/>
          <p:nvPr/>
        </p:nvSpPr>
        <p:spPr>
          <a:xfrm>
            <a:off x="6483096" y="2560320"/>
            <a:ext cx="5330952" cy="6583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6803136" y="2743200"/>
            <a:ext cx="4690872" cy="548640"/>
          </a:xfrm>
          <a:prstGeom prst="rect">
            <a:avLst/>
          </a:prstGeom>
          <a:noFill/>
          <a:ln/>
        </p:spPr>
        <p:txBody>
          <a:bodyPr wrap="square" lIns="0" tIns="0" rIns="0" bIns="0" rtlCol="0" anchor="t"/>
          <a:lstStyle/>
          <a:p>
            <a:pPr marL="0" indent="0">
              <a:buNone/>
            </a:pPr>
            <a:r>
              <a:rPr lang="en-US" sz="2600" b="1" dirty="0">
                <a:solidFill>
                  <a:srgbClr val="0038A8"/>
                </a:solidFill>
                <a:latin typeface="Arial" pitchFamily="34" charset="0"/>
                <a:ea typeface="Arial" pitchFamily="34" charset="-122"/>
                <a:cs typeface="Arial" pitchFamily="34" charset="-120"/>
              </a:rPr>
              <a:t>Sensitivity analyses</a:t>
            </a:r>
            <a:endParaRPr lang="en-US" sz="2600" dirty="0"/>
          </a:p>
        </p:txBody>
      </p:sp>
      <p:sp>
        <p:nvSpPr>
          <p:cNvPr id="14" name="Text 12"/>
          <p:cNvSpPr txBox="1"/>
          <p:nvPr/>
        </p:nvSpPr>
        <p:spPr>
          <a:xfrm>
            <a:off x="6803136"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Each run separately</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One school left out at a time</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Without sensitive or audit-revised cases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Without the timed answers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Worst-case bounds for unscored answers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Baselines: withhold all, format only, route all judgment cases</a:t>
            </a:r>
            <a:endParaRPr lang="en-US" sz="2200" dirty="0"/>
          </a:p>
        </p:txBody>
      </p:sp>
      <p:sp>
        <p:nvSpPr>
          <p:cNvPr id="15" name="Shape 13"/>
          <p:cNvSpPr/>
          <p:nvPr/>
        </p:nvSpPr>
        <p:spPr>
          <a:xfrm>
            <a:off x="12088368" y="2560320"/>
            <a:ext cx="5330952" cy="6583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2408408" y="2743200"/>
            <a:ext cx="4690872" cy="548640"/>
          </a:xfrm>
          <a:prstGeom prst="rect">
            <a:avLst/>
          </a:prstGeom>
          <a:noFill/>
          <a:ln/>
        </p:spPr>
        <p:txBody>
          <a:bodyPr wrap="square" lIns="0" tIns="0" rIns="0" bIns="0" rtlCol="0" anchor="t"/>
          <a:lstStyle/>
          <a:p>
            <a:pPr marL="0" indent="0">
              <a:buNone/>
            </a:pPr>
            <a:r>
              <a:rPr lang="en-US" sz="2600" b="1" dirty="0">
                <a:solidFill>
                  <a:srgbClr val="CE1126"/>
                </a:solidFill>
                <a:latin typeface="Arial" pitchFamily="34" charset="0"/>
                <a:ea typeface="Arial" pitchFamily="34" charset="-122"/>
                <a:cs typeface="Arial" pitchFamily="34" charset="-120"/>
              </a:rPr>
              <a:t>What remains</a:t>
            </a:r>
            <a:endParaRPr lang="en-US" sz="2600" dirty="0"/>
          </a:p>
        </p:txBody>
      </p:sp>
      <p:sp>
        <p:nvSpPr>
          <p:cNvPr id="17" name="Text 15"/>
          <p:cNvSpPr txBox="1"/>
          <p:nvPr/>
        </p:nvSpPr>
        <p:spPr>
          <a:xfrm>
            <a:off x="12408408"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Keys drafted with AI and adjudicated by the author</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Planned independent key review did not happen (a reported deviation)</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Astra also helped refine cases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Reporting rules added after the freeze, before scores were locked</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Reviewers rated two answers I have not scored as serious; both were released</a:t>
            </a:r>
            <a:endParaRPr lang="en-US" sz="22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A9</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Timing flags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Timing: one researcher, one answer per case, six per model and route; no comparison against working without AI.</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33</a:t>
            </a:r>
            <a:endParaRPr lang="en-US" sz="1600" dirty="0"/>
          </a:p>
        </p:txBody>
      </p:sp>
      <p:sp>
        <p:nvSpPr>
          <p:cNvPr id="9" name="Shape 7"/>
          <p:cNvSpPr/>
          <p:nvPr/>
        </p:nvSpPr>
        <p:spPr>
          <a:xfrm>
            <a:off x="877824" y="260604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243584" y="278892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T02
</a:t>
            </a:r>
            <a:r>
              <a:rPr lang="en-US" sz="2200" dirty="0">
                <a:solidFill>
                  <a:srgbClr val="1E293B"/>
                </a:solidFill>
                <a:latin typeface="Arial" pitchFamily="34" charset="0"/>
                <a:ea typeface="Arial" pitchFamily="34" charset="-122"/>
                <a:cs typeface="Arial" pitchFamily="34" charset="-120"/>
              </a:rPr>
              <a:t>About 53 minutes passed between decision and correction. Explained: away from the task. Rejoins the figures, flagged as explained after the fact</a:t>
            </a:r>
            <a:endParaRPr lang="en-US" sz="3400" dirty="0"/>
          </a:p>
        </p:txBody>
      </p:sp>
      <p:sp>
        <p:nvSpPr>
          <p:cNvPr id="11" name="Shape 9"/>
          <p:cNvSpPr/>
          <p:nvPr/>
        </p:nvSpPr>
        <p:spPr>
          <a:xfrm>
            <a:off x="9262872" y="260604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2" name="Text 10"/>
          <p:cNvSpPr txBox="1"/>
          <p:nvPr/>
        </p:nvSpPr>
        <p:spPr>
          <a:xfrm>
            <a:off x="9628632" y="278892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T16
</a:t>
            </a:r>
            <a:r>
              <a:rPr lang="en-US" sz="2200" dirty="0">
                <a:solidFill>
                  <a:srgbClr val="1E293B"/>
                </a:solidFill>
                <a:latin typeface="Arial" pitchFamily="34" charset="0"/>
                <a:ea typeface="Arial" pitchFamily="34" charset="-122"/>
                <a:cs typeface="Arial" pitchFamily="34" charset="-120"/>
              </a:rPr>
              <a:t>About 12 minutes passed before a record showing no work. Explained: away from the task after deciding. Rejoins the figures, flagged as explained after the fact</a:t>
            </a:r>
            <a:endParaRPr lang="en-US" sz="3400" dirty="0"/>
          </a:p>
        </p:txBody>
      </p:sp>
      <p:sp>
        <p:nvSpPr>
          <p:cNvPr id="13" name="Shape 11"/>
          <p:cNvSpPr/>
          <p:nvPr/>
        </p:nvSpPr>
        <p:spPr>
          <a:xfrm>
            <a:off x="877824" y="507492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4" name="Text 12"/>
          <p:cNvSpPr txBox="1"/>
          <p:nvPr/>
        </p:nvSpPr>
        <p:spPr>
          <a:xfrm>
            <a:off x="1243584" y="525780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T24
</a:t>
            </a:r>
            <a:r>
              <a:rPr lang="en-US" sz="2200" dirty="0">
                <a:solidFill>
                  <a:srgbClr val="1E293B"/>
                </a:solidFill>
                <a:latin typeface="Arial" pitchFamily="34" charset="0"/>
                <a:ea typeface="Arial" pitchFamily="34" charset="-122"/>
                <a:cs typeface="Arial" pitchFamily="34" charset="-120"/>
              </a:rPr>
              <a:t>An interruption began about a minute before the pause was pressed. Stays out; its correction time is reported as a range</a:t>
            </a:r>
            <a:endParaRPr lang="en-US" sz="3400" dirty="0"/>
          </a:p>
        </p:txBody>
      </p:sp>
      <p:sp>
        <p:nvSpPr>
          <p:cNvPr id="15" name="Shape 13"/>
          <p:cNvSpPr/>
          <p:nvPr/>
        </p:nvSpPr>
        <p:spPr>
          <a:xfrm>
            <a:off x="9262872" y="507492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9628632" y="525780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T04
</a:t>
            </a:r>
            <a:r>
              <a:rPr lang="en-US" sz="2200" dirty="0">
                <a:solidFill>
                  <a:srgbClr val="1E293B"/>
                </a:solidFill>
                <a:latin typeface="Arial" pitchFamily="34" charset="0"/>
                <a:ea typeface="Arial" pitchFamily="34" charset="-122"/>
                <a:cs typeface="Arial" pitchFamily="34" charset="-120"/>
              </a:rPr>
              <a:t>Prior exposure to the answer was unknown. Explained: none. Rejoins the figures</a:t>
            </a:r>
            <a:endParaRPr lang="en-US" sz="3400" dirty="0"/>
          </a:p>
        </p:txBody>
      </p:sp>
      <p:sp>
        <p:nvSpPr>
          <p:cNvPr id="17" name="Text 15"/>
          <p:cNvSpPr txBox="1"/>
          <p:nvPr/>
        </p:nvSpPr>
        <p:spPr>
          <a:xfrm>
            <a:off x="877824" y="7726680"/>
            <a:ext cx="16532352" cy="914400"/>
          </a:xfrm>
          <a:prstGeom prst="rect">
            <a:avLst/>
          </a:prstGeom>
          <a:noFill/>
          <a:ln/>
        </p:spPr>
        <p:txBody>
          <a:bodyPr wrap="square" lIns="0" tIns="0" rIns="0" bIns="0" rtlCol="0" anchor="t"/>
          <a:lstStyle/>
          <a:p>
            <a:pPr marL="0" indent="0">
              <a:buNone/>
            </a:pPr>
            <a:r>
              <a:rPr lang="en-US" sz="2200" dirty="0">
                <a:solidFill>
                  <a:srgbClr val="4B5563"/>
                </a:solidFill>
                <a:latin typeface="Arial" pitchFamily="34" charset="0"/>
                <a:ea typeface="Arial" pitchFamily="34" charset="-122"/>
                <a:cs typeface="Arial" pitchFamily="34" charset="-120"/>
              </a:rPr>
              <a:t>The figures as published leave out all four. The researcher stated on the record on September 21 what three of the intervals were, so those three rejoin their own condition and both sets of figures are published. Recalling an interval days later is weaker evidence than a clock.</a:t>
            </a:r>
            <a:endParaRPr lang="en-US" sz="22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A10</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How the study unfolded, from design to score lock</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Dates from the paper (Appendix D), collection receipts and the score-lock record. Bars are calendar spans, not hours worked; the development time register is incomplete. Reading continued after the lock, in an order fixed beforehand, and stopped on September 22 with 60 of 96 answers read.</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34</a:t>
            </a:r>
            <a:endParaRPr lang="en-US" sz="1600" dirty="0"/>
          </a:p>
        </p:txBody>
      </p:sp>
      <p:sp>
        <p:nvSpPr>
          <p:cNvPr id="9" name="Shape 7"/>
          <p:cNvSpPr/>
          <p:nvPr/>
        </p:nvSpPr>
        <p:spPr>
          <a:xfrm>
            <a:off x="5669280"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0" name="Text 8"/>
          <p:cNvSpPr txBox="1"/>
          <p:nvPr/>
        </p:nvSpPr>
        <p:spPr>
          <a:xfrm>
            <a:off x="5120640"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Aug 30</a:t>
            </a:r>
            <a:endParaRPr lang="en-US" sz="1500" dirty="0"/>
          </a:p>
        </p:txBody>
      </p:sp>
      <p:sp>
        <p:nvSpPr>
          <p:cNvPr id="11" name="Shape 9"/>
          <p:cNvSpPr/>
          <p:nvPr/>
        </p:nvSpPr>
        <p:spPr>
          <a:xfrm>
            <a:off x="7881257"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2" name="Text 10"/>
          <p:cNvSpPr txBox="1"/>
          <p:nvPr/>
        </p:nvSpPr>
        <p:spPr>
          <a:xfrm>
            <a:off x="7332617"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3</a:t>
            </a:r>
            <a:endParaRPr lang="en-US" sz="1500" dirty="0"/>
          </a:p>
        </p:txBody>
      </p:sp>
      <p:sp>
        <p:nvSpPr>
          <p:cNvPr id="13" name="Shape 11"/>
          <p:cNvSpPr/>
          <p:nvPr/>
        </p:nvSpPr>
        <p:spPr>
          <a:xfrm>
            <a:off x="10093234"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4" name="Text 12"/>
          <p:cNvSpPr txBox="1"/>
          <p:nvPr/>
        </p:nvSpPr>
        <p:spPr>
          <a:xfrm>
            <a:off x="9544594"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7</a:t>
            </a:r>
            <a:endParaRPr lang="en-US" sz="1500" dirty="0"/>
          </a:p>
        </p:txBody>
      </p:sp>
      <p:sp>
        <p:nvSpPr>
          <p:cNvPr id="15" name="Shape 13"/>
          <p:cNvSpPr/>
          <p:nvPr/>
        </p:nvSpPr>
        <p:spPr>
          <a:xfrm>
            <a:off x="12305211"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6" name="Text 14"/>
          <p:cNvSpPr txBox="1"/>
          <p:nvPr/>
        </p:nvSpPr>
        <p:spPr>
          <a:xfrm>
            <a:off x="11756571"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11</a:t>
            </a:r>
            <a:endParaRPr lang="en-US" sz="1500" dirty="0"/>
          </a:p>
        </p:txBody>
      </p:sp>
      <p:sp>
        <p:nvSpPr>
          <p:cNvPr id="17" name="Shape 15"/>
          <p:cNvSpPr/>
          <p:nvPr/>
        </p:nvSpPr>
        <p:spPr>
          <a:xfrm>
            <a:off x="14517189"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8" name="Text 16"/>
          <p:cNvSpPr txBox="1"/>
          <p:nvPr/>
        </p:nvSpPr>
        <p:spPr>
          <a:xfrm>
            <a:off x="13968549"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15</a:t>
            </a:r>
            <a:endParaRPr lang="en-US" sz="1500" dirty="0"/>
          </a:p>
        </p:txBody>
      </p:sp>
      <p:sp>
        <p:nvSpPr>
          <p:cNvPr id="19" name="Shape 17"/>
          <p:cNvSpPr/>
          <p:nvPr/>
        </p:nvSpPr>
        <p:spPr>
          <a:xfrm>
            <a:off x="16176171"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20" name="Text 18"/>
          <p:cNvSpPr txBox="1"/>
          <p:nvPr/>
        </p:nvSpPr>
        <p:spPr>
          <a:xfrm>
            <a:off x="15627531"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18</a:t>
            </a:r>
            <a:endParaRPr lang="en-US" sz="1500" dirty="0"/>
          </a:p>
        </p:txBody>
      </p:sp>
      <p:sp>
        <p:nvSpPr>
          <p:cNvPr id="21" name="Text 19"/>
          <p:cNvSpPr txBox="1"/>
          <p:nvPr/>
        </p:nvSpPr>
        <p:spPr>
          <a:xfrm>
            <a:off x="877824" y="2606040"/>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Design and early case drafting</a:t>
            </a:r>
            <a:endParaRPr lang="en-US" sz="1600" dirty="0"/>
          </a:p>
        </p:txBody>
      </p:sp>
      <p:sp>
        <p:nvSpPr>
          <p:cNvPr id="22" name="Shape 20"/>
          <p:cNvSpPr/>
          <p:nvPr/>
        </p:nvSpPr>
        <p:spPr>
          <a:xfrm>
            <a:off x="5696712" y="2670048"/>
            <a:ext cx="4922085"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3" name="Text 21"/>
          <p:cNvSpPr txBox="1"/>
          <p:nvPr/>
        </p:nvSpPr>
        <p:spPr>
          <a:xfrm>
            <a:off x="877824" y="3113532"/>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Blind case construction (Gemini)</a:t>
            </a:r>
            <a:endParaRPr lang="en-US" sz="1600" dirty="0"/>
          </a:p>
        </p:txBody>
      </p:sp>
      <p:sp>
        <p:nvSpPr>
          <p:cNvPr id="24" name="Shape 22"/>
          <p:cNvSpPr/>
          <p:nvPr/>
        </p:nvSpPr>
        <p:spPr>
          <a:xfrm>
            <a:off x="10120666" y="3177540"/>
            <a:ext cx="498130"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5" name="Text 23"/>
          <p:cNvSpPr txBox="1"/>
          <p:nvPr/>
        </p:nvSpPr>
        <p:spPr>
          <a:xfrm>
            <a:off x="877824" y="3621024"/>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First review against sources</a:t>
            </a:r>
            <a:endParaRPr lang="en-US" sz="1600" dirty="0"/>
          </a:p>
        </p:txBody>
      </p:sp>
      <p:sp>
        <p:nvSpPr>
          <p:cNvPr id="26" name="Shape 24"/>
          <p:cNvSpPr/>
          <p:nvPr/>
        </p:nvSpPr>
        <p:spPr>
          <a:xfrm>
            <a:off x="11779649" y="3685032"/>
            <a:ext cx="498130"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7" name="Text 25"/>
          <p:cNvSpPr txBox="1"/>
          <p:nvPr/>
        </p:nvSpPr>
        <p:spPr>
          <a:xfrm>
            <a:off x="877824" y="4128516"/>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Revision and integration</a:t>
            </a:r>
            <a:endParaRPr lang="en-US" sz="1600" dirty="0"/>
          </a:p>
        </p:txBody>
      </p:sp>
      <p:sp>
        <p:nvSpPr>
          <p:cNvPr id="28" name="Shape 26"/>
          <p:cNvSpPr/>
          <p:nvPr/>
        </p:nvSpPr>
        <p:spPr>
          <a:xfrm>
            <a:off x="12332643" y="4192524"/>
            <a:ext cx="1604119"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9" name="Text 27"/>
          <p:cNvSpPr txBox="1"/>
          <p:nvPr/>
        </p:nvSpPr>
        <p:spPr>
          <a:xfrm>
            <a:off x="877824" y="4636008"/>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Second review and AI audit</a:t>
            </a:r>
            <a:endParaRPr lang="en-US" sz="1600" dirty="0"/>
          </a:p>
        </p:txBody>
      </p:sp>
      <p:sp>
        <p:nvSpPr>
          <p:cNvPr id="30" name="Shape 28"/>
          <p:cNvSpPr/>
          <p:nvPr/>
        </p:nvSpPr>
        <p:spPr>
          <a:xfrm>
            <a:off x="12885638" y="4700016"/>
            <a:ext cx="1051125"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31" name="Text 29"/>
          <p:cNvSpPr txBox="1"/>
          <p:nvPr/>
        </p:nvSpPr>
        <p:spPr>
          <a:xfrm>
            <a:off x="877824" y="5143500"/>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Self-review; freeze (Sep 15, 9:42 PM)</a:t>
            </a:r>
            <a:endParaRPr lang="en-US" sz="1600" dirty="0"/>
          </a:p>
        </p:txBody>
      </p:sp>
      <p:sp>
        <p:nvSpPr>
          <p:cNvPr id="32" name="Shape 30"/>
          <p:cNvSpPr/>
          <p:nvPr/>
        </p:nvSpPr>
        <p:spPr>
          <a:xfrm>
            <a:off x="14544621" y="5207508"/>
            <a:ext cx="498130"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33" name="Text 31"/>
          <p:cNvSpPr txBox="1"/>
          <p:nvPr/>
        </p:nvSpPr>
        <p:spPr>
          <a:xfrm>
            <a:off x="877824" y="5650992"/>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96 answers collected</a:t>
            </a:r>
            <a:endParaRPr lang="en-US" sz="1600" dirty="0"/>
          </a:p>
        </p:txBody>
      </p:sp>
      <p:sp>
        <p:nvSpPr>
          <p:cNvPr id="34" name="Shape 32"/>
          <p:cNvSpPr/>
          <p:nvPr/>
        </p:nvSpPr>
        <p:spPr>
          <a:xfrm>
            <a:off x="15097615" y="5715000"/>
            <a:ext cx="498130"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35" name="Text 33"/>
          <p:cNvSpPr txBox="1"/>
          <p:nvPr/>
        </p:nvSpPr>
        <p:spPr>
          <a:xfrm>
            <a:off x="877824" y="6158484"/>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Timed checking (24 items)</a:t>
            </a:r>
            <a:endParaRPr lang="en-US" sz="1600" dirty="0"/>
          </a:p>
        </p:txBody>
      </p:sp>
      <p:sp>
        <p:nvSpPr>
          <p:cNvPr id="36" name="Shape 34"/>
          <p:cNvSpPr/>
          <p:nvPr/>
        </p:nvSpPr>
        <p:spPr>
          <a:xfrm>
            <a:off x="15097615" y="6222492"/>
            <a:ext cx="1051125"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37" name="Text 35"/>
          <p:cNvSpPr txBox="1"/>
          <p:nvPr/>
        </p:nvSpPr>
        <p:spPr>
          <a:xfrm>
            <a:off x="877824" y="6665976"/>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Independent reviewers return</a:t>
            </a:r>
            <a:endParaRPr lang="en-US" sz="1600" dirty="0"/>
          </a:p>
        </p:txBody>
      </p:sp>
      <p:sp>
        <p:nvSpPr>
          <p:cNvPr id="38" name="Shape 36"/>
          <p:cNvSpPr/>
          <p:nvPr/>
        </p:nvSpPr>
        <p:spPr>
          <a:xfrm>
            <a:off x="15650609" y="6729984"/>
            <a:ext cx="498130"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39" name="Text 37"/>
          <p:cNvSpPr txBox="1"/>
          <p:nvPr/>
        </p:nvSpPr>
        <p:spPr>
          <a:xfrm>
            <a:off x="877824" y="7173468"/>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Reading; first lock, then 60 of 96 by Sep 22</a:t>
            </a:r>
            <a:endParaRPr lang="en-US" sz="1600" dirty="0"/>
          </a:p>
        </p:txBody>
      </p:sp>
      <p:sp>
        <p:nvSpPr>
          <p:cNvPr id="40" name="Shape 38"/>
          <p:cNvSpPr/>
          <p:nvPr/>
        </p:nvSpPr>
        <p:spPr>
          <a:xfrm>
            <a:off x="15650609" y="7237476"/>
            <a:ext cx="1051125"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41" name="Text 39"/>
          <p:cNvSpPr txBox="1"/>
          <p:nvPr/>
        </p:nvSpPr>
        <p:spPr>
          <a:xfrm>
            <a:off x="877824" y="7680960"/>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AI judge on 96 answers</a:t>
            </a:r>
            <a:endParaRPr lang="en-US" sz="1600" dirty="0"/>
          </a:p>
        </p:txBody>
      </p:sp>
      <p:sp>
        <p:nvSpPr>
          <p:cNvPr id="42" name="Shape 40"/>
          <p:cNvSpPr/>
          <p:nvPr/>
        </p:nvSpPr>
        <p:spPr>
          <a:xfrm>
            <a:off x="16203603" y="7744968"/>
            <a:ext cx="498130" cy="329184"/>
          </a:xfrm>
          <a:prstGeom prst="roundRect">
            <a:avLst>
              <a:gd name="adj" fmla="val 16667"/>
            </a:avLst>
          </a:prstGeom>
          <a:solidFill>
            <a:srgbClr val="8A6100"/>
          </a:solidFill>
          <a:ln w="12700">
            <a:solidFill>
              <a:srgbClr val="8A6100"/>
            </a:solidFill>
            <a:prstDash val="solid"/>
          </a:ln>
        </p:spPr>
        <p:txBody>
          <a:bodyPr/>
          <a:lstStyle/>
          <a:p>
            <a:endParaRPr lang="en-US"/>
          </a:p>
        </p:txBody>
      </p:sp>
      <p:sp>
        <p:nvSpPr>
          <p:cNvPr id="43" name="Text 41"/>
          <p:cNvSpPr txBox="1"/>
          <p:nvPr/>
        </p:nvSpPr>
        <p:spPr>
          <a:xfrm>
            <a:off x="877824" y="8188452"/>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Claude judge; whole-document runs</a:t>
            </a:r>
            <a:endParaRPr lang="en-US" sz="1600" dirty="0"/>
          </a:p>
        </p:txBody>
      </p:sp>
      <p:sp>
        <p:nvSpPr>
          <p:cNvPr id="44" name="Shape 42"/>
          <p:cNvSpPr/>
          <p:nvPr/>
        </p:nvSpPr>
        <p:spPr>
          <a:xfrm>
            <a:off x="16203603" y="8252460"/>
            <a:ext cx="498130" cy="329184"/>
          </a:xfrm>
          <a:prstGeom prst="roundRect">
            <a:avLst>
              <a:gd name="adj" fmla="val 16667"/>
            </a:avLst>
          </a:prstGeom>
          <a:solidFill>
            <a:srgbClr val="8A6100"/>
          </a:solidFill>
          <a:ln w="12700">
            <a:solidFill>
              <a:srgbClr val="8A6100"/>
            </a:solidFill>
            <a:prstDash val="solid"/>
          </a:ln>
        </p:spPr>
        <p:txBody>
          <a:bodyPr/>
          <a:lstStyle/>
          <a:p>
            <a:endParaRPr lang="en-US"/>
          </a:p>
        </p:txBody>
      </p:sp>
      <p:sp>
        <p:nvSpPr>
          <p:cNvPr id="45" name="Shape 43"/>
          <p:cNvSpPr/>
          <p:nvPr/>
        </p:nvSpPr>
        <p:spPr>
          <a:xfrm>
            <a:off x="5669280" y="8823960"/>
            <a:ext cx="274320" cy="274320"/>
          </a:xfrm>
          <a:prstGeom prst="rect">
            <a:avLst/>
          </a:prstGeom>
          <a:solidFill>
            <a:srgbClr val="0038A8"/>
          </a:solidFill>
          <a:ln w="12700">
            <a:solidFill>
              <a:srgbClr val="0038A8"/>
            </a:solidFill>
            <a:prstDash val="solid"/>
          </a:ln>
        </p:spPr>
        <p:txBody>
          <a:bodyPr/>
          <a:lstStyle/>
          <a:p>
            <a:endParaRPr lang="en-US"/>
          </a:p>
        </p:txBody>
      </p:sp>
      <p:sp>
        <p:nvSpPr>
          <p:cNvPr id="46" name="Text 44"/>
          <p:cNvSpPr txBox="1"/>
          <p:nvPr/>
        </p:nvSpPr>
        <p:spPr>
          <a:xfrm>
            <a:off x="6080760" y="8759952"/>
            <a:ext cx="3383280" cy="411480"/>
          </a:xfrm>
          <a:prstGeom prst="rect">
            <a:avLst/>
          </a:prstGeom>
          <a:noFill/>
          <a:ln/>
        </p:spPr>
        <p:txBody>
          <a:bodyPr wrap="square" lIns="0" tIns="0" rIns="0" bIns="0" rtlCol="0" anchor="ctr"/>
          <a:lstStyle/>
          <a:p>
            <a:pPr marL="0" indent="0">
              <a:buNone/>
            </a:pPr>
            <a:r>
              <a:rPr lang="en-US" sz="1600" dirty="0">
                <a:solidFill>
                  <a:srgbClr val="4B5563"/>
                </a:solidFill>
                <a:latin typeface="Arial" pitchFamily="34" charset="0"/>
                <a:ea typeface="Arial" pitchFamily="34" charset="-122"/>
                <a:cs typeface="Arial" pitchFamily="34" charset="-120"/>
              </a:rPr>
              <a:t>Build the benchmark</a:t>
            </a:r>
            <a:endParaRPr lang="en-US" sz="1600" dirty="0"/>
          </a:p>
        </p:txBody>
      </p:sp>
      <p:sp>
        <p:nvSpPr>
          <p:cNvPr id="47" name="Shape 45"/>
          <p:cNvSpPr/>
          <p:nvPr/>
        </p:nvSpPr>
        <p:spPr>
          <a:xfrm>
            <a:off x="9601200" y="8823960"/>
            <a:ext cx="274320" cy="274320"/>
          </a:xfrm>
          <a:prstGeom prst="rect">
            <a:avLst/>
          </a:prstGeom>
          <a:solidFill>
            <a:srgbClr val="CE1126"/>
          </a:solidFill>
          <a:ln w="12700">
            <a:solidFill>
              <a:srgbClr val="CE1126"/>
            </a:solidFill>
            <a:prstDash val="solid"/>
          </a:ln>
        </p:spPr>
        <p:txBody>
          <a:bodyPr/>
          <a:lstStyle/>
          <a:p>
            <a:endParaRPr lang="en-US"/>
          </a:p>
        </p:txBody>
      </p:sp>
      <p:sp>
        <p:nvSpPr>
          <p:cNvPr id="48" name="Text 46"/>
          <p:cNvSpPr txBox="1"/>
          <p:nvPr/>
        </p:nvSpPr>
        <p:spPr>
          <a:xfrm>
            <a:off x="10012680" y="8759952"/>
            <a:ext cx="3383280" cy="411480"/>
          </a:xfrm>
          <a:prstGeom prst="rect">
            <a:avLst/>
          </a:prstGeom>
          <a:noFill/>
          <a:ln/>
        </p:spPr>
        <p:txBody>
          <a:bodyPr wrap="square" lIns="0" tIns="0" rIns="0" bIns="0" rtlCol="0" anchor="ctr"/>
          <a:lstStyle/>
          <a:p>
            <a:pPr marL="0" indent="0">
              <a:buNone/>
            </a:pPr>
            <a:r>
              <a:rPr lang="en-US" sz="1600" dirty="0">
                <a:solidFill>
                  <a:srgbClr val="4B5563"/>
                </a:solidFill>
                <a:latin typeface="Arial" pitchFamily="34" charset="0"/>
                <a:ea typeface="Arial" pitchFamily="34" charset="-122"/>
                <a:cs typeface="Arial" pitchFamily="34" charset="-120"/>
              </a:rPr>
              <a:t>Run the study</a:t>
            </a:r>
            <a:endParaRPr lang="en-US" sz="1600" dirty="0"/>
          </a:p>
        </p:txBody>
      </p:sp>
      <p:sp>
        <p:nvSpPr>
          <p:cNvPr id="49" name="Shape 47"/>
          <p:cNvSpPr/>
          <p:nvPr/>
        </p:nvSpPr>
        <p:spPr>
          <a:xfrm>
            <a:off x="13533120" y="8823960"/>
            <a:ext cx="274320" cy="274320"/>
          </a:xfrm>
          <a:prstGeom prst="rect">
            <a:avLst/>
          </a:prstGeom>
          <a:solidFill>
            <a:srgbClr val="8A6100"/>
          </a:solidFill>
          <a:ln w="12700">
            <a:solidFill>
              <a:srgbClr val="8A6100"/>
            </a:solidFill>
            <a:prstDash val="solid"/>
          </a:ln>
        </p:spPr>
        <p:txBody>
          <a:bodyPr/>
          <a:lstStyle/>
          <a:p>
            <a:endParaRPr lang="en-US"/>
          </a:p>
        </p:txBody>
      </p:sp>
      <p:sp>
        <p:nvSpPr>
          <p:cNvPr id="50" name="Text 48"/>
          <p:cNvSpPr txBox="1"/>
          <p:nvPr/>
        </p:nvSpPr>
        <p:spPr>
          <a:xfrm>
            <a:off x="13944600" y="8759952"/>
            <a:ext cx="3383280" cy="411480"/>
          </a:xfrm>
          <a:prstGeom prst="rect">
            <a:avLst/>
          </a:prstGeom>
          <a:noFill/>
          <a:ln/>
        </p:spPr>
        <p:txBody>
          <a:bodyPr wrap="square" lIns="0" tIns="0" rIns="0" bIns="0" rtlCol="0" anchor="ctr"/>
          <a:lstStyle/>
          <a:p>
            <a:pPr marL="0" indent="0">
              <a:buNone/>
            </a:pPr>
            <a:r>
              <a:rPr lang="en-US" sz="1600" dirty="0">
                <a:solidFill>
                  <a:srgbClr val="4B5563"/>
                </a:solidFill>
                <a:latin typeface="Arial" pitchFamily="34" charset="0"/>
                <a:ea typeface="Arial" pitchFamily="34" charset="-122"/>
                <a:cs typeface="Arial" pitchFamily="34" charset="-120"/>
              </a:rPr>
              <a:t>Exploratory extensions</a:t>
            </a:r>
            <a:endParaRPr lang="en-US" sz="16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A11</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Questions and answers (1 of 2)</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Short answers grounded in the paper.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35</a:t>
            </a:r>
            <a:endParaRPr lang="en-US" sz="1600" dirty="0"/>
          </a:p>
        </p:txBody>
      </p:sp>
      <p:sp>
        <p:nvSpPr>
          <p:cNvPr id="9" name="Shape 7"/>
          <p:cNvSpPr/>
          <p:nvPr/>
        </p:nvSpPr>
        <p:spPr>
          <a:xfrm>
            <a:off x="877824"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97864"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Why not have Filipino educators review everything?</a:t>
            </a:r>
            <a:endParaRPr lang="en-US" sz="2000" dirty="0"/>
          </a:p>
        </p:txBody>
      </p:sp>
      <p:sp>
        <p:nvSpPr>
          <p:cNvPr id="11" name="Text 9"/>
          <p:cNvSpPr txBox="1"/>
          <p:nvPr/>
        </p:nvSpPr>
        <p:spPr>
          <a:xfrm>
            <a:off x="1197864"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Independent reviewers scored masked subsets, and agreement is reported for those answers only. They also judged answers I had not scored, and rated two of those serious; both had been released, and both are reported beside the results rather than inside them. The planned full review of answer keys did not happen; it is a reported deviation and the first priority for a journal version.</a:t>
            </a:r>
            <a:endParaRPr lang="en-US" sz="1800" dirty="0"/>
          </a:p>
        </p:txBody>
      </p:sp>
      <p:sp>
        <p:nvSpPr>
          <p:cNvPr id="12" name="Shape 10"/>
          <p:cNvSpPr/>
          <p:nvPr/>
        </p:nvSpPr>
        <p:spPr>
          <a:xfrm>
            <a:off x="9262872"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9582912"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Did AI write the test cases?</a:t>
            </a:r>
            <a:endParaRPr lang="en-US" sz="2000" dirty="0"/>
          </a:p>
        </p:txBody>
      </p:sp>
      <p:sp>
        <p:nvSpPr>
          <p:cNvPr id="14" name="Text 12"/>
          <p:cNvSpPr txBox="1"/>
          <p:nvPr/>
        </p:nvSpPr>
        <p:spPr>
          <a:xfrm>
            <a:off x="9582912"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Gemini drafted scenarios and answer keys from sources I verified. I revised them against the original rules, Claude audited them, and I reviewed them again before the September 15 freeze. Astra also helped refine cases, which is disclosed.</a:t>
            </a:r>
            <a:endParaRPr lang="en-US" sz="1800" dirty="0"/>
          </a:p>
        </p:txBody>
      </p:sp>
      <p:sp>
        <p:nvSpPr>
          <p:cNvPr id="15" name="Shape 13"/>
          <p:cNvSpPr/>
          <p:nvPr/>
        </p:nvSpPr>
        <p:spPr>
          <a:xfrm>
            <a:off x="877824"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97864"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Are Astra and Luna “frontier” and “efficient” models?</a:t>
            </a:r>
            <a:endParaRPr lang="en-US" sz="2000" dirty="0"/>
          </a:p>
        </p:txBody>
      </p:sp>
      <p:sp>
        <p:nvSpPr>
          <p:cNvPr id="17" name="Text 15"/>
          <p:cNvSpPr txBox="1"/>
          <p:nvPr/>
        </p:nvSpPr>
        <p:spPr>
          <a:xfrm>
            <a:off x="1197864"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Those are labels for the planned comparison, not measured tiers. The exact models behind the interface were not verified.</a:t>
            </a:r>
            <a:endParaRPr lang="en-US" sz="1800" dirty="0"/>
          </a:p>
        </p:txBody>
      </p:sp>
      <p:sp>
        <p:nvSpPr>
          <p:cNvPr id="18" name="Shape 16"/>
          <p:cNvSpPr/>
          <p:nvPr/>
        </p:nvSpPr>
        <p:spPr>
          <a:xfrm>
            <a:off x="9262872"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9582912"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Couldn’t a checker just block everything?</a:t>
            </a:r>
            <a:endParaRPr lang="en-US" sz="2000" dirty="0"/>
          </a:p>
        </p:txBody>
      </p:sp>
      <p:sp>
        <p:nvSpPr>
          <p:cNvPr id="20" name="Text 18"/>
          <p:cNvSpPr txBox="1"/>
          <p:nvPr/>
        </p:nvSpPr>
        <p:spPr>
          <a:xfrm>
            <a:off x="9582912"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Yes. That is why sound answers held back are reported, and simple rules like “withhold all” are compared. A check is better only if it lets through no more serious errors and no fewer sound answers.</a:t>
            </a:r>
            <a:endParaRPr lang="en-US" sz="1800" dirty="0"/>
          </a:p>
        </p:txBody>
      </p:sp>
      <p:sp>
        <p:nvSpPr>
          <p:cNvPr id="21" name="Shape 19"/>
          <p:cNvSpPr/>
          <p:nvPr/>
        </p:nvSpPr>
        <p:spPr>
          <a:xfrm>
            <a:off x="877824"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20"/>
          <p:cNvSpPr txBox="1"/>
          <p:nvPr/>
        </p:nvSpPr>
        <p:spPr>
          <a:xfrm>
            <a:off x="1197864"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a matching quotation mean the answer is right?</a:t>
            </a:r>
            <a:endParaRPr lang="en-US" sz="2000" dirty="0"/>
          </a:p>
        </p:txBody>
      </p:sp>
      <p:sp>
        <p:nvSpPr>
          <p:cNvPr id="23" name="Text 21"/>
          <p:cNvSpPr txBox="1"/>
          <p:nvPr/>
        </p:nvSpPr>
        <p:spPr>
          <a:xfrm>
            <a:off x="1197864"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No. It only shows the text exists. Haiku’s wrong 85% grade (AI-flagged, confirmed by my own scoring) passed the quotation check and was released.</a:t>
            </a:r>
            <a:endParaRPr lang="en-US" sz="1800" dirty="0"/>
          </a:p>
        </p:txBody>
      </p:sp>
      <p:sp>
        <p:nvSpPr>
          <p:cNvPr id="24" name="Shape 22"/>
          <p:cNvSpPr/>
          <p:nvPr/>
        </p:nvSpPr>
        <p:spPr>
          <a:xfrm>
            <a:off x="9262872"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9582912"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this save teachers time?</a:t>
            </a:r>
            <a:endParaRPr lang="en-US" sz="2000" dirty="0"/>
          </a:p>
        </p:txBody>
      </p:sp>
      <p:sp>
        <p:nvSpPr>
          <p:cNvPr id="26" name="Text 24"/>
          <p:cNvSpPr txBox="1"/>
          <p:nvPr/>
        </p:nvSpPr>
        <p:spPr>
          <a:xfrm>
            <a:off x="9582912"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Not shown. There was no comparison against working without AI, the cases differ by model and route, and the timing comes from the person who wrote the cases.</a:t>
            </a:r>
            <a:endParaRPr lang="en-US" sz="180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A12</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Questions and answers (2 of 2)</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Short answers grounded in the paper.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36</a:t>
            </a:r>
            <a:endParaRPr lang="en-US" sz="1600" dirty="0"/>
          </a:p>
        </p:txBody>
      </p:sp>
      <p:sp>
        <p:nvSpPr>
          <p:cNvPr id="9" name="Shape 7"/>
          <p:cNvSpPr/>
          <p:nvPr/>
        </p:nvSpPr>
        <p:spPr>
          <a:xfrm>
            <a:off x="877824"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97864"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What did it cost?</a:t>
            </a:r>
            <a:endParaRPr lang="en-US" sz="2000" dirty="0"/>
          </a:p>
        </p:txBody>
      </p:sp>
      <p:sp>
        <p:nvSpPr>
          <p:cNvPr id="11" name="Text 9"/>
          <p:cNvSpPr txBox="1"/>
          <p:nvPr/>
        </p:nvSpPr>
        <p:spPr>
          <a:xfrm>
            <a:off x="1197864"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The two main models were used by subscription, so their cost was not measured. Metered: AI judge US$0.82 (96 answers) and US$0.99 (48 Claude answers, kept runs); Gemini US$0.72 and Kimi US$1.01 (12 runs each). About US$6 was billed on September 17–18.</a:t>
            </a:r>
            <a:endParaRPr lang="en-US" sz="1800" dirty="0"/>
          </a:p>
        </p:txBody>
      </p:sp>
      <p:sp>
        <p:nvSpPr>
          <p:cNvPr id="12" name="Shape 10"/>
          <p:cNvSpPr/>
          <p:nvPr/>
        </p:nvSpPr>
        <p:spPr>
          <a:xfrm>
            <a:off x="9262872"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9582912"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CHED have an AI policy?</a:t>
            </a:r>
            <a:endParaRPr lang="en-US" sz="2000" dirty="0"/>
          </a:p>
        </p:txBody>
      </p:sp>
      <p:sp>
        <p:nvSpPr>
          <p:cNvPr id="14" name="Text 12"/>
          <p:cNvSpPr txBox="1"/>
          <p:nvPr/>
        </p:nvSpPr>
        <p:spPr>
          <a:xfrm>
            <a:off x="9582912"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A check of memorandum-order titles from 2023 to 2026 found none on AI; circulars and advisories were not fully searched. A national framework was discussed at CHED’s RAISE 2026 convention.</a:t>
            </a:r>
            <a:endParaRPr lang="en-US" sz="1800" dirty="0"/>
          </a:p>
        </p:txBody>
      </p:sp>
      <p:sp>
        <p:nvSpPr>
          <p:cNvPr id="15" name="Shape 13"/>
          <p:cNvSpPr/>
          <p:nvPr/>
        </p:nvSpPr>
        <p:spPr>
          <a:xfrm>
            <a:off x="877824"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97864"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Why only English?</a:t>
            </a:r>
            <a:endParaRPr lang="en-US" sz="2000" dirty="0"/>
          </a:p>
        </p:txBody>
      </p:sp>
      <p:sp>
        <p:nvSpPr>
          <p:cNvPr id="17" name="Text 15"/>
          <p:cNvSpPr txBox="1"/>
          <p:nvPr/>
        </p:nvSpPr>
        <p:spPr>
          <a:xfrm>
            <a:off x="1197864"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The test cases are in English. Filipino, regional-language and code-switched requests are future work.</a:t>
            </a:r>
            <a:endParaRPr lang="en-US" sz="1800" dirty="0"/>
          </a:p>
        </p:txBody>
      </p:sp>
      <p:sp>
        <p:nvSpPr>
          <p:cNvPr id="18" name="Shape 16"/>
          <p:cNvSpPr/>
          <p:nvPr/>
        </p:nvSpPr>
        <p:spPr>
          <a:xfrm>
            <a:off x="9262872"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9582912"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Is the benchmark too easy?</a:t>
            </a:r>
            <a:endParaRPr lang="en-US" sz="2000" dirty="0"/>
          </a:p>
        </p:txBody>
      </p:sp>
      <p:sp>
        <p:nvSpPr>
          <p:cNvPr id="20" name="Text 18"/>
          <p:cNvSpPr txBox="1"/>
          <p:nvPr/>
        </p:nvSpPr>
        <p:spPr>
          <a:xfrm>
            <a:off x="9582912"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With the rules supplied, both models answered every scored request acceptably, so this version cannot separate them. It suggests, but does not show, that the hard part is finding the right rule and deciding who acts. That is the next test.</a:t>
            </a:r>
            <a:endParaRPr lang="en-US" sz="1800" dirty="0"/>
          </a:p>
        </p:txBody>
      </p:sp>
      <p:sp>
        <p:nvSpPr>
          <p:cNvPr id="21" name="Shape 19"/>
          <p:cNvSpPr/>
          <p:nvPr/>
        </p:nvSpPr>
        <p:spPr>
          <a:xfrm>
            <a:off x="877824"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20"/>
          <p:cNvSpPr txBox="1"/>
          <p:nvPr/>
        </p:nvSpPr>
        <p:spPr>
          <a:xfrm>
            <a:off x="1197864"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this represent Philippine schools?</a:t>
            </a:r>
            <a:endParaRPr lang="en-US" sz="2000" dirty="0"/>
          </a:p>
        </p:txBody>
      </p:sp>
      <p:sp>
        <p:nvSpPr>
          <p:cNvPr id="23" name="Text 21"/>
          <p:cNvSpPr txBox="1"/>
          <p:nvPr/>
        </p:nvSpPr>
        <p:spPr>
          <a:xfrm>
            <a:off x="1197864"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No. These are 24 purposely chosen cases from nine schools in four regions.</a:t>
            </a:r>
            <a:endParaRPr lang="en-US" sz="1800" dirty="0"/>
          </a:p>
        </p:txBody>
      </p:sp>
      <p:sp>
        <p:nvSpPr>
          <p:cNvPr id="24" name="Shape 22"/>
          <p:cNvSpPr/>
          <p:nvPr/>
        </p:nvSpPr>
        <p:spPr>
          <a:xfrm>
            <a:off x="9262872"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9582912"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Can others use this?</a:t>
            </a:r>
            <a:endParaRPr lang="en-US" sz="2000" dirty="0"/>
          </a:p>
        </p:txBody>
      </p:sp>
      <p:sp>
        <p:nvSpPr>
          <p:cNvPr id="26" name="Text 24"/>
          <p:cNvSpPr txBox="1"/>
          <p:nvPr/>
        </p:nvSpPr>
        <p:spPr>
          <a:xfrm>
            <a:off x="9582912"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Yes. Cases, prompts, code and summary results will be released, with short excerpts where full documents cannot be shared.</a:t>
            </a:r>
            <a:endParaRPr lang="en-US" sz="180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A13</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Image sources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Screenshots are used for commentary and education. All rights remain with the publishers. Accessed September 2026.</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37</a:t>
            </a:r>
            <a:endParaRPr lang="en-US" sz="1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77824" y="2423160"/>
          <a:ext cx="16532352" cy="5169408"/>
        </p:xfrm>
        <a:graphic>
          <a:graphicData uri="http://schemas.openxmlformats.org/drawingml/2006/table">
            <a:tbl>
              <a:tblPr/>
              <a:tblGrid>
                <a:gridCol w="8229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5669280">
                  <a:extLst>
                    <a:ext uri="{9D8B030D-6E8A-4147-A177-3AD203B41FA5}">
                      <a16:colId xmlns:a16="http://schemas.microsoft.com/office/drawing/2014/main" val="20003"/>
                    </a:ext>
                  </a:extLst>
                </a:gridCol>
                <a:gridCol w="5925312">
                  <a:extLst>
                    <a:ext uri="{9D8B030D-6E8A-4147-A177-3AD203B41FA5}">
                      <a16:colId xmlns:a16="http://schemas.microsoft.com/office/drawing/2014/main" val="20004"/>
                    </a:ext>
                  </a:extLst>
                </a:gridCol>
              </a:tblGrid>
              <a:tr h="0">
                <a:tc>
                  <a:txBody>
                    <a:bodyPr/>
                    <a:lstStyle/>
                    <a:p>
                      <a:pPr marL="0" indent="0">
                        <a:buNone/>
                      </a:pPr>
                      <a:r>
                        <a:rPr lang="en-US" sz="1300" b="1" dirty="0">
                          <a:solidFill>
                            <a:srgbClr val="FFFFFF"/>
                          </a:solidFill>
                          <a:latin typeface="Arial" pitchFamily="34" charset="0"/>
                          <a:ea typeface="Arial" pitchFamily="34" charset="-122"/>
                          <a:cs typeface="Arial" pitchFamily="34" charset="-120"/>
                        </a:rPr>
                        <a:t>ID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Publisher</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Date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Title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Link</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H1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Philippine Daily Inquirer</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Jan 19, 2023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Student’s rambling essay triggers AI question in UP</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https://newsinfo.inquirer.net/1718304/students-rambling-essay-triggers-ai-question-in-up</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H2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ABC News (Australia)</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Oct 9,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University wrongly accuses students of using artificial intelligence to cheat</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https://www.abc.net.au/news/2025-10-09/artificial-intelligence-cheating-australian-catholic-university/105863524</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H3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CNA (Singapore)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Aug 14,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NTU to stop using ‘fundamentally unreliable’ AI detector from 2027</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https://www.channelnewsasia.com/singapore/ntu-ai-detector-stop-using-2027-probability-scores-misconduct-6320136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P1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Department of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Feb 20,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DepEd Order No. 003, s. 2026: Foundational guidelines on AI in basic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https://www.deped.gov.ph/wp-content/uploads/DO_s2026_003r-1.pdf</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P2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PAASCU</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Oct 16,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PAASCU Board approves guidelines on AI use in accreditation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https://paascu.org.ph/paascu-board-approves-guidelines-on-ai-use-in-accreditation/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P3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Daily Guardian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Feb 27,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CHED: AI must not compromise academic integrity in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https://dailyguardian.com.ph/ched-ai-must-not-compromise-academic-integrity-in-education/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S1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GMA News Online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Feb 11,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ASEAN study flags AI readiness gap as use surges across region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https://www.gmanetwork.com/news/topstories/nation/976214/asean-study-flags-ai-readiness-gap-as-use-surges-across-region/story/</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S2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SunStar Cebu</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Jul 21,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Filipino households spend less on internet in 2024; access, usage expand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https://www.sunstar.com.ph/cebu/filipino-households-spend-less-on-internet-in-2024-access-usage-expand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A1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Jan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Expanded ASEAN Guide on AI Governance and Ethics – Generative AI</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https://asean.org/wp-content/uploads/2025/01/Expanded-ASEAN-Guide-on-AI-Governance-and-Ethics-Generative-AI.pdf</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A2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Oct 26,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Forging a New Era: Timor-Leste Admitted into 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https://asean.org/forging-a-new-era-timor-leste-admitted-into-asean/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A14</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(1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38</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ASEAN Secretariat. (2025, November 24). Remarks by H.E. Dr. Kao Kim Hourn, Secretary-General of ASEAN, at the ceremony on the deposit of instruments of accession to ASEAN legal instruments by the Democratic Republic of Timor-Leste. https://asean.org/wp-content/uploads/2025/11/Updated_SG-Dr-Kao-Remarks-for-the-Ceremony-for-the-Deposity-of-Instruments-of-Accession-by-Ti.pdf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Association of Southeast Asian Nations. (2025). Expanded ASEAN guide on AI governance and ethics: Generative AI. https://asean.org/wp-content/uploads/2025/01/Expanded-ASEAN-Guide-on-AI-Governance-and-Ethics-Generative-AI.pdf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Atıl, B., Aykent, S., Chittams, A., Fu, L., Passonneau, R. J., Radcliffe, E., Rajagopal, G. R., Sloan, A., Tudrej, T., Türe, F., Wu, Z., Xu, L., &amp; Baldwin, B. (2025). Non-determinism of “deterministic” LLM system settings in hosted environments. In Proceedings of the 5th Workshop on Evaluation and Comparison of NLP Systems (pp. 135–148). Association for Computational Linguistics. https://doi.org/10.18653/v1/2025.eval4nlp-1.12</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Bean, A. M., Kearns, R. O., Romanou, A., Hafner, F. S., Mayne, H., Batzner, J., Foroutan Eghlidi, N., Schmitz, C., Korgul, K., Batra, H., Deb, O., Beharry, E., Emde, C., Foster, T., Gausen, A., Grandury, M., Han, S., Hofmann, V., Ibrahim, L., . . . Mahdi, A. (2025). Measuring what matters: Construct validity in large language model benchmarks. In Advances in Neural Information Processing Systems 38 (pp. 19868-19949). https://doi.org/10.52202/085713-0590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Bowyer, S., Aitchison, L., &amp; Ivanova, D. R. (2025). Position: Don't use the CLT in LLM evals with fewer than a few hundred datapoints. In Proceedings of the 42nd International Conference on Machine Learning (Vol. 267, pp. 81143–81184). PMLR. https://proceedings.mlr.press/v267/bowyer25a.html</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Buçinca, Z., Malaya, M. B., &amp; Gajos, K. Z. (2021). To trust or to think: Cognitive forcing functions can reduce overreliance on AI in AI-assisted decision-making. Proceedings of the ACM on Human-Computer Interaction, 5(CSCW1), Article 188. https://doi.org/10.1145/3449287</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Commission on Higher Education Regional Office XI. (2026, February 25). CHEDX 2.0 coffee table book formally turned over during CHED RAISE 2026. https://ro11.ched.gov.ph/2026/02/25/chedx-2-0-coffee-table-book-formally-turned-over-during-ched-raise-2026/12198/quality-assurance/</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Constitution of the Democratic Republic of Timor-Leste. (2002). Section 13. Constitute Project. https://www.constituteproject.org/constitution/East_Timor_2002</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Corbin, T., Dawson, P., &amp; Liu, D. (2025). Talk is cheap: Why structural assessment changes are needed for a time of GenAI. Assessment &amp; Evaluation in Higher Education, 50(7), 1087-1097. https://doi.org/10.1080/02602938.2025.2503964</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Crescitelli, V., Immediato, G., Persia, F., &amp; Costantini, S. (2026). AI evaluation should measure verification cost, not correctness alone [Preprint]. arXiv. https://doi.org/10.48550/arXiv.2608.08709</a:t>
            </a:r>
            <a:endParaRPr lang="en-US" sz="160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A15</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(2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39</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Crompton, H., Burke, D., Nickel, C., Bozkurt, A., Miao, F., Sharples, M., Greene, J. A., Parsons, D., Gill-Simmen, L., Edmett, A., Pegrum, M., de Waard, I., Bonk, C. J., Garcia, M. B., Curry, J. H., Lindsey, L., Yang, M., Marshall, S., Bali, M., . . . Yu, S. (2026). Governing generative AI in higher education: A global Delphi study on policy and practice. International Journal of Educational Technology in Higher Education, 23(1), Article 21. https://doi.org/10.1186/s41239-026-00602-z</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Department of Education. (2026). Foundational guidelines on artificial intelligence in basic education (DepEd Order No. 003, s. 2026). https://www.deped.gov.ph/wp-content/uploads/DO_s2026_003r-1.pdf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Fok, R., &amp; Weld, D. S. (2024). In search of verifiability: Explanations rarely enable complementary performance in AI-advised decision making. AI Magazine, 45(3), 317-332. https://doi.org/10.1002/aaai.12182</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Geifman, Y., &amp; El-Yaniv, R. (2019). SelectiveNet: A deep neural network with an integrated reject option. In K. Chaudhuri &amp; R. Salakhutdinov (Eds.), Proceedings of the 36th International Conference on Machine Learning (Vol. 97, pp. 2151-2159). PMLR. https://proceedings.mlr.press/v97/geifman19a.html</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Gervacio, J. L. M. (2026). Rewriting the rules: The Philippine AI roadmap and its transformative implications for higher education (UP CIDS Discussion Paper Series 2026-10). University of the Philippines Center for Integrative and Development Studies. https://cids.up.edu.ph/discussion_paper/rewriting-rules-philippine-ai-roadmap-transformative-implications-higher-education/</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Giray, L., De Silos, P. Y., Adornado, A., Buelo, R. J. V., Galas, E., Reyes-Chua, E., Santiago, C., &amp; Ulanday, M. L. (2024). Use and impact of artificial intelligence in Philippine higher education: Reflections from instructors and administrators. Internet Reference Services Quarterly, 28(3), 315-338. https://doi.org/10.1080/10875301.2024.2352746</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Ilagan, J. B., &amp; Ilagan, J. R. (2024). A prototype of a conversational virtual university support agent powered by a large language model that addresses inquiries about policies in the student handbook. Procedia Computer Science, 239, 1124–1131. https://doi.org/10.1016/j.procs.2024.06.278</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Jabbour, S., Fouhey, D., Banovic, N., Shepard, S. D., Kazerooni, E., Sjoding, M. W., &amp; Wiens, J. (2026). Selective prediction reduces the negative effects of automation bias overall but increases false negatives (Version 2) [Preprint]. arXiv. https://doi.org/10.48550/arXiv.2508.07617</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Jukiewicz, M., &amp; Wyrwa, M. (2026). Can ChatGPT replace the teacher in assessment? A review of research on the use of large language models in grading and providing feedback. Applied Sciences, 16(2), Article 680. https://doi.org/10.3390/app16020680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Kapoor, S., Cantrell, E. M., Peng, K., Pham, T. H., Bail, C. A., Gundersen, O. E., Hofman, J. M., Hullman, J., Lones, M. A., Malik, M. M., Nanayakkara, P., Poldrack, R. A., Raji, I. D., Roberts, M., Salganik, M. J., Serra-Garcia, M., Stewart, B. M., Vandewiele, G., &amp; Narayanan, A. (2024). REFORMS: Consensus-based recommendations for machine-learning-based science. Science Advances, 10(18), Article eadk3452. https://doi.org/10.1126/sciadv.adk3452</a:t>
            </a:r>
            <a:endParaRPr lang="en-US" sz="1600" dirty="0"/>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A16</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(3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40</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Kirichenko, P., Ibrahim, M., Chaudhuri, K., &amp; Bell, S. J. (2025). AbstentionBench: Reasoning LLMs fail on unanswerable questions. In Advances in Neural Information Processing Systems 38 (pp. 190800-190850). https://doi.org/10.52202/085713-5729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Korthals, L., Akrong, E., Geller, G., Rosenbusch, H., Grasman, R., &amp; Visser, I. (2026). Towards reliable LLM grading through self-consistency and selective human review: Higher accuracy, less work. Machine Learning and Knowledge Extraction, 8(3), Article 74. https://doi.org/10.3390/make8030074</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Krumdick, M., Lovering, C., Reddy, V., Ebner, S., &amp; Tanner, C. (2026). No free labels: Limitations of LLM-as-a-judge without human grounding (Version 3) [Preprint]. arXiv. https://doi.org/10.48550/arXiv.2503.05061</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Liang, W., Yuksekgonul, M., Mao, Y., Wu, E., &amp; Zou, J. (2023). GPT detectors are biased against non-native English writers. Patterns, 4(7), Article 100779. https://doi.org/10.1016/j.patter.2023.100779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Magesh, V., Surani, F., Dahl, M., Suzgun, M., Manning, C. D., &amp; Ho, D. E. (2025). Hallucination-free? Assessing the reliability of leading AI legal research tools. Journal of Empirical Legal Studies, 22(2), 216–242. https://doi.org/10.1111/jels.12413</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Miao, F., &amp; Holmes, W. (2023). Guidance for generative AI in education and research. UNESCO. https://doi.org/10.54675/EWZM9535</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Miller, E. (2024). Adding error bars to evals: A statistical approach to language model evaluations [Preprint]. arXiv. https://doi.org/10.48550/arXiv.2411.00640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National Privacy Commission. (2024). Guidelines on the application of Republic Act No. 10173 or the Data Privacy Act of 2012 (DPA), its implementing rules and regulations, and the issuances of the Commission to artificial intelligence systems processing personal data (NPC Advisory No. 2024-04). https://privacy.gov.ph/wp-content/uploads/2025/02/Advisory-2024.12.19-Guidelines-on-Artificial-Intelligence-w-SGD.pdf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OECD.AI Policy Observatory. (2026, April 28). National AI Strategy Roadmap 2.0 (NAISR 2.0) [Policy initiative profile]. https://oecd.ai/en/dashboards/policy-initiatives/national-ai-strategy-roadmap-20-naisr-20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Oladive, M. A. (2026, February 27). CHED: AI must not compromise academic integrity in education. Daily Guardian. https://dailyguardian.com.ph/ched-ai-must-not-compromise-academic-integrity-in-education/</a:t>
            </a:r>
            <a:endParaRPr lang="en-US" sz="1600" dirty="0"/>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A17</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(4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41</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Parasuraman, R., Sheridan, T. B., &amp; Wickens, C. D. (2000). A model for types and levels of human interaction with automation. IEEE Transactions on Systems, Man, and Cybernetics—Part A: Systems and Humans, 30(3), 286–297. https://doi.org/10.1109/3468.844354</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Perkins, M., Furze, L., Roe, J., &amp; MacVaugh, J. (2024). The Artificial Intelligence Assessment Scale (AIAS): A framework for ethical integration of generative AI in educational assessment. Journal of University Teaching and Learning Practice, 21(6). https://doi.org/10.53761/q3azde36</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Philippine Accrediting Association of Schools, Colleges and Universities. (2025). PAASCU guidelines on AI use in accreditation. https://paascu.org.ph/paascu-board-approves-guidelines-on-ai-use-in-accreditation/</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Reuel, A., Hardy, A., Smith, C., Lamparth, M., Hardy, M., &amp; Kochenderfer, M. J. (2024). BetterBench: Assessing AI benchmarks, uncovering issues, and establishing best practices. In Advances in Neural Information Processing Systems 37 (pp. 21763-21813). https://doi.org/10.52202/079017-0685</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Selwyn, N., Ljungqvist, M., &amp; Sonesson, A. (2025). When the prompting stops: Exploring teachers' work around the educational frailties of generative AI tools. Learning, Media and Technology, 50(3), 310-323. https://doi.org/10.1080/17439884.2025.2537959</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SunStar Cebu. (2025, July 21). Filipino households spend less on internet in 2024; access, usage expand. SunStar. https://www.sunstar.com.ph/cebu/filipino-households-spend-less-on-internet-in-2024-access-usage-expand</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SunStar Cebu. (2026, June 29). Asean ministers adopt AI, teacher training initiatives. SunStar. https://www.sunstar.com.ph/cebu/asean-ministers-adopt-aiteacher-training-initiatives</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Tam, Z. R., Wu, C.-K., Tsai, Y.-L., Lin, C.-Y., Lee, H.-y., &amp; Chen, Y.-N. (2024). Let me speak freely? A study on the impact of format restrictions on large language model performance. In Proceedings of the 2024 Conference on Empirical Methods in Natural Language Processing: Industry Track (pp. 1218–1236). Association for Computational Linguistics. https://doi.org/10.18653/v1/2024.emnlp-industry.91</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Toquero, C. M. (2026). Trends, trajectories and tomorrows of AI regulations in Philippine higher educational institutions. Higher Education Quarterly, 80(1), Article e70090. https://doi.org/10.1111/hequ.70090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UNESCO. (2025). Philippines: Artificial intelligence readiness assessment report (SHS/REI/EAI/2025/AI-RAM/PH). https://unesdoc.unesco.org/ark:/48223/pf0000393860</a:t>
            </a:r>
            <a:endParaRPr lang="en-US" sz="1600" dirty="0"/>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A18</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(5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42</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Untalan, S. (2026, February 11). ASEAN study flags AI readiness gap as use surges across region. GMA News Online. https://www.gmanetwork.com/news/topstories/nation/976214/asean-study-flags-ai-readiness-gap-as-use-surges-across-region/story/</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Vasconcelos, H., Jörke, M., Grunde-McLaughlin, M., Gerstenberg, T., Bernstein, M. S., &amp; Krishna, R. (2023). Explanations can reduce overreliance on AI systems during decision-making. Proceedings of the ACM on Human-Computer Interaction, 7(CSCW1), Article 129. https://doi.org/10.1145/3579605</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Vergara, J. P. C. (2024). Navigating the generative artificial intelligence era: Charting the course for curricular reform in higher education in the Philippines (Monograph Series 2024-06). University of the Philippines Center for Integrative and Development Studies. https://cids.up.edu.ph/wp-content/uploads/2024/12/06-Navigating-the-Generative-Artificial-Intelligence-Era-Charting-the-Course-for-Curricular-Reform-in-Higher-Education-in-the-Philippines_Vergara.pdf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Villarino, R. T. H. (2025). Artificial intelligence (AI) integration in rural Philippine higher education: Perspectives, challenges, and ethical considerations. IJERI: International Journal of Educational Research and Innovation, (23), 1-25. https://doi.org/10.46661/ijeri.10909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Wen, B., Yao, J., Feng, S., Xu, C., Tsvetkov, Y., Howe, B., &amp; Wang, L. L. (2025). Know your limits: A survey of abstention in large language models. Transactions of the Association for Computational Linguistics, 13, 529-556. https://doi.org/10.1162/tacl_a_00754</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Wong, L. C. (2025, April 9). Bridging the gap in AI education: Empowering students to move beyond basic AI tools towards critical engagement and innovation. SEAMEO. https://www5.seameo.org/category/1/479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Xia, Q., Weng, X., Ouyang, F., Lin, T. J., &amp; Chiu, T. K. F. (2024). A scoping review on how generative artificial intelligence transforms assessment in higher education. International Journal of Educational Technology in Higher Education, 21(1), Article 40. https://doi.org/10.1186/s41239-024-00468-z</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Zhou, R., Hua, W., Pan, L., Cheng, S., Wu, X., Yu, E., &amp; Wang, W. Y. (2025). RuleArena: A benchmark for rule-guided reasoning with LLMs in real-world scenarios. In Proceedings of the 63rd Annual Meeting of the Association for Computational Linguistics (Volume 1: Long Papers) (pp. 550–572). Association for Computational Linguistics. https://doi.org/10.18653/v1/2025.acl-long.27</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Zwerdling, N., Boaz, D., Rabinovich, E., Uziel, G., Amid, D., &amp; Anaby Tavor, A. (2025). Towards enforcing company policy adherence in agentic workflows. In Proceedings of the 2025 Conference on Empirical Methods in Natural Language Processing: Industry Track (pp. 595-606). Association for Computational Linguistics. https://doi.org/10.18653/v1/2025.emnlp-industry.41</a:t>
            </a:r>
            <a:endParaRPr lang="en-US" sz="16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TotalTime>
  <Words>10624</Words>
  <Application>Microsoft Macintosh PowerPoint</Application>
  <PresentationFormat>Custom</PresentationFormat>
  <Paragraphs>939</Paragraphs>
  <Slides>41</Slides>
  <Notes>41</Notes>
  <HiddenSlides>4</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Should AI Assist the Assessor?</dc:title>
  <dc:subject>PptxGenJS Presentation</dc:subject>
  <dc:creator>Bea Charmelyn T. Lambitco, FRM</dc:creator>
  <cp:lastModifiedBy>Bea Lambitco</cp:lastModifiedBy>
  <cp:revision>4</cp:revision>
  <dcterms:created xsi:type="dcterms:W3CDTF">2026-09-18T14:20:17Z</dcterms:created>
  <dcterms:modified xsi:type="dcterms:W3CDTF">2026-09-19T06:45:17Z</dcterms:modified>
</cp:coreProperties>
</file>